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0"/>
  </p:notesMasterIdLst>
  <p:sldIdLst>
    <p:sldId id="895" r:id="rId2"/>
    <p:sldId id="894" r:id="rId3"/>
    <p:sldId id="873" r:id="rId4"/>
    <p:sldId id="874" r:id="rId5"/>
    <p:sldId id="875" r:id="rId6"/>
    <p:sldId id="885" r:id="rId7"/>
    <p:sldId id="880" r:id="rId8"/>
    <p:sldId id="893" r:id="rId9"/>
    <p:sldId id="891" r:id="rId10"/>
    <p:sldId id="897" r:id="rId11"/>
    <p:sldId id="899" r:id="rId12"/>
    <p:sldId id="901" r:id="rId13"/>
    <p:sldId id="861" r:id="rId14"/>
    <p:sldId id="759" r:id="rId15"/>
    <p:sldId id="755" r:id="rId16"/>
    <p:sldId id="756" r:id="rId17"/>
    <p:sldId id="757" r:id="rId18"/>
    <p:sldId id="758" r:id="rId19"/>
    <p:sldId id="760" r:id="rId20"/>
    <p:sldId id="321" r:id="rId21"/>
    <p:sldId id="309" r:id="rId22"/>
    <p:sldId id="308" r:id="rId23"/>
    <p:sldId id="593" r:id="rId24"/>
    <p:sldId id="431" r:id="rId25"/>
    <p:sldId id="432" r:id="rId26"/>
    <p:sldId id="441" r:id="rId27"/>
    <p:sldId id="440" r:id="rId28"/>
    <p:sldId id="448" r:id="rId29"/>
    <p:sldId id="594" r:id="rId30"/>
    <p:sldId id="452" r:id="rId31"/>
    <p:sldId id="425" r:id="rId32"/>
    <p:sldId id="648" r:id="rId33"/>
    <p:sldId id="459" r:id="rId34"/>
    <p:sldId id="595" r:id="rId35"/>
    <p:sldId id="274" r:id="rId36"/>
    <p:sldId id="282" r:id="rId37"/>
    <p:sldId id="283" r:id="rId38"/>
    <p:sldId id="260" r:id="rId39"/>
    <p:sldId id="261" r:id="rId40"/>
    <p:sldId id="262" r:id="rId41"/>
    <p:sldId id="263" r:id="rId42"/>
    <p:sldId id="264" r:id="rId43"/>
    <p:sldId id="265" r:id="rId44"/>
    <p:sldId id="266" r:id="rId45"/>
    <p:sldId id="777" r:id="rId46"/>
    <p:sldId id="778" r:id="rId47"/>
    <p:sldId id="779" r:id="rId48"/>
    <p:sldId id="886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C1CD5E0-12C9-0D4F-968D-90C6AD0ACC07}">
          <p14:sldIdLst>
            <p14:sldId id="895"/>
            <p14:sldId id="894"/>
            <p14:sldId id="873"/>
            <p14:sldId id="874"/>
            <p14:sldId id="875"/>
            <p14:sldId id="885"/>
            <p14:sldId id="880"/>
            <p14:sldId id="893"/>
            <p14:sldId id="891"/>
            <p14:sldId id="897"/>
            <p14:sldId id="899"/>
            <p14:sldId id="901"/>
            <p14:sldId id="861"/>
            <p14:sldId id="759"/>
            <p14:sldId id="755"/>
            <p14:sldId id="756"/>
            <p14:sldId id="757"/>
            <p14:sldId id="758"/>
            <p14:sldId id="760"/>
            <p14:sldId id="321"/>
            <p14:sldId id="309"/>
            <p14:sldId id="308"/>
          </p14:sldIdLst>
        </p14:section>
        <p14:section name="TV-RAG 구조" id="{8557B6D9-0D98-9843-ABEB-BDC682AC27AD}">
          <p14:sldIdLst>
            <p14:sldId id="593"/>
            <p14:sldId id="431"/>
            <p14:sldId id="432"/>
            <p14:sldId id="441"/>
            <p14:sldId id="440"/>
            <p14:sldId id="448"/>
            <p14:sldId id="594"/>
            <p14:sldId id="452"/>
            <p14:sldId id="425"/>
            <p14:sldId id="648"/>
            <p14:sldId id="459"/>
            <p14:sldId id="595"/>
          </p14:sldIdLst>
        </p14:section>
        <p14:section name="데이터셋 구성" id="{9E72BE6D-9360-F74F-B25F-B093658D6735}">
          <p14:sldIdLst>
            <p14:sldId id="274"/>
            <p14:sldId id="282"/>
            <p14:sldId id="283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참고" id="{A90DD5AF-C917-B948-AF32-B82902FE448A}">
          <p14:sldIdLst>
            <p14:sldId id="777"/>
            <p14:sldId id="778"/>
            <p14:sldId id="779"/>
            <p14:sldId id="8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79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68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3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7341-7320-7DF9-1AA8-210780D09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7CE09-8AF8-95F3-C534-96BAB5DBC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C9CC9-D5C7-86DE-33A4-49F5B8028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2BBF0-5337-030E-D21B-CF36D96F9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0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90A70-BD13-3371-4295-8EB7222F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FD904-A922-1439-F50C-B915B821C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464CA-CB8D-7C9D-271B-3D1F4847D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B174D-EC4D-3127-AC0C-EE84C138A4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72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EA3F-2398-0A0B-AAEC-92F60CD3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BE135-EFA3-4CAC-E1E5-FB0AF4CEE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0D791-C4A1-4B02-63BE-2E0591083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9A8EB-7F5B-FCC9-5887-0E63B3417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13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EA3F-2398-0A0B-AAEC-92F60CD3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3BE135-EFA3-4CAC-E1E5-FB0AF4CEE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0D791-C4A1-4B02-63BE-2E0591083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9A8EB-7F5B-FCC9-5887-0E63B3417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13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9D51-1196-9FD2-93E1-8699FC33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11A71-73B1-CBFE-39C4-BF562DA4F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8120F-E322-9F7B-82B9-CF388EE2C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E5F93-B8D4-6D8E-574C-00C47AAD4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54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79D51-1196-9FD2-93E1-8699FC33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11A71-73B1-CBFE-39C4-BF562DA4F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8120F-E322-9F7B-82B9-CF388EE2C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E5F93-B8D4-6D8E-574C-00C47AAD4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54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74FC-40A0-DC04-D2A3-77D33C7F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5CC79-FF78-DFEB-2BBF-40CB2B4A6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C2606-946E-93D3-05FF-6D3DDA6A1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EB114-8A5E-F498-1264-D21BA8F7D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7461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8E130-D356-C3D7-E7E5-D389FF88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7743E-759F-4447-2399-A9B77A7B2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36667-A855-4288-BA7B-2FD88BF83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24028-C6FF-5507-204C-24A4474D45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006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D602-FB81-2144-606B-8A13FB22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856763-7355-FC7E-6806-E98B2B526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22FAD-14CD-6B73-9D29-BAB2F0043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0742F-2C58-7203-78E3-5148BE7A9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89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1B2A4A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1B2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1B2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1B2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1B2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B2A4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B2A4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B2A4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1B2A4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5.2024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5.2024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5.2024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505.20243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505.20243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pdf/2505.20243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165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227130" cy="75438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6600" y="1270000"/>
            <a:ext cx="7683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TV-RAG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6600" y="2451100"/>
            <a:ext cx="768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Inter-context Temporal Validation in RAG</a:t>
            </a:r>
          </a:p>
        </p:txBody>
      </p:sp>
      <p:sp>
        <p:nvSpPr>
          <p:cNvPr id="6" name="Text 4"/>
          <p:cNvSpPr/>
          <p:nvPr/>
        </p:nvSpPr>
        <p:spPr>
          <a:xfrm>
            <a:off x="736600" y="3022600"/>
            <a:ext cx="7683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</a:rPr>
              <a:t>연구 방향 검토  ·  RQ · Dataset · Metric 설계</a:t>
            </a:r>
          </a:p>
        </p:txBody>
      </p:sp>
      <p:sp>
        <p:nvSpPr>
          <p:cNvPr id="20" name="Divider"/>
          <p:cNvSpPr/>
          <p:nvPr/>
        </p:nvSpPr>
        <p:spPr>
          <a:xfrm>
            <a:off x="736600" y="2324100"/>
            <a:ext cx="2985882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2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6C49-D9B6-7D05-BF8C-E54175A1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5C9615B-399B-216B-9FD3-74EFBACDCD44}"/>
              </a:ext>
            </a:extLst>
          </p:cNvPr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 err="1">
                <a:solidFill>
                  <a:srgbClr val="1E27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연구</a:t>
            </a:r>
            <a:r>
              <a:rPr lang="en-US" altLang="ko-KR" sz="2000" b="1" dirty="0">
                <a:solidFill>
                  <a:srgbClr val="1E27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altLang="ko-KR" sz="2000" b="1" dirty="0" err="1">
                <a:solidFill>
                  <a:srgbClr val="1E27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방향</a:t>
            </a:r>
            <a:r>
              <a:rPr lang="en-US" altLang="ko-KR" sz="2000" b="1" dirty="0">
                <a:solidFill>
                  <a:srgbClr val="1E27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solidFill>
                  <a:srgbClr val="1E27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검토</a:t>
            </a:r>
            <a:endParaRPr lang="en-US" altLang="ko-KR" sz="2000" dirty="0">
              <a:solidFill>
                <a:srgbClr val="1E27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D81B14F-7DB9-C203-CA43-60263C07010A}"/>
              </a:ext>
            </a:extLst>
          </p:cNvPr>
          <p:cNvSpPr/>
          <p:nvPr/>
        </p:nvSpPr>
        <p:spPr>
          <a:xfrm>
            <a:off x="274320" y="801324"/>
            <a:ext cx="864108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AC4086-67BA-A654-4D32-25BD8F25A427}"/>
              </a:ext>
            </a:extLst>
          </p:cNvPr>
          <p:cNvSpPr/>
          <p:nvPr/>
        </p:nvSpPr>
        <p:spPr>
          <a:xfrm>
            <a:off x="274320" y="801324"/>
            <a:ext cx="64008" cy="34747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AE1A0A0-5672-7C34-3516-098AB9ECC1A7}"/>
              </a:ext>
            </a:extLst>
          </p:cNvPr>
          <p:cNvSpPr/>
          <p:nvPr/>
        </p:nvSpPr>
        <p:spPr>
          <a:xfrm>
            <a:off x="457200" y="81961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선행 연구 갭 분석에서 출발해 본 연구의 RQ·실험 설계까지 단계적으로 검토합니다.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91CCDA6-61F5-6EC4-D3A4-7BCE95C01932}"/>
              </a:ext>
            </a:extLst>
          </p:cNvPr>
          <p:cNvSpPr/>
          <p:nvPr/>
        </p:nvSpPr>
        <p:spPr>
          <a:xfrm>
            <a:off x="274320" y="1258524"/>
            <a:ext cx="27797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22478AF-3481-7457-7CEC-7B881D68DFB4}"/>
              </a:ext>
            </a:extLst>
          </p:cNvPr>
          <p:cNvSpPr/>
          <p:nvPr/>
        </p:nvSpPr>
        <p:spPr>
          <a:xfrm>
            <a:off x="274320" y="1258524"/>
            <a:ext cx="277977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F09E55D-6B78-CADD-1D6A-91388E902A60}"/>
              </a:ext>
            </a:extLst>
          </p:cNvPr>
          <p:cNvSpPr/>
          <p:nvPr/>
        </p:nvSpPr>
        <p:spPr>
          <a:xfrm>
            <a:off x="438912" y="159728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A38EDC5-5F26-F40D-100D-B5CC9D12E55D}"/>
              </a:ext>
            </a:extLst>
          </p:cNvPr>
          <p:cNvSpPr/>
          <p:nvPr/>
        </p:nvSpPr>
        <p:spPr>
          <a:xfrm>
            <a:off x="438912" y="159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4AD07AE-91DD-1A38-A80A-DF65EDC14ACF}"/>
              </a:ext>
            </a:extLst>
          </p:cNvPr>
          <p:cNvSpPr/>
          <p:nvPr/>
        </p:nvSpPr>
        <p:spPr>
          <a:xfrm>
            <a:off x="969264" y="162472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br>
              <a:rPr lang="en-US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ko-KR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125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A4CBB91-753D-10C8-3DFF-FA88DD04199B}"/>
              </a:ext>
            </a:extLst>
          </p:cNvPr>
          <p:cNvSpPr/>
          <p:nvPr/>
        </p:nvSpPr>
        <p:spPr>
          <a:xfrm>
            <a:off x="438912" y="2592075"/>
            <a:ext cx="242316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85D9D3C-AB3B-6CC4-5222-D18168E10F21}"/>
              </a:ext>
            </a:extLst>
          </p:cNvPr>
          <p:cNvSpPr/>
          <p:nvPr/>
        </p:nvSpPr>
        <p:spPr>
          <a:xfrm>
            <a:off x="438912" y="2703276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미해결 과제 8유형 분류 및 분야 지형도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Temporally-Aware Agents · ⑥ Implicit Intent 사례·논문 정리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과제 교차 매트릭스 — Inter-context 행에 통합 해결 부재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한계 재정의 — 본 연구가 타겟할 갭 도출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9DF08DA-2D16-9C48-5745-1F4A59C864F8}"/>
              </a:ext>
            </a:extLst>
          </p:cNvPr>
          <p:cNvSpPr/>
          <p:nvPr/>
        </p:nvSpPr>
        <p:spPr>
          <a:xfrm>
            <a:off x="3127248" y="1258524"/>
            <a:ext cx="27797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4D418DF-A2A4-695F-FA76-1E7817220C70}"/>
              </a:ext>
            </a:extLst>
          </p:cNvPr>
          <p:cNvSpPr/>
          <p:nvPr/>
        </p:nvSpPr>
        <p:spPr>
          <a:xfrm>
            <a:off x="3127248" y="1258524"/>
            <a:ext cx="277977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5AA2F57B-2349-8073-C415-D0998C26E281}"/>
              </a:ext>
            </a:extLst>
          </p:cNvPr>
          <p:cNvSpPr/>
          <p:nvPr/>
        </p:nvSpPr>
        <p:spPr>
          <a:xfrm>
            <a:off x="3291840" y="159728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B06E36DA-16CB-EE57-7FD6-5C6ED54B4E71}"/>
              </a:ext>
            </a:extLst>
          </p:cNvPr>
          <p:cNvSpPr/>
          <p:nvPr/>
        </p:nvSpPr>
        <p:spPr>
          <a:xfrm>
            <a:off x="3291840" y="159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C7D90A-7B89-0483-73B9-6FA1FA285515}"/>
              </a:ext>
            </a:extLst>
          </p:cNvPr>
          <p:cNvSpPr/>
          <p:nvPr/>
        </p:nvSpPr>
        <p:spPr>
          <a:xfrm>
            <a:off x="3822192" y="159728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1423456-A47E-9636-4058-52A3F924036D}"/>
              </a:ext>
            </a:extLst>
          </p:cNvPr>
          <p:cNvSpPr/>
          <p:nvPr/>
        </p:nvSpPr>
        <p:spPr>
          <a:xfrm>
            <a:off x="3291840" y="2592075"/>
            <a:ext cx="242316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445A171-D646-D8F6-5E27-C8CC1FE7A497}"/>
              </a:ext>
            </a:extLst>
          </p:cNvPr>
          <p:cNvSpPr/>
          <p:nvPr/>
        </p:nvSpPr>
        <p:spPr>
          <a:xfrm>
            <a:off x="3291840" y="2703276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기반 접근 (검색·추론 분리, multi-step 검증)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기반 접근 (CoT, RAG, self-refine)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접근의 시간 표현 처리 한계 비교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Inter-context 시점 정합성에서 공통적 성능 저하 확인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7A2796D-059F-BBD7-AB70-0BF94719183B}"/>
              </a:ext>
            </a:extLst>
          </p:cNvPr>
          <p:cNvSpPr/>
          <p:nvPr/>
        </p:nvSpPr>
        <p:spPr>
          <a:xfrm>
            <a:off x="5980176" y="1258524"/>
            <a:ext cx="2779776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C3738F6-0147-B7A4-5E97-80921F7DBC55}"/>
              </a:ext>
            </a:extLst>
          </p:cNvPr>
          <p:cNvSpPr/>
          <p:nvPr/>
        </p:nvSpPr>
        <p:spPr>
          <a:xfrm>
            <a:off x="5980176" y="1258524"/>
            <a:ext cx="2779776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B9434B5-8068-6EAA-61DD-8B2E4986EEB3}"/>
              </a:ext>
            </a:extLst>
          </p:cNvPr>
          <p:cNvSpPr/>
          <p:nvPr/>
        </p:nvSpPr>
        <p:spPr>
          <a:xfrm>
            <a:off x="6144768" y="1597288"/>
            <a:ext cx="4572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C84E7A1-A720-E027-2EE5-9C777105C6E2}"/>
              </a:ext>
            </a:extLst>
          </p:cNvPr>
          <p:cNvSpPr/>
          <p:nvPr/>
        </p:nvSpPr>
        <p:spPr>
          <a:xfrm>
            <a:off x="6144768" y="159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16BCF77F-8F2B-0FC7-7C2A-C30D27D3F1BE}"/>
              </a:ext>
            </a:extLst>
          </p:cNvPr>
          <p:cNvSpPr/>
          <p:nvPr/>
        </p:nvSpPr>
        <p:spPr>
          <a:xfrm>
            <a:off x="6666071" y="1588144"/>
            <a:ext cx="19941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방향 설정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8155F45-3422-A5D3-0501-FFDF214E5407}"/>
              </a:ext>
            </a:extLst>
          </p:cNvPr>
          <p:cNvSpPr/>
          <p:nvPr/>
        </p:nvSpPr>
        <p:spPr>
          <a:xfrm>
            <a:off x="6144768" y="2592075"/>
            <a:ext cx="242316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5676D241-5B4A-3287-4946-7BC1474E3892}"/>
              </a:ext>
            </a:extLst>
          </p:cNvPr>
          <p:cNvSpPr/>
          <p:nvPr/>
        </p:nvSpPr>
        <p:spPr>
          <a:xfrm>
            <a:off x="6144768" y="2703276"/>
            <a:ext cx="24871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1·2 종합 → 본 연구 포지셔닝 및 RQ 도출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Inter-context Temporal RAG 대상 데이터셋·평가 지표 설계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방향성 검토 (구조화 출력 vs 학습 기반)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로드맵 및 기여(Contribution) 명세</a:t>
            </a:r>
          </a:p>
        </p:txBody>
      </p:sp>
      <p:sp>
        <p:nvSpPr>
          <p:cNvPr id="2" name="Shape26">
            <a:extLst>
              <a:ext uri="{FF2B5EF4-FFF2-40B4-BE49-F238E27FC236}">
                <a16:creationId xmlns:a16="http://schemas.microsoft.com/office/drawing/2014/main" id="{571B1068-53A8-71A5-27E6-BFC1089BA6B0}"/>
              </a:ext>
            </a:extLst>
          </p:cNvPr>
          <p:cNvSpPr>
            <a:spLocks noGrp="1"/>
          </p:cNvSpPr>
          <p:nvPr/>
        </p:nvSpPr>
        <p:spPr>
          <a:xfrm>
            <a:off x="330708" y="2170425"/>
            <a:ext cx="2667000" cy="381000"/>
          </a:xfrm>
          <a:gradFill rotWithShape="0">
            <a:gsLst>
              <a:gs pos="0">
                <a:srgbClr val="D6E3F5"/>
              </a:gs>
              <a:gs pos="40000">
                <a:srgbClr val="E8F0FB"/>
              </a:gs>
              <a:gs pos="100000">
                <a:srgbClr val="F5F8FE"/>
              </a:gs>
            </a:gsLst>
            <a:lin ang="0" scaled="0"/>
          </a:gradFill>
          <a:ln w="12700"/>
        </p:spPr>
        <p:txBody>
          <a:bodyPr vert="horz" wrap="square" lIns="91440" tIns="45720" rIns="91440" bIns="45720" anchor="ctr"/>
          <a:lstStyle/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최신 LLM은 Temporal Conflict를</a:t>
            </a:r>
          </a:p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이미 잘 해결하고 있지 않나?</a:t>
            </a:r>
          </a:p>
        </p:txBody>
      </p:sp>
      <p:sp>
        <p:nvSpPr>
          <p:cNvPr id="3" name="Shape36">
            <a:extLst>
              <a:ext uri="{FF2B5EF4-FFF2-40B4-BE49-F238E27FC236}">
                <a16:creationId xmlns:a16="http://schemas.microsoft.com/office/drawing/2014/main" id="{CD17AC4E-7143-F89D-28E8-9DB54F5000FF}"/>
              </a:ext>
            </a:extLst>
          </p:cNvPr>
          <p:cNvSpPr>
            <a:spLocks noGrp="1"/>
          </p:cNvSpPr>
          <p:nvPr/>
        </p:nvSpPr>
        <p:spPr>
          <a:xfrm>
            <a:off x="3181096" y="2132781"/>
            <a:ext cx="2667000" cy="381000"/>
          </a:xfrm>
          <a:gradFill rotWithShape="0">
            <a:gsLst>
              <a:gs pos="0">
                <a:srgbClr val="D6E3F5"/>
              </a:gs>
              <a:gs pos="40000">
                <a:srgbClr val="E8F0FB"/>
              </a:gs>
              <a:gs pos="100000">
                <a:srgbClr val="F5F8FE"/>
              </a:gs>
            </a:gsLst>
            <a:lin ang="0" scaled="0"/>
          </a:gradFill>
          <a:ln w="12700"/>
        </p:spPr>
        <p:txBody>
          <a:bodyPr vert="horz" wrap="square" lIns="91440" tIns="45720" rIns="91440" bIns="45720" anchor="ctr"/>
          <a:lstStyle/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프롬프팅/Agent 방식처럼</a:t>
            </a:r>
          </a:p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더 가벼운 방식으로 해결할 수 있지 않나?</a:t>
            </a:r>
          </a:p>
        </p:txBody>
      </p:sp>
      <p:sp>
        <p:nvSpPr>
          <p:cNvPr id="7" name="Shape46">
            <a:extLst>
              <a:ext uri="{FF2B5EF4-FFF2-40B4-BE49-F238E27FC236}">
                <a16:creationId xmlns:a16="http://schemas.microsoft.com/office/drawing/2014/main" id="{B58872A6-F661-F1A0-B4A3-4907BB7B6841}"/>
              </a:ext>
            </a:extLst>
          </p:cNvPr>
          <p:cNvSpPr>
            <a:spLocks noGrp="1"/>
          </p:cNvSpPr>
          <p:nvPr/>
        </p:nvSpPr>
        <p:spPr>
          <a:xfrm>
            <a:off x="6054852" y="2162058"/>
            <a:ext cx="2667000" cy="381000"/>
          </a:xfrm>
          <a:gradFill rotWithShape="0">
            <a:gsLst>
              <a:gs pos="0">
                <a:srgbClr val="D6E3F5"/>
              </a:gs>
              <a:gs pos="40000">
                <a:srgbClr val="E8F0FB"/>
              </a:gs>
              <a:gs pos="100000">
                <a:srgbClr val="F5F8FE"/>
              </a:gs>
            </a:gsLst>
            <a:lin ang="0" scaled="0"/>
          </a:gradFill>
          <a:ln w="12700"/>
        </p:spPr>
        <p:txBody>
          <a:bodyPr vert="horz" wrap="square" lIns="91440" tIns="45720" rIns="91440" bIns="45720" anchor="ctr"/>
          <a:lstStyle/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학습/비학습 방법론 중</a:t>
            </a:r>
          </a:p>
          <a:p>
            <a:pPr marL="0" indent="0" algn="ctr">
              <a:buNone/>
            </a:pPr>
            <a:r>
              <a:rPr lang="ko-KR" alt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</a:rPr>
              <a:t>어떤 것을 채택할 것인가?</a:t>
            </a:r>
          </a:p>
        </p:txBody>
      </p:sp>
    </p:spTree>
    <p:extLst>
      <p:ext uri="{BB962C8B-B14F-4D97-AF65-F5344CB8AC3E}">
        <p14:creationId xmlns:p14="http://schemas.microsoft.com/office/powerpoint/2010/main" val="295706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 내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Temporal QA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 미해결 과제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(1/3)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123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" y="124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① Dynamic Temporal Knowledge Management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학습 이후 변경된 사실을 실시간으로 반영하지 못하는 문제</a:t>
            </a:r>
          </a:p>
        </p:txBody>
      </p:sp>
      <p:sp>
        <p:nvSpPr>
          <p:cNvPr id="36" name="Shape 34"/>
          <p:cNvSpPr/>
          <p:nvPr/>
        </p:nvSpPr>
        <p:spPr>
          <a:xfrm>
            <a:off x="274320" y="2135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65760" y="214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② Temporally Aware LLM Agents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"지난 화요일" 같은 문맥 의존적 시간 표현을 해결하지 못하고 시간적 환각을 일으키는 문제</a:t>
            </a:r>
          </a:p>
        </p:txBody>
      </p:sp>
      <p:sp>
        <p:nvSpPr>
          <p:cNvPr id="38" name="Shape 36"/>
          <p:cNvSpPr/>
          <p:nvPr/>
        </p:nvSpPr>
        <p:spPr>
          <a:xfrm>
            <a:off x="274320" y="304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65760" y="305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③ Diachronic and Synchronic Knowledge Integration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시간에 따라 변하는 정보와 특정 시점의 정보를 별개로 처리해 두 가지를 동시에 요구하는 질문에 취약한 문제</a:t>
            </a:r>
          </a:p>
        </p:txBody>
      </p:sp>
      <p:sp>
        <p:nvSpPr>
          <p:cNvPr id="40" name="Shape 38"/>
          <p:cNvSpPr/>
          <p:nvPr/>
        </p:nvSpPr>
        <p:spPr>
          <a:xfrm>
            <a:off x="274320" y="3945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65760" y="395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④ Temporal Uncertainty and Confidence Modeling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불분명한 날짜도 정확한 것으로 처리해 불확실한 정보에 근거 없는 확신으로 답변하는 문제</a:t>
            </a:r>
          </a:p>
        </p:txBody>
      </p:sp>
      <p:sp>
        <p:nvSpPr>
          <p:cNvPr id="42" name="Shape 40"/>
          <p:cNvSpPr/>
          <p:nvPr/>
        </p:nvSpPr>
        <p:spPr>
          <a:xfrm>
            <a:off x="4709160" y="123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00600" y="124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⑤ Multilingual and Multimodal Temporal QA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영어 텍스트 중심 개발로 언어·문화·모달리티별 다양한 시간 표현을 처리하지 못하는 문제</a:t>
            </a:r>
          </a:p>
        </p:txBody>
      </p:sp>
      <p:sp>
        <p:nvSpPr>
          <p:cNvPr id="44" name="Shape 42"/>
          <p:cNvSpPr/>
          <p:nvPr/>
        </p:nvSpPr>
        <p:spPr>
          <a:xfrm>
            <a:off x="4709160" y="2135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800600" y="214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⑥ Implicit Temporal Intent Understanding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질문에 명시되지 않은 숨겨진 시간 범위나 가정을 문맥에서 추론하는 메커니즘이 없는 문제</a:t>
            </a:r>
          </a:p>
        </p:txBody>
      </p:sp>
      <p:sp>
        <p:nvSpPr>
          <p:cNvPr id="47" name="Shape 45"/>
          <p:cNvSpPr/>
          <p:nvPr/>
        </p:nvSpPr>
        <p:spPr>
          <a:xfrm>
            <a:off x="4709160" y="304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00600" y="305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⑦ Evaluation &amp; Benchmarking for Temporal Reasoning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표준 지표로는 시간적 일관성과 추론 깊이를 측정하지 못하고 전용 평가 지표도 없는 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F538F-3A39-EAB0-DBF0-80F02BF5AD02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55167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Temporal QA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 미해결 과제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(2/3)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500" name="Table_QA_7"/>
          <p:cNvGraphicFramePr>
            <a:graphicFrameLocks noGrp="1"/>
          </p:cNvGraphicFramePr>
          <p:nvPr/>
        </p:nvGraphicFramePr>
        <p:xfrm>
          <a:off x="270954" y="1231901"/>
          <a:ext cx="8641079" cy="348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3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3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과제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예시 질문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LLM 답변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기대 답변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524"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① Dynamic Temporal Knowledge Management</a:t>
                      </a:r>
                    </a:p>
                    <a:p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학습 이후 변경된 사실을 실시간으로 반영하지 못하는 문제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버락 오바마가 대통령으로 재임하는 동안 통과된 법률은 무엇인가요?</a:t>
                      </a:r>
                      <a:br>
                        <a:rPr lang="en-US" altLang="ko-KR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</a:br>
                      <a:r>
                        <a:rPr lang="en-US" altLang="ko-KR" sz="9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모</a:t>
                      </a:r>
                      <a:r>
                        <a:rPr lang="ko-KR" altLang="ko-KR" sz="900" b="0" i="0" dirty="0">
                          <a:effectLst/>
                        </a:rPr>
                        <a:t>델이 오바마 재임기간을 2009~2013으로만 알고 있을 때</a:t>
                      </a:r>
                      <a:r>
                        <a:rPr lang="en-US" altLang="ko-KR" sz="9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)</a:t>
                      </a:r>
                      <a:endParaRPr lang="ko-KR" altLang="en-US" sz="900" b="0" dirty="0">
                        <a:solidFill>
                          <a:srgbClr val="1F2937"/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0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</a:t>
                      </a:r>
                      <a:r>
                        <a:rPr lang="ko-KR" altLang="ko-KR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ACA(</a:t>
                      </a:r>
                      <a:r>
                        <a:rPr lang="ko-KR" altLang="ko-KR" sz="900" b="0" i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오바마케어</a:t>
                      </a:r>
                      <a:r>
                        <a:rPr lang="ko-KR" altLang="ko-KR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, 2010)와 </a:t>
                      </a:r>
                      <a:r>
                        <a:rPr lang="ko-KR" altLang="ko-KR" sz="900" b="0" i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도드-프랭크법</a:t>
                      </a:r>
                      <a:r>
                        <a:rPr lang="ko-KR" altLang="ko-KR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(2010) 등이 있습니다</a:t>
                      </a:r>
                      <a:r>
                        <a:rPr lang="ko-KR" altLang="en-US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."</a:t>
                      </a:r>
                    </a:p>
                    <a:p>
                      <a:r>
                        <a:rPr lang="ko-KR" altLang="en-US" sz="800" i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재임 기간 변경 시 연관 사실(재임 중 통과 법률 등)로의 시간적 전파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ACA(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오바마케어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2010),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도드-프랭크법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(2010),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Every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Student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Succeeds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Act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(2015), USA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Freedom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ko-KR" altLang="ko-KR" sz="9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Act</a:t>
                      </a:r>
                      <a:r>
                        <a:rPr lang="ko-KR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(2015) 등이 있습니다</a:t>
                      </a:r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147">
                <a:tc>
                  <a:txBody>
                    <a:bodyPr/>
                    <a:lstStyle/>
                    <a:p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② Temporally Aware LLM Agents</a:t>
                      </a:r>
                    </a:p>
                    <a:p>
                      <a:r>
                        <a:rPr lang="en-US" altLang="ko-KR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＂</a:t>
                      </a: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지난 화요일</a:t>
                      </a:r>
                      <a:r>
                        <a:rPr lang="en-US" altLang="ko-KR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” </a:t>
                      </a: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같은 문맥 의존적 시간 표현을 해결하지 못하고 시간적 환각을 일으키는 문제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지난 화요일에 발표된 연준 금리 결정은?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"2023년 11월 연준은 금리를 동결했습니다."</a:t>
                      </a:r>
                    </a:p>
                    <a:p>
                      <a:r>
                        <a:rPr lang="ko-KR" altLang="en-US" sz="8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'지난 화요일'을 실제 날짜로 해석하지 못해 최신 정보 미반영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"현재 날짜 기준 직전 화요일(2025-05-20) FOMC 결과: 금리 [X]%입니다."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③ </a:t>
                      </a:r>
                      <a:r>
                        <a:rPr lang="en-US" altLang="ko-KR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Diachronic</a:t>
                      </a:r>
                      <a:r>
                        <a:rPr lang="ko-KR" alt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and Synchronic Knowledge Integration</a:t>
                      </a:r>
                    </a:p>
                    <a:p>
                      <a:pPr>
                        <a:spcBef>
                          <a:spcPts val="60"/>
                        </a:spcBef>
                        <a:buNone/>
                      </a:pPr>
                      <a:r>
                        <a:rPr lang="ko-KR" altLang="en-US" sz="80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시간에 따라 변하는 정보와 특정 시점의 정보를 별개로 처리해 두 가지를 동시에 요구하는 질문에 취약한 문제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삼성전자의 2020년대 주요 경영 변화는 무엇인가요?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"스마트폰 점유율 1위를 유지하고 있습니다."</a:t>
                      </a:r>
                    </a:p>
                    <a:p>
                      <a:pPr>
                        <a:spcBef>
                          <a:spcPts val="60"/>
                        </a:spcBef>
                        <a:buNone/>
                      </a:pPr>
                      <a:r>
                        <a:rPr lang="ko-KR" altLang="en-US" sz="800" dirty="0">
                          <a:solidFill>
                            <a:srgbClr val="37415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뉴스·위키 두 유형의 지식 통합 실패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"이재용 복귀(2022), 파운드리 투자 확대, HBM 시장 선점 시도 등이 있었습니다. (뉴스+위키 통합)"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④ </a:t>
                      </a:r>
                      <a:r>
                        <a:rPr lang="en-US" altLang="ko-KR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Temporal Uncertainty and Confidence Modeling</a:t>
                      </a:r>
                    </a:p>
                    <a:p>
                      <a:pPr>
                        <a:spcBef>
                          <a:spcPts val="60"/>
                        </a:spcBef>
                        <a:buNone/>
                      </a:pPr>
                      <a:r>
                        <a:rPr lang="ko-KR" altLang="en-US" sz="80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불분명한 날짜도 정확한 것으로 처리해 불확실한 정보에 근거 없는 확신으로 답변하는 문제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OpenAI는 언제 GPT-</a:t>
                      </a:r>
                      <a:r>
                        <a:rPr lang="en-US" altLang="ko-KR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6</a:t>
                      </a:r>
                      <a:r>
                        <a:rPr lang="ko-KR" altLang="en-US" sz="900" b="1" dirty="0" err="1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를</a:t>
                      </a: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출시했나요?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"2024년 3월에 출시되었습니다."</a:t>
                      </a:r>
                    </a:p>
                    <a:p>
                      <a:pPr>
                        <a:spcBef>
                          <a:spcPts val="60"/>
                        </a:spcBef>
                        <a:buNone/>
                      </a:pPr>
                      <a:r>
                        <a:rPr lang="ko-KR" altLang="en-US" sz="800" dirty="0">
                          <a:solidFill>
                            <a:srgbClr val="37415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미발생 사건에 대해 확신 어조로 환각 생성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"GPT-</a:t>
                      </a:r>
                      <a:r>
                        <a:rPr lang="en-US" altLang="ko-KR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출시는 제 학습 시점 기준으로 확인되지 않습니다. 불확실한 정보입니다."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CD647EB-FAF3-4FBB-E806-53E44C83510A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5654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Temporal QA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 미해결 과제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(3/3)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aphicFrame>
        <p:nvGraphicFramePr>
          <p:cNvPr id="500" name="Table_QA_8"/>
          <p:cNvGraphicFramePr>
            <a:graphicFrameLocks noGrp="1"/>
          </p:cNvGraphicFramePr>
          <p:nvPr/>
        </p:nvGraphicFramePr>
        <p:xfrm>
          <a:off x="266700" y="1231902"/>
          <a:ext cx="8636000" cy="176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2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과제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예시 질문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LLM 답변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기대 동작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⑤ </a:t>
                      </a:r>
                      <a:r>
                        <a:rPr lang="ko-KR" altLang="en-US" sz="10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Multilingual</a:t>
                      </a: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and </a:t>
                      </a:r>
                      <a:r>
                        <a:rPr lang="ko-KR" altLang="en-US" sz="10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Multimodal</a:t>
                      </a: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</a:t>
                      </a:r>
                      <a:r>
                        <a:rPr lang="ko-KR" altLang="en-US" sz="10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Temporal</a:t>
                      </a: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QA</a:t>
                      </a:r>
                      <a:br>
                        <a:rPr lang="en-US" altLang="ko-KR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</a:b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영어 텍스트 중심 개발로 </a:t>
                      </a:r>
                      <a:r>
                        <a:rPr lang="ko-KR" altLang="en-US" sz="800" b="0" i="1" dirty="0" err="1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언어∙문화∙모달리티별</a:t>
                      </a: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다양한 시간 표현을 처리하지 못하는 문제</a:t>
                      </a:r>
                      <a:endParaRPr lang="ko-KR" altLang="en-US" sz="1000" b="0" i="1" dirty="0">
                        <a:solidFill>
                          <a:srgbClr val="0070C0"/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ko-KR" sz="900" b="0" i="0" dirty="0" err="1">
                          <a:effectLst/>
                        </a:rPr>
                        <a:t>ر</a:t>
                      </a:r>
                      <a:r>
                        <a:rPr lang="ko-KR" altLang="ko-KR" sz="900" b="1" i="0" dirty="0" err="1">
                          <a:effectLst/>
                        </a:rPr>
                        <a:t>مضان</a:t>
                      </a:r>
                      <a:r>
                        <a:rPr lang="ko-KR" altLang="ko-KR" sz="900" b="1" i="0" dirty="0">
                          <a:effectLst/>
                        </a:rPr>
                        <a:t> ١٤٤٥ </a:t>
                      </a:r>
                      <a:r>
                        <a:rPr lang="ko-KR" altLang="ko-KR" sz="900" b="1" i="0" dirty="0" err="1">
                          <a:effectLst/>
                        </a:rPr>
                        <a:t>ه</a:t>
                      </a:r>
                      <a:r>
                        <a:rPr lang="ko-KR" altLang="ko-KR" sz="900" b="1" i="0" dirty="0">
                          <a:effectLst/>
                        </a:rPr>
                        <a:t>ـ" (</a:t>
                      </a:r>
                      <a:r>
                        <a:rPr lang="ko-KR" altLang="ko-KR" sz="900" b="1" i="0" dirty="0" err="1">
                          <a:effectLst/>
                        </a:rPr>
                        <a:t>히즈리력</a:t>
                      </a:r>
                      <a:r>
                        <a:rPr lang="ko-KR" altLang="ko-KR" sz="900" b="1" i="0" dirty="0">
                          <a:effectLst/>
                        </a:rPr>
                        <a:t> 1445년 라마단)은 그레고리력으로 </a:t>
                      </a:r>
                      <a:r>
                        <a:rPr lang="ko-KR" altLang="ko-KR" sz="900" b="1" i="0" dirty="0" err="1">
                          <a:effectLst/>
                        </a:rPr>
                        <a:t>언제인가요</a:t>
                      </a:r>
                      <a:br>
                        <a:rPr lang="en-US" altLang="ko-KR" sz="900" b="1" i="0" dirty="0">
                          <a:effectLst/>
                        </a:rPr>
                      </a:br>
                      <a:r>
                        <a:rPr lang="en-US" altLang="ko-KR" sz="900" b="0" i="0" dirty="0">
                          <a:effectLst/>
                        </a:rPr>
                        <a:t>(</a:t>
                      </a:r>
                      <a:r>
                        <a:rPr lang="ko-KR" altLang="en-US" sz="900" b="0" i="0" dirty="0">
                          <a:effectLst/>
                        </a:rPr>
                        <a:t>아랍어로 된 시간 표현</a:t>
                      </a:r>
                      <a:r>
                        <a:rPr lang="en-US" altLang="ko-KR" sz="900" b="0" i="0" dirty="0">
                          <a:effectLst/>
                        </a:rPr>
                        <a:t>)</a:t>
                      </a:r>
                      <a:endParaRPr lang="ko-KR" altLang="en-US" sz="900" b="0" dirty="0">
                        <a:solidFill>
                          <a:srgbClr val="1F2937"/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</a:t>
                      </a:r>
                      <a:r>
                        <a:rPr lang="ko-KR" altLang="ko-KR" sz="900" b="0" i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죄송합니다. 해당 날짜 형식을 인식하지 못했습니다.</a:t>
                      </a:r>
                      <a:r>
                        <a:rPr lang="en-US" altLang="ko-KR" sz="900" b="0" i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”</a:t>
                      </a:r>
                      <a:endParaRPr lang="ko-KR" altLang="en-US" sz="900" b="0" i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800" b="0" i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다국어·멀티모달 시간 표현 미처리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900" b="0" i="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히즈리력</a:t>
                      </a:r>
                      <a:r>
                        <a:rPr lang="ko-KR" altLang="ko-KR" sz="9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 1445년 라마단은 그레고리력 기준 </a:t>
                      </a:r>
                      <a:r>
                        <a:rPr lang="ko-KR" altLang="ko-KR" sz="9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2024년 3월 11일 ~ 4월 9일</a:t>
                      </a:r>
                      <a:r>
                        <a:rPr lang="ko-KR" altLang="ko-KR" sz="900" b="0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에 해당합니다.</a:t>
                      </a:r>
                      <a:endParaRPr lang="ko-KR" altLang="en-US" sz="900" b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444321"/>
                  </a:ext>
                </a:extLst>
              </a:tr>
              <a:tr h="209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⑥ Implicit Temporal Intent </a:t>
                      </a:r>
                      <a:r>
                        <a:rPr lang="ko-KR" altLang="en-US" sz="1000" b="1" dirty="0" err="1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Understanding</a:t>
                      </a:r>
                      <a:r>
                        <a:rPr lang="ko-KR" altLang="en-US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</a:t>
                      </a:r>
                      <a:br>
                        <a:rPr lang="en-US" altLang="ko-KR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맑은 고딕" pitchFamily="34" charset="-122"/>
                        </a:rPr>
                      </a:b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질문에 명시되지 않은 숨겨진 시간 범위나 가정을 문맥에서 </a:t>
                      </a:r>
                      <a:r>
                        <a:rPr lang="ko-KR" altLang="en-US" sz="800" b="0" i="1" dirty="0" err="1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추런하는</a:t>
                      </a:r>
                      <a:r>
                        <a:rPr lang="ko-KR" altLang="en-US" sz="800" b="0" i="1" dirty="0">
                          <a:solidFill>
                            <a:srgbClr val="0070C0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 메커니즘이 없는 문제</a:t>
                      </a:r>
                      <a:endParaRPr lang="ko-KR" altLang="en-US" sz="1000" b="0" i="1" dirty="0">
                        <a:solidFill>
                          <a:srgbClr val="0070C0"/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월드컵 우승팀은 어디인가요?</a:t>
                      </a:r>
                      <a:r>
                        <a:rPr lang="ko-KR" altLang="en-US" sz="900" b="1" i="1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
</a:t>
                      </a:r>
                      <a:endParaRPr lang="ko-KR" altLang="en-US" sz="900" b="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0" i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"프랑스입니다."</a:t>
                      </a:r>
                      <a:r>
                        <a:rPr lang="ko-KR" altLang="en-US" sz="900" b="0" dirty="0">
                          <a:solidFill>
                            <a:srgbClr val="1F2937"/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
</a:t>
                      </a:r>
                      <a:r>
                        <a:rPr lang="ko-KR" altLang="en-US" sz="8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암묵적 시간 의도 미추론, 최근 대회 정보 미반영</a:t>
                      </a:r>
                      <a:endParaRPr lang="ko-KR" altLang="en-US" sz="9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Calibri" pitchFamily="34" charset="0"/>
                        <a:ea typeface="맑은 고딕" pitchFamily="3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libri" pitchFamily="34" charset="0"/>
                          <a:ea typeface="맑은 고딕" pitchFamily="34" charset="-122"/>
                        </a:rPr>
                        <a:t>가장 최근(2022 카타르) 우승팀은 아르헨티나입니다. 특정 연도를 원하시면 말씀해 주세요.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01550B-FCA8-A800-EEB2-556E686B7E06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  <p:graphicFrame>
        <p:nvGraphicFramePr>
          <p:cNvPr id="600" name="Table_QA_7"/>
          <p:cNvGraphicFramePr>
            <a:graphicFrameLocks noGrp="1"/>
          </p:cNvGraphicFramePr>
          <p:nvPr/>
        </p:nvGraphicFramePr>
        <p:xfrm>
          <a:off x="276860" y="3097254"/>
          <a:ext cx="8636000" cy="17269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97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2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968"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과제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예시 </a:t>
                      </a:r>
                      <a:r>
                        <a:rPr lang="ko-KR" altLang="ko-KR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질</a:t>
                      </a:r>
                      <a:r>
                        <a:rPr lang="ko-KR" alt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답</a:t>
                      </a:r>
                      <a:endParaRPr lang="ko-KR" altLang="ko-KR" sz="100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</a:endParaRP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문제점</a:t>
                      </a:r>
                      <a:endParaRPr lang="ko-KR" altLang="ko-KR" sz="1000" b="1" dirty="0">
                        <a:solidFill>
                          <a:srgbClr val="FFFFFF"/>
                        </a:solidFill>
                        <a:latin typeface="Calibri" pitchFamily="34" charset="0"/>
                        <a:ea typeface="Calibri" pitchFamily="34" charset="-122"/>
                      </a:endParaRP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</a:rPr>
                        <a:t>기대 동작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0000">
                <a:tc>
                  <a:txBody>
                    <a:bodyPr/>
                    <a:lstStyle/>
                    <a:p>
                      <a:r>
                        <a:rPr lang="ko-KR" altLang="ko-KR" sz="10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⑦ Evaluation &amp; Benchmarking for Temporal Reasoning</a:t>
                      </a:r>
                    </a:p>
                    <a:p>
                      <a:r>
                        <a:rPr lang="ko-KR" altLang="ko-KR" sz="800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</a:rPr>
                        <a:t>표준 지표로는 시간적 일관성과 추론 깊이를 측정하지 못하고 전용 평가 지표도 없는 문제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Q1: "이순신 장군이 활동한 시기와 임진왜란 발발 연도를 알려줘."</a:t>
                      </a:r>
                    </a:p>
                    <a:p>
                      <a:r>
                        <a:rPr lang="ko-KR" altLang="ko-KR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→ A1: "이순신 장군은 16세기 후반 활동했으며, 임진왜란은 1592년에 발발했습니다.”</a:t>
                      </a:r>
                      <a:endParaRPr lang="en-US" altLang="ko-KR" sz="800" b="1" dirty="0">
                        <a:solidFill>
                          <a:srgbClr val="1E2761"/>
                        </a:solidFill>
                        <a:latin typeface="Calibri" pitchFamily="34" charset="0"/>
                        <a:ea typeface="Calibri" pitchFamily="34" charset="-122"/>
                      </a:endParaRPr>
                    </a:p>
                    <a:p>
                      <a:endParaRPr lang="ko-KR" altLang="ko-KR" sz="800" b="1" dirty="0">
                        <a:solidFill>
                          <a:srgbClr val="1E2761"/>
                        </a:solidFill>
                        <a:latin typeface="Calibri" pitchFamily="34" charset="0"/>
                        <a:ea typeface="Calibri" pitchFamily="34" charset="-122"/>
                      </a:endParaRPr>
                    </a:p>
                    <a:p>
                      <a:r>
                        <a:rPr lang="ko-KR" altLang="ko-KR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Q2: "임진왜란이 발발했을 때 이순신은 몇 살이었어?"</a:t>
                      </a:r>
                    </a:p>
                    <a:p>
                      <a:r>
                        <a:rPr lang="ko-KR" altLang="ko-KR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→ A2: "이순신은 임진왜란 당시 약 30대 중반이었습니다."</a:t>
                      </a:r>
                    </a:p>
                    <a:p>
                      <a:r>
                        <a:rPr lang="ko-KR" altLang="ko-KR" sz="8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</a:rPr>
                        <a:t>※ 오류: 이순신 1545년생 → 1592년 당시 실제 47세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Q1·Q2 개별 답변은 그럴듯해 보이나 </a:t>
                      </a:r>
                      <a:r>
                        <a:rPr lang="ko-KR" altLang="ko-KR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시간 추론 결과가 모순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기존 Accuracy/F1 지표로는 이 모순을 감지 불가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멀티홉 시간 추론 일관성 붕괴가 표준 벤치마크에서 미포착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전용 시간 일관성 지표(Temporal Consistency Score)로 Q1↔Q2 모순 자동 감지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추론 깊이(Reasoning Depth) 지표로 연도 계산 근거 포함 여부 정량 평가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</a:rPr>
                        <a:t>시간 특화 벤치마크(예: TemporalBench)로 기존 지표 보완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35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40">
            <a:extLst>
              <a:ext uri="{FF2B5EF4-FFF2-40B4-BE49-F238E27FC236}">
                <a16:creationId xmlns:a16="http://schemas.microsoft.com/office/drawing/2014/main" id="{6B13B61E-2E98-C5D0-EBEC-2B0168614898}"/>
              </a:ext>
            </a:extLst>
          </p:cNvPr>
          <p:cNvSpPr/>
          <p:nvPr/>
        </p:nvSpPr>
        <p:spPr>
          <a:xfrm>
            <a:off x="272068" y="1249952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42">
            <a:extLst>
              <a:ext uri="{FF2B5EF4-FFF2-40B4-BE49-F238E27FC236}">
                <a16:creationId xmlns:a16="http://schemas.microsoft.com/office/drawing/2014/main" id="{31EFF603-9DCD-888E-722D-B2C5F2450896}"/>
              </a:ext>
            </a:extLst>
          </p:cNvPr>
          <p:cNvSpPr/>
          <p:nvPr/>
        </p:nvSpPr>
        <p:spPr>
          <a:xfrm>
            <a:off x="272068" y="2132716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/>
                <a:ea typeface="Calibri"/>
              </a:rPr>
              <a:t>02. </a:t>
            </a:r>
            <a:r>
              <a:rPr lang="en-US" altLang="ko-KR" sz="2000" b="1" dirty="0">
                <a:solidFill>
                  <a:srgbClr val="1E2761"/>
                </a:solidFill>
                <a:latin typeface="Calibri"/>
                <a:ea typeface="Calibri"/>
              </a:rPr>
              <a:t>Knowledge Conflict </a:t>
            </a:r>
            <a:r>
              <a:rPr lang="ko-KR" altLang="en-US" sz="2000" b="1" dirty="0">
                <a:solidFill>
                  <a:srgbClr val="1E2761"/>
                </a:solidFill>
                <a:latin typeface="Calibri"/>
                <a:ea typeface="Calibri"/>
              </a:rPr>
              <a:t>분야 미해결 과제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/>
                <a:ea typeface="Calibri"/>
              </a:rPr>
              <a:t>STEP 1. Knowledge Conflict 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ea typeface="Calibri"/>
              </a:rPr>
              <a:t>(Xu et al., EMNLP 2024) — 7개 미해결 과제</a:t>
            </a:r>
          </a:p>
        </p:txBody>
      </p:sp>
      <p:sp>
        <p:nvSpPr>
          <p:cNvPr id="34" name="Shape 32"/>
          <p:cNvSpPr/>
          <p:nvPr/>
        </p:nvSpPr>
        <p:spPr>
          <a:xfrm>
            <a:off x="274320" y="1230000"/>
            <a:ext cx="4251960" cy="850000"/>
          </a:xfrm>
          <a:solidFill>
            <a:srgbClr val="FEE2E2"/>
          </a:solidFill>
          <a:ln w="9525" cap="flat" cmpd="sng" algn="ctr">
            <a:solidFill>
              <a:srgbClr val="DC2626"/>
            </a:solidFill>
            <a:prstDash val="solid"/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" y="124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① In-the-Wild Knowledge Conflicts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통제된 합성 데이터에 의존하여 실제 환경에서 발생하는 충돌의 양상과 영향을 알지 못하는 문제</a:t>
            </a:r>
          </a:p>
        </p:txBody>
      </p:sp>
      <p:sp>
        <p:nvSpPr>
          <p:cNvPr id="36" name="Shape 34"/>
          <p:cNvSpPr/>
          <p:nvPr/>
        </p:nvSpPr>
        <p:spPr>
          <a:xfrm>
            <a:off x="274320" y="2135000"/>
            <a:ext cx="4251960" cy="850000"/>
          </a:xfrm>
          <a:solidFill>
            <a:srgbClr val="FEE2E2"/>
          </a:solidFill>
          <a:ln w="9525" cap="flat" cmpd="sng" algn="ctr">
            <a:solidFill>
              <a:srgbClr val="DC2626"/>
            </a:solidFill>
            <a:prstDash val="solid"/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65760" y="214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② Finer-Resolution Solutions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충돌 유형과 맥락을 구분하지 않고 일괄 처리하여 상황별 최적 대응 전략을 찾지 못하는 문제</a:t>
            </a:r>
          </a:p>
        </p:txBody>
      </p:sp>
      <p:sp>
        <p:nvSpPr>
          <p:cNvPr id="38" name="Shape 36"/>
          <p:cNvSpPr/>
          <p:nvPr/>
        </p:nvSpPr>
        <p:spPr>
          <a:xfrm>
            <a:off x="274320" y="304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65760" y="305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③ Evaluation of Solutions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충돌 환경에서의 정량적·정성적 평가 기준이 부재하여 해결책의 효과를 검증하기 어려운 문제</a:t>
            </a:r>
          </a:p>
        </p:txBody>
      </p:sp>
      <p:sp>
        <p:nvSpPr>
          <p:cNvPr id="40" name="Shape 38"/>
          <p:cNvSpPr/>
          <p:nvPr/>
        </p:nvSpPr>
        <p:spPr>
          <a:xfrm>
            <a:off x="274320" y="3945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65760" y="395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④ Interplay among Conflicts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context-memory·inter-context·intra-memory 세 충돌 유형 간 상호작용을 다루지 못하는 문제</a:t>
            </a:r>
          </a:p>
        </p:txBody>
      </p:sp>
      <p:sp>
        <p:nvSpPr>
          <p:cNvPr id="42" name="Shape 40"/>
          <p:cNvSpPr/>
          <p:nvPr/>
        </p:nvSpPr>
        <p:spPr>
          <a:xfrm>
            <a:off x="4709160" y="123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00600" y="124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⑤ Explainability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모델이 충돌 상황에서 왜 특정 답변을 선택했는지 설명하지 못해 신뢰성을 확보하기 어려운 문제</a:t>
            </a:r>
          </a:p>
        </p:txBody>
      </p:sp>
      <p:sp>
        <p:nvSpPr>
          <p:cNvPr id="44" name="Shape 42"/>
          <p:cNvSpPr/>
          <p:nvPr/>
        </p:nvSpPr>
        <p:spPr>
          <a:xfrm>
            <a:off x="4709160" y="2135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800600" y="2147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⑥ Multilinguality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영어 중심 연구로 인해 다국어 환경에서 발생하는 충돌의 특성과 해결책을 다루지 못하는 문제</a:t>
            </a:r>
          </a:p>
        </p:txBody>
      </p:sp>
      <p:sp>
        <p:nvSpPr>
          <p:cNvPr id="47" name="Shape 45"/>
          <p:cNvSpPr/>
          <p:nvPr/>
        </p:nvSpPr>
        <p:spPr>
          <a:xfrm>
            <a:off x="4709160" y="3040000"/>
            <a:ext cx="4251960" cy="8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800600" y="3052700"/>
            <a:ext cx="4114800" cy="83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1F2937"/>
                </a:solidFill>
                <a:latin typeface="Calibri"/>
                <a:ea typeface="맑은 고딕"/>
              </a:rPr>
              <a:t>⑦ Multimodality</a:t>
            </a:r>
          </a:p>
          <a:p>
            <a:pPr>
              <a:buNone/>
            </a:pPr>
            <a:r>
              <a:rPr lang="ko-KR" altLang="en-US" sz="1000" dirty="0">
                <a:solidFill>
                  <a:srgbClr val="4B5563"/>
                </a:solidFill>
                <a:latin typeface="Calibri"/>
                <a:ea typeface="맑은 고딕"/>
              </a:rPr>
              <a:t>텍스트 중심 분석에 머물러 이미지·표·코드 등 다른 모달리티의 충돌을 다루지 못하는 문제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F538F-3A39-EAB0-DBF0-80F02BF5AD02}"/>
              </a:ext>
            </a:extLst>
          </p:cNvPr>
          <p:cNvSpPr txBox="1"/>
          <p:nvPr/>
        </p:nvSpPr>
        <p:spPr>
          <a:xfrm>
            <a:off x="7242365" y="4860332"/>
            <a:ext cx="1899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rgbClr val="1E2761"/>
                </a:solidFill>
                <a:latin typeface="Calibri"/>
                <a:hlinkClick r:id="" action="ppaction://noaction"/>
              </a:rPr>
              <a:t>Xu et al. (2024), arXiv:2403.08319</a:t>
            </a:r>
          </a:p>
        </p:txBody>
      </p:sp>
    </p:spTree>
    <p:extLst>
      <p:ext uri="{BB962C8B-B14F-4D97-AF65-F5344CB8AC3E}">
        <p14:creationId xmlns:p14="http://schemas.microsoft.com/office/powerpoint/2010/main" val="4347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1"/>
                </a:solidFill>
                <a:latin typeface="Calibri"/>
              </a:rPr>
              <a:t>03. </a:t>
            </a:r>
            <a:r>
              <a:rPr lang="ko-KR" altLang="en-US" sz="2000" b="1" dirty="0">
                <a:solidFill>
                  <a:srgbClr val="1E2761"/>
                </a:solidFill>
                <a:latin typeface="Calibri"/>
              </a:rPr>
              <a:t>두 서베이의 교차좌표 — 본 연구의 위치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/>
              </a:rPr>
              <a:t>STEP 4. Temporal QA 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</a:rPr>
              <a:t>차원 × Knowledge Conflict 차원의 본 연구 cell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DC3182A-3A52-5041-93C0-0591F89CA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47300"/>
              </p:ext>
            </p:extLst>
          </p:nvPr>
        </p:nvGraphicFramePr>
        <p:xfrm>
          <a:off x="279400" y="1333500"/>
          <a:ext cx="8636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283263779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46152398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24116740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35589044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8020829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Knowledge Conflict \ Temporal QA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Explicit Time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Implicit Time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Future-oriented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Multilingual / Multimodal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767938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Context-Memory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Dhingra et al. (2022)
De Cao et al. (2021) (포화)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Vu et al. (2023)
Kasai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Jin et al. (2021)
Dai et al.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Kassner et al. (2021)
Wu et al. (2025)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869579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Inter-Context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Chen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. (2021)
</a:t>
                      </a:r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Tan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DC2626"/>
                          </a:solidFill>
                          <a:latin typeface="Calibri"/>
                          <a:cs typeface="Calibri"/>
                        </a:rPr>
                        <a:t>★ 본 연구
Liu et al. (2025); Zhang &amp; Choi (2021)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Wu et al. (2025)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47814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100" b="1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Intra-Memory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Elazar et al. (2021)
Chen et al. (2023) (가장 덜 연구)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Pletenev et al. (2025) (가장 덜 연구)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4B5563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0963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76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5">
            <a:extLst>
              <a:ext uri="{FF2B5EF4-FFF2-40B4-BE49-F238E27FC236}">
                <a16:creationId xmlns:a16="http://schemas.microsoft.com/office/drawing/2014/main" id="{FD8F27E4-F374-0D42-C6C2-C3F1DDD98997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7278E5D-5ABA-7246-9B67-D54F37A707DD}"/>
              </a:ext>
            </a:extLst>
          </p:cNvPr>
          <p:cNvSpPr/>
          <p:nvPr/>
        </p:nvSpPr>
        <p:spPr>
          <a:xfrm>
            <a:off x="279400" y="1294025"/>
            <a:ext cx="2794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" altLang="ko-KR" sz="1200" b="1" dirty="0">
                <a:solidFill>
                  <a:srgbClr val="1E2761"/>
                </a:solidFill>
                <a:latin typeface="Calibri"/>
                <a:cs typeface="Calibri"/>
              </a:rPr>
              <a:t>① Gemini</a:t>
            </a:r>
            <a:endParaRPr lang="ko-KR" altLang="en-US" sz="1200" b="1" dirty="0">
              <a:solidFill>
                <a:srgbClr val="1E2761"/>
              </a:solidFill>
              <a:latin typeface="Calibri"/>
              <a:cs typeface="Calibri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E918C49-1E0B-F14B-8F35-6BDDBA7787C1}"/>
              </a:ext>
            </a:extLst>
          </p:cNvPr>
          <p:cNvSpPr/>
          <p:nvPr/>
        </p:nvSpPr>
        <p:spPr>
          <a:xfrm>
            <a:off x="279400" y="1522625"/>
            <a:ext cx="2794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900" dirty="0">
                <a:solidFill>
                  <a:srgbClr val="6B7280"/>
                </a:solidFill>
                <a:latin typeface="Calibri"/>
                <a:cs typeface="Calibri"/>
              </a:rPr>
              <a:t>웹 검색 </a:t>
            </a:r>
            <a:r>
              <a:rPr lang="en-US" altLang="ko-KR" sz="900" dirty="0">
                <a:solidFill>
                  <a:srgbClr val="6B7280"/>
                </a:solidFill>
                <a:latin typeface="Calibri"/>
                <a:cs typeface="Calibri"/>
              </a:rPr>
              <a:t>+ </a:t>
            </a:r>
            <a:r>
              <a:rPr lang="ko-KR" altLang="en-US" sz="900" dirty="0">
                <a:solidFill>
                  <a:srgbClr val="6B7280"/>
                </a:solidFill>
                <a:latin typeface="Calibri"/>
                <a:cs typeface="Calibri"/>
              </a:rPr>
              <a:t>학습 데이터 추론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ABE1C35-441E-AE43-948D-E06752EA000A}"/>
              </a:ext>
            </a:extLst>
          </p:cNvPr>
          <p:cNvSpPr/>
          <p:nvPr/>
        </p:nvSpPr>
        <p:spPr>
          <a:xfrm>
            <a:off x="3136900" y="1294025"/>
            <a:ext cx="2794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" altLang="ko-KR" sz="1200" b="1" dirty="0">
                <a:solidFill>
                  <a:srgbClr val="1E2761"/>
                </a:solidFill>
                <a:latin typeface="Calibri"/>
                <a:cs typeface="Calibri"/>
              </a:rPr>
              <a:t>② Google AI </a:t>
            </a:r>
            <a:r>
              <a:rPr lang="ko-KR" altLang="en-US" sz="1200" b="1" dirty="0">
                <a:solidFill>
                  <a:srgbClr val="1E2761"/>
                </a:solidFill>
                <a:latin typeface="Calibri"/>
                <a:cs typeface="Calibri"/>
              </a:rPr>
              <a:t>개요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A3BFF62-C9FA-9349-A38F-E01BD0CAC7CD}"/>
              </a:ext>
            </a:extLst>
          </p:cNvPr>
          <p:cNvSpPr/>
          <p:nvPr/>
        </p:nvSpPr>
        <p:spPr>
          <a:xfrm>
            <a:off x="3136900" y="1522625"/>
            <a:ext cx="2794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900" dirty="0">
                <a:solidFill>
                  <a:srgbClr val="6B7280"/>
                </a:solidFill>
                <a:latin typeface="Calibri"/>
                <a:cs typeface="Calibri"/>
              </a:rPr>
              <a:t>웹 검색 </a:t>
            </a:r>
            <a:r>
              <a:rPr lang="en-US" altLang="ko-KR" sz="900" dirty="0">
                <a:solidFill>
                  <a:srgbClr val="6B7280"/>
                </a:solidFill>
                <a:latin typeface="Calibri"/>
                <a:cs typeface="Calibri"/>
              </a:rPr>
              <a:t>+ </a:t>
            </a:r>
            <a:r>
              <a:rPr lang="en" altLang="ko-KR" sz="900" dirty="0">
                <a:solidFill>
                  <a:srgbClr val="6B7280"/>
                </a:solidFill>
                <a:latin typeface="Calibri"/>
                <a:cs typeface="Calibri"/>
              </a:rPr>
              <a:t>AI </a:t>
            </a:r>
            <a:r>
              <a:rPr lang="ko-KR" altLang="en-US" sz="900" dirty="0">
                <a:solidFill>
                  <a:srgbClr val="6B7280"/>
                </a:solidFill>
                <a:latin typeface="Calibri"/>
                <a:cs typeface="Calibri"/>
              </a:rPr>
              <a:t>요약 </a:t>
            </a:r>
            <a:r>
              <a:rPr lang="en-US" altLang="ko-KR" sz="900" dirty="0">
                <a:solidFill>
                  <a:srgbClr val="6B7280"/>
                </a:solidFill>
                <a:latin typeface="Calibri"/>
                <a:cs typeface="Calibri"/>
              </a:rPr>
              <a:t>(</a:t>
            </a:r>
            <a:r>
              <a:rPr lang="ko-KR" altLang="en-US" sz="900" dirty="0">
                <a:solidFill>
                  <a:srgbClr val="6B7280"/>
                </a:solidFill>
                <a:latin typeface="Calibri"/>
                <a:cs typeface="Calibri"/>
              </a:rPr>
              <a:t>출처 인용</a:t>
            </a:r>
            <a:r>
              <a:rPr lang="en-US" altLang="ko-KR" sz="900" dirty="0">
                <a:solidFill>
                  <a:srgbClr val="6B7280"/>
                </a:solidFill>
                <a:latin typeface="Calibri"/>
                <a:cs typeface="Calibri"/>
              </a:rPr>
              <a:t>)</a:t>
            </a:r>
            <a:endParaRPr lang="ko-KR" altLang="en-US" sz="900" dirty="0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974162F-B9DE-B643-AEC3-C64F65C10D65}"/>
              </a:ext>
            </a:extLst>
          </p:cNvPr>
          <p:cNvSpPr/>
          <p:nvPr/>
        </p:nvSpPr>
        <p:spPr>
          <a:xfrm>
            <a:off x="5994400" y="1294025"/>
            <a:ext cx="2794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" altLang="ko-KR" sz="1200" b="1">
                <a:solidFill>
                  <a:srgbClr val="0F766E"/>
                </a:solidFill>
                <a:latin typeface="Calibri"/>
                <a:cs typeface="Calibri"/>
              </a:rPr>
              <a:t>③ KASI </a:t>
            </a:r>
            <a:r>
              <a:rPr lang="ko-KR" altLang="en-US" sz="1200" b="1">
                <a:solidFill>
                  <a:srgbClr val="0F766E"/>
                </a:solidFill>
                <a:latin typeface="Calibri"/>
                <a:cs typeface="Calibri"/>
              </a:rPr>
              <a:t>공식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5218EA4-ABF4-4C48-90AE-1B6A8739CECF}"/>
              </a:ext>
            </a:extLst>
          </p:cNvPr>
          <p:cNvSpPr/>
          <p:nvPr/>
        </p:nvSpPr>
        <p:spPr>
          <a:xfrm>
            <a:off x="5994400" y="1522625"/>
            <a:ext cx="2794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900">
                <a:solidFill>
                  <a:srgbClr val="6B7280"/>
                </a:solidFill>
                <a:latin typeface="Calibri"/>
                <a:cs typeface="Calibri"/>
              </a:rPr>
              <a:t>한국천문연구원 </a:t>
            </a:r>
            <a:r>
              <a:rPr lang="en-US" altLang="ko-KR" sz="900">
                <a:solidFill>
                  <a:srgbClr val="6B7280"/>
                </a:solidFill>
                <a:latin typeface="Calibri"/>
                <a:cs typeface="Calibri"/>
              </a:rPr>
              <a:t>(</a:t>
            </a:r>
            <a:r>
              <a:rPr lang="ko-KR" altLang="en-US" sz="900">
                <a:solidFill>
                  <a:srgbClr val="6B7280"/>
                </a:solidFill>
                <a:latin typeface="Calibri"/>
                <a:cs typeface="Calibri"/>
              </a:rPr>
              <a:t>정답</a:t>
            </a:r>
            <a:r>
              <a:rPr lang="en-US" altLang="ko-KR" sz="900">
                <a:solidFill>
                  <a:srgbClr val="6B7280"/>
                </a:solidFill>
                <a:latin typeface="Calibri"/>
                <a:cs typeface="Calibri"/>
              </a:rPr>
              <a:t>)</a:t>
            </a:r>
            <a:endParaRPr lang="ko-KR" altLang="en-US" sz="900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4C7C43A-A85C-CA46-8570-30655247EAC4}"/>
              </a:ext>
            </a:extLst>
          </p:cNvPr>
          <p:cNvSpPr/>
          <p:nvPr/>
        </p:nvSpPr>
        <p:spPr>
          <a:xfrm>
            <a:off x="279400" y="3444105"/>
            <a:ext cx="2794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2817E57-CE71-DE40-B519-9BA82288F579}"/>
              </a:ext>
            </a:extLst>
          </p:cNvPr>
          <p:cNvSpPr/>
          <p:nvPr/>
        </p:nvSpPr>
        <p:spPr>
          <a:xfrm>
            <a:off x="381000" y="3560257"/>
            <a:ext cx="457200" cy="214048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Calibri"/>
                <a:cs typeface="Calibri"/>
              </a:rPr>
              <a:t>오답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4BFFBD7-60E7-EE45-818B-43719B5F420D}"/>
              </a:ext>
            </a:extLst>
          </p:cNvPr>
          <p:cNvSpPr/>
          <p:nvPr/>
        </p:nvSpPr>
        <p:spPr>
          <a:xfrm>
            <a:off x="828587" y="3520305"/>
            <a:ext cx="20320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오전 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5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시 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15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분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C752900-373D-8346-8279-4FCC61554476}"/>
              </a:ext>
            </a:extLst>
          </p:cNvPr>
          <p:cNvSpPr/>
          <p:nvPr/>
        </p:nvSpPr>
        <p:spPr>
          <a:xfrm>
            <a:off x="381000" y="3875905"/>
            <a:ext cx="25908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근거 </a:t>
            </a:r>
            <a:r>
              <a:rPr lang="ko-KR" altLang="en-US" sz="900" dirty="0" err="1">
                <a:solidFill>
                  <a:srgbClr val="1F2937"/>
                </a:solidFill>
                <a:latin typeface="Calibri"/>
                <a:cs typeface="Calibri"/>
              </a:rPr>
              <a:t>미제시</a:t>
            </a:r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lang="en-US" altLang="ko-KR" sz="900" dirty="0">
                <a:solidFill>
                  <a:srgbClr val="1F2937"/>
                </a:solidFill>
                <a:latin typeface="Calibri"/>
                <a:cs typeface="Calibri"/>
              </a:rPr>
              <a:t>— </a:t>
            </a:r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학습 데이터에 의존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96D8FB4-3EFB-9D41-9E8E-730F6C279B8F}"/>
              </a:ext>
            </a:extLst>
          </p:cNvPr>
          <p:cNvSpPr/>
          <p:nvPr/>
        </p:nvSpPr>
        <p:spPr>
          <a:xfrm>
            <a:off x="3136900" y="3444105"/>
            <a:ext cx="2794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10D2A877-1899-E744-94B5-7A8AF8DECD04}"/>
              </a:ext>
            </a:extLst>
          </p:cNvPr>
          <p:cNvSpPr/>
          <p:nvPr/>
        </p:nvSpPr>
        <p:spPr>
          <a:xfrm>
            <a:off x="3238500" y="3560257"/>
            <a:ext cx="457200" cy="214048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Calibri"/>
                <a:cs typeface="Calibri"/>
              </a:rPr>
              <a:t>오답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23591C4-223D-6E42-B2FF-0D16D02C123A}"/>
              </a:ext>
            </a:extLst>
          </p:cNvPr>
          <p:cNvSpPr/>
          <p:nvPr/>
        </p:nvSpPr>
        <p:spPr>
          <a:xfrm>
            <a:off x="3686087" y="3520305"/>
            <a:ext cx="20320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오전 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5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시 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11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분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8CFB221-862F-954E-9CE9-1EB9C665934F}"/>
              </a:ext>
            </a:extLst>
          </p:cNvPr>
          <p:cNvSpPr/>
          <p:nvPr/>
        </p:nvSpPr>
        <p:spPr>
          <a:xfrm>
            <a:off x="3238500" y="3875905"/>
            <a:ext cx="25908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공식 출처 인용했지만 실제값과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3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분 차이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BEB8013-C526-3C4A-B7FF-082F07293FA1}"/>
              </a:ext>
            </a:extLst>
          </p:cNvPr>
          <p:cNvSpPr/>
          <p:nvPr/>
        </p:nvSpPr>
        <p:spPr>
          <a:xfrm>
            <a:off x="5994400" y="3444105"/>
            <a:ext cx="2794000" cy="711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bg2">
                <a:lumMod val="9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46823-E5A7-844D-A4A4-4557F712546A}"/>
              </a:ext>
            </a:extLst>
          </p:cNvPr>
          <p:cNvSpPr/>
          <p:nvPr/>
        </p:nvSpPr>
        <p:spPr>
          <a:xfrm>
            <a:off x="6096000" y="3560257"/>
            <a:ext cx="457200" cy="214048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ko-KR" altLang="en-US" sz="900" b="1">
                <a:solidFill>
                  <a:srgbClr val="FFFFFF"/>
                </a:solidFill>
                <a:latin typeface="Calibri"/>
                <a:cs typeface="Calibri"/>
              </a:rPr>
              <a:t>정답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B9403AF-B0A0-2641-BA3F-041E13E4D2A1}"/>
              </a:ext>
            </a:extLst>
          </p:cNvPr>
          <p:cNvSpPr/>
          <p:nvPr/>
        </p:nvSpPr>
        <p:spPr>
          <a:xfrm>
            <a:off x="6543587" y="3520305"/>
            <a:ext cx="20320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100" b="1" dirty="0">
                <a:solidFill>
                  <a:srgbClr val="0F766E"/>
                </a:solidFill>
                <a:latin typeface="Calibri"/>
                <a:cs typeface="Calibri"/>
              </a:rPr>
              <a:t>오전 </a:t>
            </a:r>
            <a:r>
              <a:rPr lang="en-US" altLang="ko-KR" sz="1100" b="1" dirty="0">
                <a:solidFill>
                  <a:srgbClr val="0F766E"/>
                </a:solidFill>
                <a:latin typeface="Calibri"/>
                <a:cs typeface="Calibri"/>
              </a:rPr>
              <a:t>5</a:t>
            </a:r>
            <a:r>
              <a:rPr lang="ko-KR" altLang="en-US" sz="1100" b="1" dirty="0">
                <a:solidFill>
                  <a:srgbClr val="0F766E"/>
                </a:solidFill>
                <a:latin typeface="Calibri"/>
                <a:cs typeface="Calibri"/>
              </a:rPr>
              <a:t>시 </a:t>
            </a:r>
            <a:r>
              <a:rPr lang="en-US" altLang="ko-KR" sz="1100" b="1" dirty="0">
                <a:solidFill>
                  <a:srgbClr val="0F766E"/>
                </a:solidFill>
                <a:latin typeface="Calibri"/>
                <a:cs typeface="Calibri"/>
              </a:rPr>
              <a:t>14</a:t>
            </a:r>
            <a:r>
              <a:rPr lang="ko-KR" altLang="en-US" sz="1100" b="1" dirty="0">
                <a:solidFill>
                  <a:srgbClr val="0F766E"/>
                </a:solidFill>
                <a:latin typeface="Calibri"/>
                <a:cs typeface="Calibri"/>
              </a:rPr>
              <a:t>분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59914B60-DF58-114C-A9C9-13FFFDA17BEA}"/>
              </a:ext>
            </a:extLst>
          </p:cNvPr>
          <p:cNvSpPr/>
          <p:nvPr/>
        </p:nvSpPr>
        <p:spPr>
          <a:xfrm>
            <a:off x="6096000" y="3875905"/>
            <a:ext cx="2590800" cy="279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en" altLang="ko-KR" sz="900" dirty="0">
                <a:solidFill>
                  <a:srgbClr val="1F2937"/>
                </a:solidFill>
                <a:latin typeface="Calibri"/>
                <a:cs typeface="Calibri"/>
              </a:rPr>
              <a:t>KASI </a:t>
            </a:r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공식 </a:t>
            </a:r>
            <a:r>
              <a:rPr lang="ko-KR" altLang="en-US" sz="900" dirty="0" err="1">
                <a:solidFill>
                  <a:srgbClr val="1F2937"/>
                </a:solidFill>
                <a:latin typeface="Calibri"/>
                <a:cs typeface="Calibri"/>
              </a:rPr>
              <a:t>계산값</a:t>
            </a:r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 </a:t>
            </a:r>
            <a:r>
              <a:rPr lang="en-US" altLang="ko-KR" sz="900" dirty="0">
                <a:solidFill>
                  <a:srgbClr val="1F2937"/>
                </a:solidFill>
                <a:latin typeface="Calibri"/>
                <a:cs typeface="Calibri"/>
              </a:rPr>
              <a:t>(</a:t>
            </a:r>
            <a:r>
              <a:rPr lang="ko-KR" altLang="en-US" sz="900" dirty="0">
                <a:solidFill>
                  <a:srgbClr val="1F2937"/>
                </a:solidFill>
                <a:latin typeface="Calibri"/>
                <a:cs typeface="Calibri"/>
              </a:rPr>
              <a:t>위경도 기반</a:t>
            </a:r>
            <a:r>
              <a:rPr lang="en-US" altLang="ko-KR" sz="900" dirty="0">
                <a:solidFill>
                  <a:srgbClr val="1F2937"/>
                </a:solidFill>
                <a:latin typeface="Calibri"/>
                <a:cs typeface="Calibri"/>
              </a:rPr>
              <a:t>)</a:t>
            </a:r>
            <a:endParaRPr lang="ko-KR" altLang="en-US" sz="900" dirty="0">
              <a:solidFill>
                <a:srgbClr val="1F2937"/>
              </a:solidFill>
              <a:latin typeface="Calibri"/>
              <a:cs typeface="Calibri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7B80F2D-EEEF-4648-8817-DC10EFBF4BA5}"/>
              </a:ext>
            </a:extLst>
          </p:cNvPr>
          <p:cNvSpPr/>
          <p:nvPr/>
        </p:nvSpPr>
        <p:spPr>
          <a:xfrm>
            <a:off x="279400" y="4311135"/>
            <a:ext cx="8636000" cy="558800"/>
          </a:xfrm>
          <a:prstGeom prst="rect">
            <a:avLst/>
          </a:prstGeom>
          <a:solidFill>
            <a:srgbClr val="FEF2F2"/>
          </a:solidFill>
          <a:ln w="1905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EE32D9F3-EE23-9945-B37D-3B71EF85A045}"/>
              </a:ext>
            </a:extLst>
          </p:cNvPr>
          <p:cNvSpPr/>
          <p:nvPr/>
        </p:nvSpPr>
        <p:spPr>
          <a:xfrm>
            <a:off x="406400" y="4361935"/>
            <a:ext cx="8382000" cy="203200"/>
          </a:xfrm>
          <a:prstGeom prst="rect">
            <a:avLst/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1100" b="1" dirty="0">
                <a:solidFill>
                  <a:srgbClr val="C0392B"/>
                </a:solidFill>
                <a:latin typeface="Calibri"/>
                <a:cs typeface="Calibri"/>
              </a:rPr>
              <a:t>💡 핵심 관찰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07F22E7-632B-F14D-B41F-A93F4B551848}"/>
              </a:ext>
            </a:extLst>
          </p:cNvPr>
          <p:cNvSpPr/>
          <p:nvPr/>
        </p:nvSpPr>
        <p:spPr>
          <a:xfrm>
            <a:off x="406400" y="4565135"/>
            <a:ext cx="8382000" cy="279400"/>
          </a:xfrm>
          <a:prstGeom prst="rect">
            <a:avLst/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r>
              <a:rPr lang="ko-KR" altLang="en-US" sz="1000" b="1" dirty="0">
                <a:solidFill>
                  <a:srgbClr val="C00000"/>
                </a:solidFill>
                <a:cs typeface="Calibri"/>
              </a:rPr>
              <a:t>동일한 질문</a:t>
            </a:r>
            <a:r>
              <a:rPr lang="en-US" altLang="ko-KR" sz="1000" b="1" dirty="0">
                <a:solidFill>
                  <a:srgbClr val="C00000"/>
                </a:solidFill>
                <a:cs typeface="Calibri"/>
              </a:rPr>
              <a:t>, </a:t>
            </a:r>
            <a:r>
              <a:rPr lang="ko-KR" altLang="en-US" sz="1000" b="1" dirty="0">
                <a:solidFill>
                  <a:srgbClr val="C00000"/>
                </a:solidFill>
                <a:cs typeface="Calibri"/>
              </a:rPr>
              <a:t>세 시스템이 모두 다른 답 </a:t>
            </a:r>
            <a:r>
              <a:rPr lang="en-US" altLang="ko-KR" sz="1000" b="1" dirty="0">
                <a:solidFill>
                  <a:srgbClr val="C00000"/>
                </a:solidFill>
                <a:cs typeface="Calibri"/>
              </a:rPr>
              <a:t>— </a:t>
            </a:r>
            <a:r>
              <a:rPr lang="ko-KR" altLang="en-US" sz="1000" b="1" dirty="0">
                <a:solidFill>
                  <a:srgbClr val="C00000"/>
                </a:solidFill>
                <a:cs typeface="Calibri"/>
              </a:rPr>
              <a:t>공식 출처를 인용해도 값이 어긋남</a:t>
            </a:r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6DB7F408-B354-D18D-74C6-6FD47DC4931A}"/>
              </a:ext>
            </a:extLst>
          </p:cNvPr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1"/>
                </a:solidFill>
              </a:rPr>
              <a:t>03. </a:t>
            </a:r>
            <a:r>
              <a:rPr lang="ko-KR" altLang="en-US" sz="2000" b="1" dirty="0">
                <a:solidFill>
                  <a:srgbClr val="1E2761"/>
                </a:solidFill>
              </a:rPr>
              <a:t>두 </a:t>
            </a:r>
            <a:r>
              <a:rPr lang="ko-KR" altLang="en-US" sz="2000" b="1" dirty="0" err="1">
                <a:solidFill>
                  <a:srgbClr val="1E2761"/>
                </a:solidFill>
              </a:rPr>
              <a:t>서베이의</a:t>
            </a:r>
            <a:r>
              <a:rPr lang="ko-KR" altLang="en-US" sz="2000" b="1" dirty="0">
                <a:solidFill>
                  <a:srgbClr val="1E2761"/>
                </a:solidFill>
              </a:rPr>
              <a:t> 교차좌표 — 본 연구의 위치</a:t>
            </a:r>
          </a:p>
        </p:txBody>
      </p:sp>
      <p:sp>
        <p:nvSpPr>
          <p:cNvPr id="80" name="Shape 6">
            <a:extLst>
              <a:ext uri="{FF2B5EF4-FFF2-40B4-BE49-F238E27FC236}">
                <a16:creationId xmlns:a16="http://schemas.microsoft.com/office/drawing/2014/main" id="{17A36DDD-2082-EA75-7344-04347E2B949D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">
            <a:extLst>
              <a:ext uri="{FF2B5EF4-FFF2-40B4-BE49-F238E27FC236}">
                <a16:creationId xmlns:a16="http://schemas.microsoft.com/office/drawing/2014/main" id="{3ECC49B7-287B-BB21-35D3-8A60A41B55C7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" altLang="ko-KR" sz="1200" b="1" dirty="0">
                <a:solidFill>
                  <a:srgbClr val="C0392B"/>
                </a:solidFill>
                <a:cs typeface="Calibri"/>
              </a:rPr>
              <a:t>Q. </a:t>
            </a:r>
            <a:r>
              <a:rPr lang="ko-KR" altLang="en-US" sz="1200" b="1" dirty="0">
                <a:solidFill>
                  <a:srgbClr val="C0392B"/>
                </a:solidFill>
                <a:cs typeface="Calibri"/>
              </a:rPr>
              <a:t>오늘</a:t>
            </a:r>
            <a:r>
              <a:rPr lang="en-US" altLang="ko-KR" sz="1200" b="1" dirty="0">
                <a:solidFill>
                  <a:srgbClr val="C0392B"/>
                </a:solidFill>
                <a:cs typeface="Calibri"/>
              </a:rPr>
              <a:t>(2026.05.27) </a:t>
            </a:r>
            <a:r>
              <a:rPr lang="ko-KR" altLang="en-US" sz="1200" b="1" dirty="0">
                <a:solidFill>
                  <a:srgbClr val="C0392B"/>
                </a:solidFill>
                <a:cs typeface="Calibri"/>
              </a:rPr>
              <a:t>서울 </a:t>
            </a:r>
            <a:r>
              <a:rPr lang="ko-KR" altLang="en-US" sz="1200" b="1" dirty="0" err="1">
                <a:solidFill>
                  <a:srgbClr val="C0392B"/>
                </a:solidFill>
                <a:cs typeface="Calibri"/>
              </a:rPr>
              <a:t>해뜨는</a:t>
            </a:r>
            <a:r>
              <a:rPr lang="ko-KR" altLang="en-US" sz="1200" b="1" dirty="0">
                <a:solidFill>
                  <a:srgbClr val="C0392B"/>
                </a:solidFill>
                <a:cs typeface="Calibri"/>
              </a:rPr>
              <a:t> 시간은</a:t>
            </a:r>
            <a:r>
              <a:rPr lang="en-US" altLang="ko-KR" sz="1200" b="1" dirty="0">
                <a:solidFill>
                  <a:srgbClr val="C0392B"/>
                </a:solidFill>
                <a:cs typeface="Calibri"/>
              </a:rPr>
              <a:t>?</a:t>
            </a:r>
            <a:endParaRPr lang="ko-KR" altLang="en-US" sz="1200" b="1" dirty="0">
              <a:solidFill>
                <a:srgbClr val="C0392B"/>
              </a:solidFill>
              <a:cs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015B45-C054-E377-6255-B68B35F20EBD}"/>
              </a:ext>
            </a:extLst>
          </p:cNvPr>
          <p:cNvSpPr txBox="1"/>
          <p:nvPr/>
        </p:nvSpPr>
        <p:spPr>
          <a:xfrm>
            <a:off x="111211" y="1482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DFE2005B-398F-3C09-FACD-F2C4B604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77" r="25266" b="7097"/>
          <a:stretch>
            <a:fillRect/>
          </a:stretch>
        </p:blipFill>
        <p:spPr>
          <a:xfrm>
            <a:off x="6020484" y="1776625"/>
            <a:ext cx="2616199" cy="151645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38FFB861-C030-604C-FF1E-517E5DD78F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093" b="48383"/>
          <a:stretch>
            <a:fillRect/>
          </a:stretch>
        </p:blipFill>
        <p:spPr>
          <a:xfrm>
            <a:off x="291415" y="1876295"/>
            <a:ext cx="2781986" cy="1384522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F81A2E5B-3C12-44BC-981D-95145F2B38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51" r="19968" b="51373"/>
          <a:stretch>
            <a:fillRect/>
          </a:stretch>
        </p:blipFill>
        <p:spPr>
          <a:xfrm>
            <a:off x="3162985" y="1855922"/>
            <a:ext cx="2767915" cy="136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1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76200"/>
            <a:ext cx="7315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761"/>
                </a:solidFill>
                <a:latin typeface="Calibri"/>
              </a:rPr>
              <a:t>04. </a:t>
            </a:r>
            <a:r>
              <a:rPr lang="ko-KR" altLang="en-US" sz="2000" b="1" dirty="0">
                <a:solidFill>
                  <a:srgbClr val="1E2761"/>
                </a:solidFill>
                <a:latin typeface="Calibri"/>
              </a:rPr>
              <a:t>본 연구의 문제 정의: 시간적 충돌의 드러내기</a:t>
            </a:r>
          </a:p>
        </p:txBody>
      </p:sp>
      <p:sp>
        <p:nvSpPr>
          <p:cNvPr id="7" name="Shape 5"/>
          <p:cNvSpPr/>
          <p:nvPr/>
        </p:nvSpPr>
        <p:spPr>
          <a:xfrm>
            <a:off x="274320" y="609600"/>
            <a:ext cx="8641080" cy="33020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74320" y="609600"/>
            <a:ext cx="64008" cy="330200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609600"/>
            <a:ext cx="83210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761"/>
                </a:solidFill>
                <a:latin typeface="Calibri"/>
              </a:rPr>
              <a:t>STEP 5. 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</a:rPr>
              <a:t>충돌 해소 이전, 충돌의 존재를 드러내기</a:t>
            </a:r>
          </a:p>
        </p:txBody>
      </p:sp>
      <p:sp>
        <p:nvSpPr>
          <p:cNvPr id="2" name="Card2">
            <a:extLst>
              <a:ext uri="{FF2B5EF4-FFF2-40B4-BE49-F238E27FC236}">
                <a16:creationId xmlns:a16="http://schemas.microsoft.com/office/drawing/2014/main" id="{9B4C6354-25B7-9A44-9054-30B148E21BC0}"/>
              </a:ext>
            </a:extLst>
          </p:cNvPr>
          <p:cNvSpPr/>
          <p:nvPr/>
        </p:nvSpPr>
        <p:spPr>
          <a:xfrm>
            <a:off x="279400" y="1016000"/>
            <a:ext cx="8636000" cy="533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buNone/>
            </a:pPr>
            <a:r>
              <a:rPr lang="ko-KR" altLang="en-US" sz="1200" b="1" dirty="0">
                <a:solidFill>
                  <a:srgbClr val="C0392B"/>
                </a:solidFill>
                <a:latin typeface="Calibri"/>
              </a:rPr>
              <a:t>드러내기 = 충돌 인식 (Detection) + 질문 시점에 정답 연결 (Mapping)</a:t>
            </a:r>
          </a:p>
          <a:p>
            <a:pPr algn="ctr">
              <a:buNone/>
            </a:pPr>
            <a:r>
              <a:rPr lang="ko-KR" altLang="en-US" sz="1000" dirty="0">
                <a:solidFill>
                  <a:srgbClr val="1F2937"/>
                </a:solidFill>
                <a:latin typeface="Calibri"/>
              </a:rPr>
              <a:t>Retrieve된 문서 간 시점별로 갈리는 정답이 공존함을 인식하고, 시간 힌트 없는 질문에 어느 시점의 답이 적절한지 추론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CF3F25-1F9E-ED42-B964-F83B07053B6E}"/>
              </a:ext>
            </a:extLst>
          </p:cNvPr>
          <p:cNvSpPr/>
          <p:nvPr/>
        </p:nvSpPr>
        <p:spPr>
          <a:xfrm>
            <a:off x="242329" y="1701800"/>
            <a:ext cx="8636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예시 적용 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— "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오늘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(2026.05.27) 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서울 </a:t>
            </a:r>
            <a:r>
              <a:rPr lang="ko-KR" altLang="en-US" sz="1100" b="1" dirty="0" err="1">
                <a:solidFill>
                  <a:srgbClr val="1E2761"/>
                </a:solidFill>
                <a:latin typeface="Calibri"/>
                <a:cs typeface="Calibri"/>
              </a:rPr>
              <a:t>해뜨는</a:t>
            </a:r>
            <a:r>
              <a:rPr lang="ko-KR" altLang="en-US" sz="1100" b="1" dirty="0">
                <a:solidFill>
                  <a:srgbClr val="1E2761"/>
                </a:solidFill>
                <a:latin typeface="Calibri"/>
                <a:cs typeface="Calibri"/>
              </a:rPr>
              <a:t> 시간은</a:t>
            </a:r>
            <a:r>
              <a:rPr lang="en-US" altLang="ko-KR" sz="1100" b="1" dirty="0">
                <a:solidFill>
                  <a:srgbClr val="1E2761"/>
                </a:solidFill>
                <a:latin typeface="Calibri"/>
                <a:cs typeface="Calibri"/>
              </a:rPr>
              <a:t>?"</a:t>
            </a:r>
            <a:endParaRPr lang="ko-KR" altLang="en-US" sz="1100" b="1" dirty="0">
              <a:solidFill>
                <a:srgbClr val="1E2761"/>
              </a:solidFill>
              <a:latin typeface="Calibri"/>
              <a:cs typeface="Calibri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D0114B8-8DE6-CD4A-A60D-59AE90A45CB7}"/>
              </a:ext>
            </a:extLst>
          </p:cNvPr>
          <p:cNvSpPr/>
          <p:nvPr/>
        </p:nvSpPr>
        <p:spPr>
          <a:xfrm>
            <a:off x="279400" y="2057400"/>
            <a:ext cx="4254500" cy="279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E496B2D-FC53-F540-9D54-E954C241195D}"/>
              </a:ext>
            </a:extLst>
          </p:cNvPr>
          <p:cNvSpPr/>
          <p:nvPr/>
        </p:nvSpPr>
        <p:spPr>
          <a:xfrm>
            <a:off x="279400" y="2057400"/>
            <a:ext cx="4254500" cy="3302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AC898A-DBD4-804F-B9A9-75866D1BC95A}"/>
              </a:ext>
            </a:extLst>
          </p:cNvPr>
          <p:cNvSpPr/>
          <p:nvPr/>
        </p:nvSpPr>
        <p:spPr>
          <a:xfrm>
            <a:off x="406400" y="2057400"/>
            <a:ext cx="4000500" cy="3302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200" b="1">
                <a:solidFill>
                  <a:srgbClr val="1F2937"/>
                </a:solidFill>
                <a:latin typeface="Calibri"/>
                <a:cs typeface="Calibri"/>
              </a:rPr>
              <a:t>일반 </a:t>
            </a:r>
            <a:r>
              <a:rPr lang="en" altLang="ko-KR" sz="1200" b="1">
                <a:solidFill>
                  <a:srgbClr val="1F2937"/>
                </a:solidFill>
                <a:latin typeface="Calibri"/>
                <a:cs typeface="Calibri"/>
              </a:rPr>
              <a:t>RAG</a:t>
            </a:r>
            <a:endParaRPr lang="ko-KR" altLang="en-US" sz="1200" b="1">
              <a:solidFill>
                <a:srgbClr val="1F2937"/>
              </a:solidFill>
              <a:latin typeface="Calibri"/>
              <a:cs typeface="Calibri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3B3A8A-A0B9-834B-A25D-7FFFC85D63FF}"/>
              </a:ext>
            </a:extLst>
          </p:cNvPr>
          <p:cNvSpPr/>
          <p:nvPr/>
        </p:nvSpPr>
        <p:spPr>
          <a:xfrm>
            <a:off x="406400" y="2489200"/>
            <a:ext cx="4000500" cy="20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000" b="1">
                <a:solidFill>
                  <a:srgbClr val="6B7280"/>
                </a:solidFill>
                <a:latin typeface="Calibri"/>
                <a:cs typeface="Calibri"/>
              </a:rPr>
              <a:t>🔍 </a:t>
            </a:r>
            <a:r>
              <a:rPr lang="en" altLang="ko-KR" sz="1000" b="1">
                <a:solidFill>
                  <a:srgbClr val="6B7280"/>
                </a:solidFill>
                <a:latin typeface="Calibri"/>
                <a:cs typeface="Calibri"/>
              </a:rPr>
              <a:t>Retrieve</a:t>
            </a:r>
            <a:endParaRPr lang="ko-KR" altLang="en-US" sz="10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3A772CA-42A3-A541-9E1C-B640E84222D2}"/>
              </a:ext>
            </a:extLst>
          </p:cNvPr>
          <p:cNvSpPr/>
          <p:nvPr/>
        </p:nvSpPr>
        <p:spPr>
          <a:xfrm>
            <a:off x="406400" y="2705100"/>
            <a:ext cx="4000500" cy="6350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유사도 상위 문서 무차별 수집
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•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블로그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(2024): "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서울 일출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5:11"
•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뉴스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(2025): "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서울 일출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5:14"</a:t>
            </a:r>
            <a:endParaRPr lang="ko-KR" altLang="en-US" sz="900">
              <a:solidFill>
                <a:srgbClr val="1F2937"/>
              </a:solidFill>
              <a:latin typeface="Calibri"/>
              <a:cs typeface="Calibri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521B14-BDBD-0A44-8DA6-CB6A7D874B63}"/>
              </a:ext>
            </a:extLst>
          </p:cNvPr>
          <p:cNvSpPr/>
          <p:nvPr/>
        </p:nvSpPr>
        <p:spPr>
          <a:xfrm>
            <a:off x="406400" y="3429000"/>
            <a:ext cx="4000500" cy="20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000" b="1">
                <a:solidFill>
                  <a:srgbClr val="6B7280"/>
                </a:solidFill>
                <a:latin typeface="Calibri"/>
                <a:cs typeface="Calibri"/>
              </a:rPr>
              <a:t>💬 </a:t>
            </a:r>
            <a:r>
              <a:rPr lang="en" altLang="ko-KR" sz="1000" b="1">
                <a:solidFill>
                  <a:srgbClr val="6B7280"/>
                </a:solidFill>
                <a:latin typeface="Calibri"/>
                <a:cs typeface="Calibri"/>
              </a:rPr>
              <a:t>Answer</a:t>
            </a:r>
            <a:endParaRPr lang="ko-KR" altLang="en-US" sz="10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A69E5AE-1D8F-7A47-8DF8-CBCD1EA2B363}"/>
              </a:ext>
            </a:extLst>
          </p:cNvPr>
          <p:cNvSpPr/>
          <p:nvPr/>
        </p:nvSpPr>
        <p:spPr>
          <a:xfrm>
            <a:off x="406400" y="3644900"/>
            <a:ext cx="4000500" cy="635000"/>
          </a:xfrm>
          <a:prstGeom prst="rect">
            <a:avLst/>
          </a:prstGeom>
          <a:solidFill>
            <a:srgbClr val="F8F9FB"/>
          </a:solidFill>
          <a:ln w="6350" cap="flat" cmpd="sng" algn="ctr">
            <a:solidFill>
              <a:srgbClr val="E5E7E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"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서울 일출은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5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시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11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분입니다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"
→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한 시점만 단정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,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다른 답의 존재 은폐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4C38A1-F7C2-6749-A4BC-359F8321D086}"/>
              </a:ext>
            </a:extLst>
          </p:cNvPr>
          <p:cNvSpPr/>
          <p:nvPr/>
        </p:nvSpPr>
        <p:spPr>
          <a:xfrm>
            <a:off x="406400" y="4368800"/>
            <a:ext cx="40005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1000" b="1">
                <a:solidFill>
                  <a:srgbClr val="6B7280"/>
                </a:solidFill>
                <a:latin typeface="Calibri"/>
                <a:cs typeface="Calibri"/>
              </a:rPr>
              <a:t>⚠ 어느 시점의 답인지 추적 불가 </a:t>
            </a:r>
            <a:r>
              <a:rPr lang="en-US" altLang="ko-KR" sz="1000" b="1">
                <a:solidFill>
                  <a:srgbClr val="6B7280"/>
                </a:solidFill>
                <a:latin typeface="Calibri"/>
                <a:cs typeface="Calibri"/>
              </a:rPr>
              <a:t>— </a:t>
            </a:r>
            <a:r>
              <a:rPr lang="ko-KR" altLang="en-US" sz="1000" b="1">
                <a:solidFill>
                  <a:srgbClr val="6B7280"/>
                </a:solidFill>
                <a:latin typeface="Calibri"/>
                <a:cs typeface="Calibri"/>
              </a:rPr>
              <a:t>충돌이 보이지 않음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CC619F8-1D6A-FF46-AD68-8F3667B83F63}"/>
              </a:ext>
            </a:extLst>
          </p:cNvPr>
          <p:cNvSpPr/>
          <p:nvPr/>
        </p:nvSpPr>
        <p:spPr>
          <a:xfrm>
            <a:off x="4660900" y="2057400"/>
            <a:ext cx="4254500" cy="279400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9CFC2B-711F-6F48-8C6D-C3B27BBB9DA7}"/>
              </a:ext>
            </a:extLst>
          </p:cNvPr>
          <p:cNvSpPr/>
          <p:nvPr/>
        </p:nvSpPr>
        <p:spPr>
          <a:xfrm>
            <a:off x="4660900" y="2057400"/>
            <a:ext cx="4254500" cy="330200"/>
          </a:xfrm>
          <a:prstGeom prst="rect">
            <a:avLst/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CB6D7E8-328E-AD43-B876-B57AA90D50F3}"/>
              </a:ext>
            </a:extLst>
          </p:cNvPr>
          <p:cNvSpPr/>
          <p:nvPr/>
        </p:nvSpPr>
        <p:spPr>
          <a:xfrm>
            <a:off x="4787900" y="2057400"/>
            <a:ext cx="4000500" cy="330200"/>
          </a:xfrm>
          <a:prstGeom prst="rect">
            <a:avLst/>
          </a:prstGeom>
          <a:solidFill>
            <a:srgbClr val="FE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200" b="1">
                <a:solidFill>
                  <a:srgbClr val="C0392B"/>
                </a:solidFill>
                <a:latin typeface="Calibri"/>
                <a:cs typeface="Calibri"/>
              </a:rPr>
              <a:t>충돌 인식 </a:t>
            </a:r>
            <a:r>
              <a:rPr lang="en" altLang="ko-KR" sz="1200" b="1">
                <a:solidFill>
                  <a:srgbClr val="C0392B"/>
                </a:solidFill>
                <a:latin typeface="Calibri"/>
                <a:cs typeface="Calibri"/>
              </a:rPr>
              <a:t>RAG (</a:t>
            </a:r>
            <a:r>
              <a:rPr lang="ko-KR" altLang="en-US" sz="1200" b="1">
                <a:solidFill>
                  <a:srgbClr val="C0392B"/>
                </a:solidFill>
                <a:latin typeface="Calibri"/>
                <a:cs typeface="Calibri"/>
              </a:rPr>
              <a:t>본 연구</a:t>
            </a:r>
            <a:r>
              <a:rPr lang="en-US" altLang="ko-KR" sz="1200" b="1">
                <a:solidFill>
                  <a:srgbClr val="C0392B"/>
                </a:solidFill>
                <a:latin typeface="Calibri"/>
                <a:cs typeface="Calibri"/>
              </a:rPr>
              <a:t>)</a:t>
            </a:r>
            <a:endParaRPr lang="ko-KR" altLang="en-US" sz="1200" b="1">
              <a:solidFill>
                <a:srgbClr val="C0392B"/>
              </a:solidFill>
              <a:latin typeface="Calibri"/>
              <a:cs typeface="Calibri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47CE7BF-1C95-114E-B9DB-695EB8E89E10}"/>
              </a:ext>
            </a:extLst>
          </p:cNvPr>
          <p:cNvSpPr/>
          <p:nvPr/>
        </p:nvSpPr>
        <p:spPr>
          <a:xfrm>
            <a:off x="4787900" y="2489200"/>
            <a:ext cx="4000500" cy="20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Calibri"/>
                <a:cs typeface="Calibri"/>
              </a:rPr>
              <a:t>🔍 출처별 답 식별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742BEA-56F0-1C47-80CE-F1B83546EDFA}"/>
              </a:ext>
            </a:extLst>
          </p:cNvPr>
          <p:cNvSpPr/>
          <p:nvPr/>
        </p:nvSpPr>
        <p:spPr>
          <a:xfrm>
            <a:off x="4787900" y="2705100"/>
            <a:ext cx="1930400" cy="711200"/>
          </a:xfrm>
          <a:prstGeom prst="rect">
            <a:avLst/>
          </a:prstGeom>
          <a:solidFill>
            <a:srgbClr val="FFF7F5"/>
          </a:solidFill>
          <a:ln w="635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📄 출처 </a:t>
            </a:r>
            <a:r>
              <a:rPr lang="en" altLang="ko-KR" sz="900">
                <a:solidFill>
                  <a:srgbClr val="1F2937"/>
                </a:solidFill>
                <a:latin typeface="Calibri"/>
                <a:cs typeface="Calibri"/>
              </a:rPr>
              <a:t>A (2024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블로그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)
→ "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서울 일출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5:11"</a:t>
            </a:r>
            <a:endParaRPr lang="ko-KR" altLang="en-US" sz="900">
              <a:solidFill>
                <a:srgbClr val="1F2937"/>
              </a:solidFill>
              <a:latin typeface="Calibri"/>
              <a:cs typeface="Calibri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46CE25-0958-494B-BC04-4CF174F72C25}"/>
              </a:ext>
            </a:extLst>
          </p:cNvPr>
          <p:cNvSpPr/>
          <p:nvPr/>
        </p:nvSpPr>
        <p:spPr>
          <a:xfrm>
            <a:off x="6858000" y="2705100"/>
            <a:ext cx="1930400" cy="711200"/>
          </a:xfrm>
          <a:prstGeom prst="rect">
            <a:avLst/>
          </a:prstGeom>
          <a:solidFill>
            <a:srgbClr val="FFF7F5"/>
          </a:solidFill>
          <a:ln w="635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📄 출처 </a:t>
            </a:r>
            <a:r>
              <a:rPr lang="en" altLang="ko-KR" sz="900">
                <a:solidFill>
                  <a:srgbClr val="1F2937"/>
                </a:solidFill>
                <a:latin typeface="Calibri"/>
                <a:cs typeface="Calibri"/>
              </a:rPr>
              <a:t>B (2025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뉴스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)
→ "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서울 일출 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5:14"</a:t>
            </a:r>
            <a:endParaRPr lang="ko-KR" altLang="en-US" sz="900">
              <a:solidFill>
                <a:srgbClr val="1F2937"/>
              </a:solidFill>
              <a:latin typeface="Calibri"/>
              <a:cs typeface="Calibri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0D12953-760F-0242-BD82-1E055DAA93BA}"/>
              </a:ext>
            </a:extLst>
          </p:cNvPr>
          <p:cNvSpPr/>
          <p:nvPr/>
        </p:nvSpPr>
        <p:spPr>
          <a:xfrm>
            <a:off x="4787900" y="3517900"/>
            <a:ext cx="4000500" cy="203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ko-KR" altLang="en-US" sz="1000" b="1">
                <a:solidFill>
                  <a:srgbClr val="C0392B"/>
                </a:solidFill>
                <a:latin typeface="Calibri"/>
                <a:cs typeface="Calibri"/>
              </a:rPr>
              <a:t>✅ 충돌 해결 → 최종 답 선택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0D1030-1345-7E40-BF7D-1F868C9DC7CA}"/>
              </a:ext>
            </a:extLst>
          </p:cNvPr>
          <p:cNvSpPr/>
          <p:nvPr/>
        </p:nvSpPr>
        <p:spPr>
          <a:xfrm>
            <a:off x="4787900" y="3733800"/>
            <a:ext cx="4000500" cy="558800"/>
          </a:xfrm>
          <a:prstGeom prst="rect">
            <a:avLst/>
          </a:prstGeom>
          <a:solidFill>
            <a:srgbClr val="FEF2F2"/>
          </a:solidFill>
          <a:ln w="12700" cap="flat" cmpd="sng" algn="ctr">
            <a:solidFill>
              <a:srgbClr val="C0392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"5:14 (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출처 </a:t>
            </a:r>
            <a:r>
              <a:rPr lang="en" altLang="ko-KR" sz="900">
                <a:solidFill>
                  <a:srgbClr val="1F2937"/>
                </a:solidFill>
                <a:latin typeface="Calibri"/>
                <a:cs typeface="Calibri"/>
              </a:rPr>
              <a:t>B, 2025)"
← 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질문 시점</a:t>
            </a:r>
            <a:r>
              <a:rPr lang="en-US" altLang="ko-KR" sz="900">
                <a:solidFill>
                  <a:srgbClr val="1F2937"/>
                </a:solidFill>
                <a:latin typeface="Calibri"/>
                <a:cs typeface="Calibri"/>
              </a:rPr>
              <a:t>(2026)</a:t>
            </a:r>
            <a:r>
              <a:rPr lang="ko-KR" altLang="en-US" sz="900">
                <a:solidFill>
                  <a:srgbClr val="1F2937"/>
                </a:solidFill>
                <a:latin typeface="Calibri"/>
                <a:cs typeface="Calibri"/>
              </a:rPr>
              <a:t>에 더 가까운 최신 출처 채택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2C574D-EFF7-3F40-A825-34ECE69921CA}"/>
              </a:ext>
            </a:extLst>
          </p:cNvPr>
          <p:cNvSpPr/>
          <p:nvPr/>
        </p:nvSpPr>
        <p:spPr>
          <a:xfrm>
            <a:off x="4787900" y="4368800"/>
            <a:ext cx="4000500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/>
          <a:lstStyle/>
          <a:p>
            <a:pPr algn="l"/>
            <a:r>
              <a:rPr lang="ko-KR" altLang="en-US" sz="900" b="1">
                <a:solidFill>
                  <a:srgbClr val="C0392B"/>
                </a:solidFill>
                <a:latin typeface="Calibri"/>
                <a:cs typeface="Calibri"/>
              </a:rPr>
              <a:t>✓ 충돌이 드러나고</a:t>
            </a:r>
            <a:r>
              <a:rPr lang="en-US" altLang="ko-KR" sz="900" b="1">
                <a:solidFill>
                  <a:srgbClr val="C0392B"/>
                </a:solidFill>
                <a:latin typeface="Calibri"/>
                <a:cs typeface="Calibri"/>
              </a:rPr>
              <a:t>, </a:t>
            </a:r>
            <a:r>
              <a:rPr lang="ko-KR" altLang="en-US" sz="900" b="1">
                <a:solidFill>
                  <a:srgbClr val="C0392B"/>
                </a:solidFill>
                <a:latin typeface="Calibri"/>
                <a:cs typeface="Calibri"/>
              </a:rPr>
              <a:t>선택 근거가 명시됨 </a:t>
            </a:r>
            <a:r>
              <a:rPr lang="en-US" altLang="ko-KR" sz="900" b="1">
                <a:solidFill>
                  <a:srgbClr val="C0392B"/>
                </a:solidFill>
                <a:latin typeface="Calibri"/>
                <a:cs typeface="Calibri"/>
              </a:rPr>
              <a:t>(</a:t>
            </a:r>
            <a:r>
              <a:rPr lang="en" altLang="ko-KR" sz="900" b="1">
                <a:solidFill>
                  <a:srgbClr val="C0392B"/>
                </a:solidFill>
                <a:latin typeface="Calibri"/>
                <a:cs typeface="Calibri"/>
              </a:rPr>
              <a:t>Xu et al., 2024)</a:t>
            </a:r>
            <a:endParaRPr lang="ko-KR" altLang="en-US" sz="900" b="1">
              <a:solidFill>
                <a:srgbClr val="C0392B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9524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>
            <a:extLst>
              <a:ext uri="{FF2B5EF4-FFF2-40B4-BE49-F238E27FC236}">
                <a16:creationId xmlns:a16="http://schemas.microsoft.com/office/drawing/2014/main" id="{EC18723B-2FAF-1760-FC00-0A31388446AB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90E9666-4C08-DEF8-AD5C-BF76FE50D127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821D491-6DD2-F018-7FC0-95A69230FB61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</a:rPr>
              <a:t>STEP 1.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</a:rPr>
              <a:t>RQ 도출 — Inter-context 시점 정합성을 측정 가능한 가설로 분해</a:t>
            </a:r>
            <a:r>
              <a:rPr lang="en-US" altLang="ko-KR" sz="1000" dirty="0">
                <a:solidFill>
                  <a:srgbClr val="1F2937"/>
                </a:solidFill>
                <a:latin typeface="Calibri" pitchFamily="34" charset="0"/>
              </a:rPr>
              <a:t>  |  Implicit · Explicit · Hybrid 시간 표현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DAC99A-55EB-B343-BF49-8739F9AD9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440291"/>
              </p:ext>
            </p:extLst>
          </p:nvPr>
        </p:nvGraphicFramePr>
        <p:xfrm>
          <a:off x="279400" y="1270000"/>
          <a:ext cx="863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530">
                  <a:extLst>
                    <a:ext uri="{9D8B030D-6E8A-4147-A177-3AD203B41FA5}">
                      <a16:colId xmlns:a16="http://schemas.microsoft.com/office/drawing/2014/main" val="1750118816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2686944921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3811077327"/>
                    </a:ext>
                  </a:extLst>
                </a:gridCol>
                <a:gridCol w="1722782">
                  <a:extLst>
                    <a:ext uri="{9D8B030D-6E8A-4147-A177-3AD203B41FA5}">
                      <a16:colId xmlns:a16="http://schemas.microsoft.com/office/drawing/2014/main" val="2313246908"/>
                    </a:ext>
                  </a:extLst>
                </a:gridCol>
                <a:gridCol w="1944757">
                  <a:extLst>
                    <a:ext uri="{9D8B030D-6E8A-4147-A177-3AD203B41FA5}">
                      <a16:colId xmlns:a16="http://schemas.microsoft.com/office/drawing/2014/main" val="24396362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RQ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질문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측정 가능 가설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검증 방법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기여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80509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RQ1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RAG가 Inter-context 시간 정합성 검증 없이 작동할 때 시점 충돌 질의에서 얼마나 실패하는가?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시점이 충돌하는 retrieved evidence에서 standard RAG의 정답률이 단일 시점 evidence 대비 유의미하게 하락한다.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Inter-context conflict subset 구축 후 standard RAG vs no-retrieval LLM 정답률 비교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문제의 정량적 심각성 입증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② 과제 baseline 확립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818697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RQ2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Implicit · Explicit · Hybrid 시간 표현 중 어떤 모드에서 실패가 집중되는가?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rgbClr val="00695C"/>
                          </a:solidFill>
                          <a:latin typeface="Calibri"/>
                        </a:rPr>
                        <a:t>Implicit 시간 표현 질의의 정답률이 Explicit 대비 큰 폭으로 낮다 (mode-wise gap 존재).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동일 질의 의미에 대해 시간 표현 모드를 변주한 paired set으로 mode-wise 정확도 측정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⑥ 과제 정량 진단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mode-wise 평가 프로토콜 제안</a:t>
                      </a:r>
                    </a:p>
                  </a:txBody>
                  <a:tcPr anchor="ctr"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521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RQ3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Evidence의 시간 단서를 명시적으로 surfacing하면 시점 정합성 정답률이 개선되는가?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Surfacing-augmented RAG가 Inter-context 충돌 질의에서 standard RAG 대비 정답률·정합성을 개선한다.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동일 retrieval/generator, surfacing 유무만 ablation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Surfacing 모듈의 단독 효과 분리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②⑥ 통합 해결 첫 증거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90423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RQ4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Surfacing의 효과는 시간 표현 모드에 따라 어떻게 달라지는가?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900" b="1" dirty="0">
                          <a:solidFill>
                            <a:srgbClr val="00695C"/>
                          </a:solidFill>
                          <a:latin typeface="Calibri"/>
                        </a:rPr>
                        <a:t>Implicit · Hybrid 모드에서 Surfacing의 이득이 Explicit 대비 더 크다 (interaction effect).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RQ2의 mode-wise 평가에 surfacing 조건 추가하여 모드 × 조건 분산분석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Surfacing의 적용 조건 규명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실제 운영 가이드라인 제시</a:t>
                      </a:r>
                    </a:p>
                  </a:txBody>
                  <a:tcPr anchor="ctr"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35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66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D805333C-1132-C8EE-771D-DBC8B222759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9BD0CA5-4D9B-A41B-2E98-F9EAA78E5911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821D491-6DD2-F018-7FC0-95A69230FB61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</a:rPr>
              <a:t>STEP 2.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</a:rPr>
              <a:t>데이터셋 설계 — 기존 벤치마크 + Inter-context 충돌 확장</a:t>
            </a:r>
            <a:r>
              <a:rPr lang="en-US" altLang="ko-KR" sz="1000" dirty="0">
                <a:solidFill>
                  <a:srgbClr val="1F2937"/>
                </a:solidFill>
                <a:latin typeface="Calibri" pitchFamily="34" charset="0"/>
              </a:rPr>
              <a:t>  |  TimeQA · TempLAMA · TimeBench 기반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0FC4CA9-0436-CB4C-A5D2-A10A460D8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496432"/>
              </p:ext>
            </p:extLst>
          </p:nvPr>
        </p:nvGraphicFramePr>
        <p:xfrm>
          <a:off x="279400" y="1270000"/>
          <a:ext cx="8636000" cy="363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530">
                  <a:extLst>
                    <a:ext uri="{9D8B030D-6E8A-4147-A177-3AD203B41FA5}">
                      <a16:colId xmlns:a16="http://schemas.microsoft.com/office/drawing/2014/main" val="3085334326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2112701089"/>
                    </a:ext>
                  </a:extLst>
                </a:gridCol>
                <a:gridCol w="1974574">
                  <a:extLst>
                    <a:ext uri="{9D8B030D-6E8A-4147-A177-3AD203B41FA5}">
                      <a16:colId xmlns:a16="http://schemas.microsoft.com/office/drawing/2014/main" val="1190959616"/>
                    </a:ext>
                  </a:extLst>
                </a:gridCol>
                <a:gridCol w="1722782">
                  <a:extLst>
                    <a:ext uri="{9D8B030D-6E8A-4147-A177-3AD203B41FA5}">
                      <a16:colId xmlns:a16="http://schemas.microsoft.com/office/drawing/2014/main" val="3022849665"/>
                    </a:ext>
                  </a:extLst>
                </a:gridCol>
                <a:gridCol w="1944757">
                  <a:extLst>
                    <a:ext uri="{9D8B030D-6E8A-4147-A177-3AD203B41FA5}">
                      <a16:colId xmlns:a16="http://schemas.microsoft.com/office/drawing/2014/main" val="52386529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Subset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Source / 구축 방법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시간 표현 모드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Inter-context 충돌 type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규모 (목표)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406115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i="0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Base-Explicit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TimeQA · TempLAMA에서 명시적 날짜 포함 질의 추출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(예: "In 2018, who was CEO of X?")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Explicit</a:t>
                      </a:r>
                    </a:p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(YYYY, 연도/날짜 토큰 명시)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단일 시점 evidence — 충돌 없음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(상한 baseline 측정용)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≈ 2,000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145903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i="0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Base-Implicit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TimeBench의 implicit subset + Allein 2023 데이터 재라벨링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("recently", "당시", "after the merger" 등)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Implicit</a:t>
                      </a:r>
                    </a:p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(상대 시점·사건 기반 참조)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단일 시점 evidence — 충돌 없음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(mode-wise gap 측정용)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≈ 2,000</a:t>
                      </a:r>
                    </a:p>
                  </a:txBody>
                  <a:tcPr anchor="ctr"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31944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900" b="1" i="0" dirty="0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Conflict-Inter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Wikipedia revision history에서 동일 entity의 시점이 다른 snapshot pair 추출 → retriever에 동시 노출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(반자동 + 수동 검증)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Explicit · Implicit · Hybrid</a:t>
                      </a:r>
                    </a:p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  <a:latin typeface="Calibri"/>
                        </a:rPr>
                        <a:t>각 모드별 균등 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Inter-context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0" i="0" dirty="0">
                          <a:solidFill>
                            <a:srgbClr val="1F2937"/>
                          </a:solidFill>
                          <a:latin typeface="Calibri"/>
                          <a:ea typeface="맑은 고딕"/>
                        </a:rPr>
                        <a:t>(retrieved evidence 간 시점 충돌)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≈ 1,500</a:t>
                      </a:r>
                    </a:p>
                    <a:p>
                      <a:pPr marL="152400" indent="-152400">
                        <a:buFont typeface="Arial"/>
                        <a:buChar char="•"/>
                      </a:pPr>
                      <a:r>
                        <a:rPr lang="ko-KR" altLang="en-US" sz="900" b="1" i="0" dirty="0">
                          <a:solidFill>
                            <a:srgbClr val="C0392B"/>
                          </a:solidFill>
                          <a:latin typeface="Calibri"/>
                          <a:ea typeface="맑은 고딕"/>
                        </a:rPr>
                        <a:t>(모드당 ≈ 500)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834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72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D805333C-1132-C8EE-771D-DBC8B222759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9BD0CA5-4D9B-A41B-2E98-F9EAA78E5911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821D491-6DD2-F018-7FC0-95A69230FB61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</a:rPr>
              <a:t>STEP 3.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</a:rPr>
              <a:t>평가 지표 — 정답률 · 시점 정합성 · mode-wise gap</a:t>
            </a:r>
            <a:r>
              <a:rPr lang="en-US" altLang="ko-KR" sz="1000" dirty="0">
                <a:solidFill>
                  <a:srgbClr val="1F2937"/>
                </a:solidFill>
                <a:latin typeface="Calibri" pitchFamily="34" charset="0"/>
              </a:rPr>
              <a:t>  |  각 지표는 RQ1–RQ4와 직접 연결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E1BB507-1305-2443-A64F-98D0F22E9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150861"/>
              </p:ext>
            </p:extLst>
          </p:nvPr>
        </p:nvGraphicFramePr>
        <p:xfrm>
          <a:off x="279400" y="1270000"/>
          <a:ext cx="8636000" cy="29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2572943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7317296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833045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정의 · 계산 방식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연결 RQ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42129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EM / F1 (Overall)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표준 QA 정확도 — exact match와 token-level F1</a:t>
                      </a:r>
                    </a:p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전체 subset 평균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RQ1 — 시점 충돌 시 standard RAG 실패 정량화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6514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Conflict EM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Conflict-Inter subset에 한정한 EM</a:t>
                      </a:r>
                    </a:p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Base EM과의 차이로 시점 충돌 민감도 측정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RQ1 · RQ3 — surfacing 도입 전후 충돌 robustness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085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Mode-wise EM gap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ΔEM = EM(Explicit) − EM(Implicit)</a:t>
                      </a:r>
                    </a:p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Hybrid는 별도 보고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RQ2 · RQ4 — 시간 표현 모드별 격차와 surfacing의 interaction effect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9195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Temporal Consistency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생성 답안의 시점 정보와 retrieved evidence 시점의 정합 비율</a:t>
                      </a:r>
                    </a:p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(LLM-as-judge + 규칙 기반 검증 hybrid)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RQ3 — surfacing이 정합성을 개선하는지 직접 측정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62931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Surfacing Faithfulness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>
                          <a:solidFill>
                            <a:srgbClr val="C0392B"/>
                          </a:solidFill>
                          <a:latin typeface="Calibri"/>
                          <a:cs typeface="Calibri"/>
                        </a:rPr>
                        <a:t>Surfacing 단계에서 추출된 시간 단서가 evidence에 실제 존재하는 비율</a:t>
                      </a:r>
                    </a:p>
                    <a:p>
                      <a:pPr algn="l"/>
                      <a:r>
                        <a:rPr lang="ko-KR" altLang="en-US" sz="1000" b="1">
                          <a:solidFill>
                            <a:srgbClr val="C0392B"/>
                          </a:solidFill>
                          <a:latin typeface="Calibri"/>
                          <a:cs typeface="Calibri"/>
                        </a:rPr>
                        <a:t>(precision/recall)</a:t>
                      </a:r>
                    </a:p>
                  </a:txBody>
                  <a:tcPr anchor="ctr"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solidFill>
                            <a:srgbClr val="00695C"/>
                          </a:solidFill>
                          <a:latin typeface="Calibri"/>
                          <a:cs typeface="Calibri"/>
                        </a:rPr>
                        <a:t>RQ3 · RQ4 — surfacing 모듈 자체의 품질 진단</a:t>
                      </a:r>
                    </a:p>
                  </a:txBody>
                  <a:tcPr anchor="ctr">
                    <a:solidFill>
                      <a:srgbClr val="E0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33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93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">
            <a:extLst>
              <a:ext uri="{FF2B5EF4-FFF2-40B4-BE49-F238E27FC236}">
                <a16:creationId xmlns:a16="http://schemas.microsoft.com/office/drawing/2014/main" id="{D805333C-1132-C8EE-771D-DBC8B222759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9BD0CA5-4D9B-A41B-2E98-F9EAA78E5911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</a:rPr>
              <a:t>04.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</a:rPr>
              <a:t>본 연구 접근 — TV-RAG 데이터셋 및 평가 프로토콜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821D491-6DD2-F018-7FC0-95A69230FB61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</a:rPr>
              <a:t>STEP 5.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</a:rPr>
              <a:t>3모드 진단 데이터셋 + Mode-wise 평가 + TIR 신지표로 ②⑥ 동시 측정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0942BA-189E-F94F-9A27-881DC572249E}"/>
              </a:ext>
            </a:extLst>
          </p:cNvPr>
          <p:cNvGraphicFramePr>
            <a:graphicFrameLocks noGrp="1"/>
          </p:cNvGraphicFramePr>
          <p:nvPr/>
        </p:nvGraphicFramePr>
        <p:xfrm>
          <a:off x="279400" y="1270000"/>
          <a:ext cx="863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462012356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89697057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95369108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319341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7659923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모드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예시 질문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시간 힌트 유형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기대 검색 청크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평가 초점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16403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current_raw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월드컵 우승팀은 어디인가요?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힌트 없음(암묵적)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최신 시점 (2022 카타르)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⑥ 암묵적 시점 추론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30684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current</a:t>
                      </a:r>
                    </a:p>
                  </a:txBody>
                  <a:tcPr anchor="ctr">
                    <a:solidFill>
                      <a:srgbClr val="E6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최근 재분류된 효모 종 분류 체계에서 글루코노락톤을 발효시키는 효모는?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"최근" (사건-시점 상대)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재분류 이후 청크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② 사건 기준 anchor 해소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795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outdated</a:t>
                      </a:r>
                    </a:p>
                  </a:txBody>
                  <a:tcPr anchor="ctr"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효모 종 재분류 이전 분류 체계에서 같은 종을 무엇이라 불렀나요?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"이전" (사건-시점 상대)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재분류 이전 revision 청크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② 시점별 청크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77227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A4C06DF-3BA5-0044-BE21-2D23F305C125}"/>
              </a:ext>
            </a:extLst>
          </p:cNvPr>
          <p:cNvGraphicFramePr>
            <a:graphicFrameLocks noGrp="1"/>
          </p:cNvGraphicFramePr>
          <p:nvPr/>
        </p:nvGraphicFramePr>
        <p:xfrm>
          <a:off x="279400" y="3200400"/>
          <a:ext cx="8636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674255012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9125325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8129068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지표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정의 / 수식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측정 대상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91793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EM / F1, Recall@k, MRR, nDCG (mode-wise 분해)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각 모드(current_raw/current/outdated)별 분리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기존 지표를 모드별로 적용 — ②⑥ 능력 독립 측정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003338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>
                          <a:solidFill>
                            <a:srgbClr val="1E2761"/>
                          </a:solidFill>
                          <a:latin typeface="Calibri"/>
                          <a:cs typeface="Calibri"/>
                        </a:rPr>
                        <a:t>TIR (Temporal Intent Resolution)</a:t>
                      </a:r>
                    </a:p>
                  </a:txBody>
                  <a:tcPr anchor="ctr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TIR = Acc(current_raw) / Acc(current)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>
                          <a:solidFill>
                            <a:srgbClr val="1F2937"/>
                          </a:solidFill>
                          <a:latin typeface="Calibri"/>
                          <a:cs typeface="Calibri"/>
                        </a:rPr>
                        <a:t>⑥ 암묵적 의도 추론 능력 (1에 가까울수록 명시 힌트 없이도 잘 풀이)</a:t>
                      </a:r>
                    </a:p>
                  </a:txBody>
                  <a:tcPr anchor="ctr"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04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98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C57F-1901-3C27-6CD2-B4616AC5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63A2AC51-970B-F219-14C8-745D9F12547A}"/>
              </a:ext>
            </a:extLst>
          </p:cNvPr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E32A8407-F5AD-25B8-B60A-00C6E73F5DD0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4A1EC9C-7E9B-4EF2-3422-B31E879646A2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03F9084-3FE6-191D-811C-505BAE85B5FB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해결책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300" name="Card_bg_0"/>
          <p:cNvSpPr>
            <a:spLocks noGrp="1"/>
          </p:cNvSpPr>
          <p:nvPr/>
        </p:nvSpPr>
        <p:spPr>
          <a:xfrm>
            <a:off x="228600" y="1219200"/>
            <a:ext cx="2819400" cy="32385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340" name="Badge_0"/>
          <p:cNvSpPr>
            <a:spLocks noGrp="1"/>
          </p:cNvSpPr>
          <p:nvPr/>
        </p:nvSpPr>
        <p:spPr>
          <a:xfrm>
            <a:off x="304800" y="1308100"/>
            <a:ext cx="2667000" cy="203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합성 데이터 평가</a:t>
            </a:r>
          </a:p>
        </p:txBody>
      </p:sp>
      <p:sp>
        <p:nvSpPr>
          <p:cNvPr id="380" name="Label_0"/>
          <p:cNvSpPr>
            <a:spLocks noGrp="1"/>
          </p:cNvSpPr>
          <p:nvPr/>
        </p:nvSpPr>
        <p:spPr>
          <a:xfrm>
            <a:off x="304800" y="15621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Test of Time / ToT (Fatemi et al., 2024)</a:t>
            </a:r>
          </a:p>
        </p:txBody>
      </p:sp>
      <p:sp>
        <p:nvSpPr>
          <p:cNvPr id="420" name="Div_0"/>
          <p:cNvSpPr>
            <a:spLocks noGrp="1"/>
          </p:cNvSpPr>
          <p:nvPr/>
        </p:nvSpPr>
        <p:spPr>
          <a:xfrm>
            <a:off x="304800" y="18669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60" name="Content_0"/>
          <p:cNvSpPr>
            <a:spLocks noGrp="1"/>
          </p:cNvSpPr>
          <p:nvPr/>
        </p:nvSpPr>
        <p:spPr>
          <a:xfrm>
            <a:off x="304800" y="1917700"/>
            <a:ext cx="2667000" cy="24384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GPT-4도 순수 시간 산술 30%+ 오류. CoT는 Arithmetic 일부 개선, Counterfactual 효과 제한적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"X 이후 3년은?" 같은 순수 산술도 GPT-4 빈번 오류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고득점의 상당 부분은 암기 — 진짜 추론은 합성 데이터 격리 테스트 필요</a:t>
            </a:r>
          </a:p>
        </p:txBody>
      </p:sp>
      <p:sp>
        <p:nvSpPr>
          <p:cNvPr id="302" name="Card_bg_2"/>
          <p:cNvSpPr>
            <a:spLocks noGrp="1"/>
          </p:cNvSpPr>
          <p:nvPr/>
        </p:nvSpPr>
        <p:spPr>
          <a:xfrm>
            <a:off x="3098800" y="1219200"/>
            <a:ext cx="2819400" cy="32385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342" name="Badge_2"/>
          <p:cNvSpPr>
            <a:spLocks noGrp="1"/>
          </p:cNvSpPr>
          <p:nvPr/>
        </p:nvSpPr>
        <p:spPr>
          <a:xfrm>
            <a:off x="3175000" y="1308100"/>
            <a:ext cx="2667000" cy="2032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구조화 프롬프팅</a:t>
            </a:r>
          </a:p>
        </p:txBody>
      </p:sp>
      <p:sp>
        <p:nvSpPr>
          <p:cNvPr id="382" name="Label_2"/>
          <p:cNvSpPr>
            <a:spLocks noGrp="1"/>
          </p:cNvSpPr>
          <p:nvPr/>
        </p:nvSpPr>
        <p:spPr>
          <a:xfrm>
            <a:off x="3175000" y="15621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Narrative-of-Thought (Zhang et al., 2024)</a:t>
            </a:r>
          </a:p>
        </p:txBody>
      </p:sp>
      <p:sp>
        <p:nvSpPr>
          <p:cNvPr id="422" name="Div_2"/>
          <p:cNvSpPr>
            <a:spLocks noGrp="1"/>
          </p:cNvSpPr>
          <p:nvPr/>
        </p:nvSpPr>
        <p:spPr>
          <a:xfrm>
            <a:off x="3175000" y="18669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62" name="Content_2"/>
          <p:cNvSpPr>
            <a:spLocks noGrp="1"/>
          </p:cNvSpPr>
          <p:nvPr/>
        </p:nvSpPr>
        <p:spPr>
          <a:xfrm>
            <a:off x="3175000" y="1917700"/>
            <a:ext cx="2667000" cy="24384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서사 구조 유도 시 멀티홉 이벤트 시퀀스 정렬 정확도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"사건을 시간 순서대로 서술하라" 강제 → 순서 추론 정확도 상승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시간 추론엔 일반 CoT보다 시간 흐름 서사 강제 구조화 프롬프트가 효과적</a:t>
            </a:r>
          </a:p>
        </p:txBody>
      </p:sp>
      <p:sp>
        <p:nvSpPr>
          <p:cNvPr id="303" name="Card_bg_3"/>
          <p:cNvSpPr>
            <a:spLocks noGrp="1"/>
          </p:cNvSpPr>
          <p:nvPr/>
        </p:nvSpPr>
        <p:spPr>
          <a:xfrm>
            <a:off x="5969000" y="1219200"/>
            <a:ext cx="2819400" cy="32385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343" name="Badge_3"/>
          <p:cNvSpPr>
            <a:spLocks noGrp="1"/>
          </p:cNvSpPr>
          <p:nvPr/>
        </p:nvSpPr>
        <p:spPr>
          <a:xfrm>
            <a:off x="6045200" y="1308100"/>
            <a:ext cx="2667000" cy="203200"/>
          </a:xfrm>
          <a:prstGeom prst="roundRect">
            <a:avLst>
              <a:gd name="adj" fmla="val 20000"/>
            </a:avLst>
          </a:prstGeom>
          <a:solidFill>
            <a:srgbClr val="1F5F9E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실시간 정보 주입</a:t>
            </a:r>
          </a:p>
        </p:txBody>
      </p:sp>
      <p:sp>
        <p:nvSpPr>
          <p:cNvPr id="383" name="Label_3"/>
          <p:cNvSpPr>
            <a:spLocks noGrp="1"/>
          </p:cNvSpPr>
          <p:nvPr/>
        </p:nvSpPr>
        <p:spPr>
          <a:xfrm>
            <a:off x="6045200" y="15621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FRESHPROMPT (Vu et al., 2024)</a:t>
            </a:r>
          </a:p>
        </p:txBody>
      </p:sp>
      <p:sp>
        <p:nvSpPr>
          <p:cNvPr id="423" name="Div_3"/>
          <p:cNvSpPr>
            <a:spLocks noGrp="1"/>
          </p:cNvSpPr>
          <p:nvPr/>
        </p:nvSpPr>
        <p:spPr>
          <a:xfrm>
            <a:off x="6045200" y="1866900"/>
            <a:ext cx="2667000" cy="127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463" name="Content_3"/>
          <p:cNvSpPr>
            <a:spLocks noGrp="1"/>
          </p:cNvSpPr>
          <p:nvPr/>
        </p:nvSpPr>
        <p:spPr>
          <a:xfrm>
            <a:off x="6045200" y="1917700"/>
            <a:ext cx="2667000" cy="24384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실시간 신호 주입 시 outdated 답변 비율 대폭 감소, 최신 사실 정확도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Google 검색 결과 주입 → "현재 X는?" 유형 질문 정답률 급상승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정적 LLM의 한계를 추론 시점 실시간 정보 주입으로 보완 — 단, 검색 품질에 의존적</a:t>
            </a:r>
          </a:p>
        </p:txBody>
      </p:sp>
      <p:sp>
        <p:nvSpPr>
          <p:cNvPr id="399" name="ImplicationBox"/>
          <p:cNvSpPr>
            <a:spLocks noGrp="1"/>
          </p:cNvSpPr>
          <p:nvPr/>
        </p:nvSpPr>
        <p:spPr>
          <a:xfrm>
            <a:off x="228600" y="4533900"/>
            <a:ext cx="8686800" cy="419100"/>
          </a:xfrm>
          <a:prstGeom prst="rect">
            <a:avLst/>
          </a:prstGeom>
          <a:solidFill>
            <a:srgbClr val="EBF3FF"/>
          </a:solidFill>
          <a:ln w="12700">
            <a:solidFill>
              <a:srgbClr val="1F3864"/>
            </a:solidFill>
          </a:ln>
        </p:spPr>
        <p:txBody>
          <a:bodyPr wrap="square" lIns="91440" tIns="36000" rIns="91440" bIns="36000"/>
          <a:lstStyle/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종합 시사점   </a:t>
            </a:r>
            <a:r>
              <a:rPr lang="ko-KR" sz="1100" dirty="0">
                <a:solidFill>
                  <a:srgbClr val="1F2D3D"/>
                </a:solidFill>
              </a:rPr>
              <a:t>① NoT → 멀티홉 순서 추론 효과적   ② FRESHPROMPT → 지식 최신성 보완   ③ Counterfactual·변화 감지는 프롬프팅만으로 한계 → 학습 기반 보완 필요</a:t>
            </a:r>
          </a:p>
        </p:txBody>
      </p:sp>
    </p:spTree>
    <p:extLst>
      <p:ext uri="{BB962C8B-B14F-4D97-AF65-F5344CB8AC3E}">
        <p14:creationId xmlns:p14="http://schemas.microsoft.com/office/powerpoint/2010/main" val="351343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E16E-B926-1E2C-207E-8D967530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7A43BAC-0FF3-1D27-4F6D-A293C3F56EE7}"/>
              </a:ext>
            </a:extLst>
          </p:cNvPr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00489CBC-8279-F5FC-5A2E-664177720F1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490B7B0-496B-521C-A3E5-8E68A2CB2027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8BBAC42-B609-AA3C-033F-080F3DF230D6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해결책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</a:t>
            </a:r>
            <a:endParaRPr lang="en-US" sz="1100" dirty="0"/>
          </a:p>
        </p:txBody>
      </p:sp>
      <p:sp>
        <p:nvSpPr>
          <p:cNvPr id="400" name="Card_bg_0"/>
          <p:cNvSpPr>
            <a:spLocks noGrp="1"/>
          </p:cNvSpPr>
          <p:nvPr/>
        </p:nvSpPr>
        <p:spPr>
          <a:xfrm>
            <a:off x="2286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430" name="Badge_0"/>
          <p:cNvSpPr>
            <a:spLocks noGrp="1"/>
          </p:cNvSpPr>
          <p:nvPr/>
        </p:nvSpPr>
        <p:spPr>
          <a:xfrm>
            <a:off x="3048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시간 인식 임베딩</a:t>
            </a:r>
          </a:p>
        </p:txBody>
      </p:sp>
      <p:sp>
        <p:nvSpPr>
          <p:cNvPr id="460" name="Label_0"/>
          <p:cNvSpPr>
            <a:spLocks noGrp="1"/>
          </p:cNvSpPr>
          <p:nvPr/>
        </p:nvSpPr>
        <p:spPr>
          <a:xfrm>
            <a:off x="3048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TempRetriever (Abdallah et al., 2025)</a:t>
            </a:r>
          </a:p>
        </p:txBody>
      </p:sp>
      <p:sp>
        <p:nvSpPr>
          <p:cNvPr id="490" name="Div_0"/>
          <p:cNvSpPr>
            <a:spLocks noGrp="1"/>
          </p:cNvSpPr>
          <p:nvPr/>
        </p:nvSpPr>
        <p:spPr>
          <a:xfrm>
            <a:off x="3048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520" name="Content_0"/>
          <p:cNvSpPr>
            <a:spLocks noGrp="1"/>
          </p:cNvSpPr>
          <p:nvPr/>
        </p:nvSpPr>
        <p:spPr>
          <a:xfrm>
            <a:off x="3048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타임스탬프 뉴스 아카이브 + 위키피디아 TQA
DPR·Contriever에 시간 인식 임베딩 추가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명시적 시간 쿼리에서 Recall@K 향상, 시간 범위 벗어난 문서 노출 감소. 암묵적 쿼리에서는 개선 제한적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"2022년 이후 출시된 제품은?" → 시간 범위 외 문서 노출 감소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텍스트 유사도만으로는 시간 부적합 문서 혼입 불가피 — 암묵적 쿼리는 미해결</a:t>
            </a:r>
          </a:p>
        </p:txBody>
      </p:sp>
      <p:sp>
        <p:nvSpPr>
          <p:cNvPr id="401" name="Card_bg_1"/>
          <p:cNvSpPr>
            <a:spLocks noGrp="1"/>
          </p:cNvSpPr>
          <p:nvPr/>
        </p:nvSpPr>
        <p:spPr>
          <a:xfrm>
            <a:off x="30988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431" name="Badge_1"/>
          <p:cNvSpPr>
            <a:spLocks noGrp="1"/>
          </p:cNvSpPr>
          <p:nvPr/>
        </p:nvSpPr>
        <p:spPr>
          <a:xfrm>
            <a:off x="31750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토픽+시간 분리 최적화</a:t>
            </a:r>
          </a:p>
        </p:txBody>
      </p:sp>
      <p:sp>
        <p:nvSpPr>
          <p:cNvPr id="461" name="Label_1"/>
          <p:cNvSpPr>
            <a:spLocks noGrp="1"/>
          </p:cNvSpPr>
          <p:nvPr/>
        </p:nvSpPr>
        <p:spPr>
          <a:xfrm>
            <a:off x="31750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TsContriever (Wu et al., 2024)</a:t>
            </a:r>
          </a:p>
        </p:txBody>
      </p:sp>
      <p:sp>
        <p:nvSpPr>
          <p:cNvPr id="491" name="Div_1"/>
          <p:cNvSpPr>
            <a:spLocks noGrp="1"/>
          </p:cNvSpPr>
          <p:nvPr/>
        </p:nvSpPr>
        <p:spPr>
          <a:xfrm>
            <a:off x="31750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521" name="Content_1"/>
          <p:cNvSpPr>
            <a:spLocks noGrp="1"/>
          </p:cNvSpPr>
          <p:nvPr/>
        </p:nvSpPr>
        <p:spPr>
          <a:xfrm>
            <a:off x="31750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다양한 시기 타임스탬프 뉴스 코퍼스
내용 유사도 높지만 시간 부적합 edge case 분석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outdated 문서 필터링 성능 향상. 단순 recency bias와 달리 시간 범위 내 정확한 문서 정밀도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내용은 같지만 outdated된 뉴스 → 정확한 시간 범위 내 문서만 검색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Topical Relevance와 Temporal Relevance는 독립적으로 최적화 필요</a:t>
            </a:r>
          </a:p>
        </p:txBody>
      </p:sp>
      <p:sp>
        <p:nvSpPr>
          <p:cNvPr id="402" name="Card_bg_2"/>
          <p:cNvSpPr>
            <a:spLocks noGrp="1"/>
          </p:cNvSpPr>
          <p:nvPr/>
        </p:nvSpPr>
        <p:spPr>
          <a:xfrm>
            <a:off x="59690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432" name="Badge_2"/>
          <p:cNvSpPr>
            <a:spLocks noGrp="1"/>
          </p:cNvSpPr>
          <p:nvPr/>
        </p:nvSpPr>
        <p:spPr>
          <a:xfrm>
            <a:off x="60452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4단계 파이프라인</a:t>
            </a:r>
          </a:p>
        </p:txBody>
      </p:sp>
      <p:sp>
        <p:nvSpPr>
          <p:cNvPr id="462" name="Label_2"/>
          <p:cNvSpPr>
            <a:spLocks noGrp="1"/>
          </p:cNvSpPr>
          <p:nvPr/>
        </p:nvSpPr>
        <p:spPr>
          <a:xfrm>
            <a:off x="60452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TimeR4 (Qian et al., 2024)</a:t>
            </a:r>
          </a:p>
        </p:txBody>
      </p:sp>
      <p:sp>
        <p:nvSpPr>
          <p:cNvPr id="492" name="Div_2"/>
          <p:cNvSpPr>
            <a:spLocks noGrp="1"/>
          </p:cNvSpPr>
          <p:nvPr/>
        </p:nvSpPr>
        <p:spPr>
          <a:xfrm>
            <a:off x="60452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522" name="Content_2"/>
          <p:cNvSpPr>
            <a:spLocks noGrp="1"/>
          </p:cNvSpPr>
          <p:nvPr/>
        </p:nvSpPr>
        <p:spPr>
          <a:xfrm>
            <a:off x="60452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암묵적 시간 표현 포함 복합 TQA
Retrieve→Rewrite→Retrieve→Rerank 4단계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단순 RAG 대비 Exact Match 5~10%p 향상. Rewrite 단계 제거 시 성능 단순 RAG 수준으로 회귀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"요즘 가장 인기 있는 모델은?" → 시간 명시화 후 재검색으로 정확도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암묵적 시간 의도를 명시화하지 않고 바로 검색하는 것은 근본적 한계</a:t>
            </a:r>
          </a:p>
        </p:txBody>
      </p:sp>
    </p:spTree>
    <p:extLst>
      <p:ext uri="{BB962C8B-B14F-4D97-AF65-F5344CB8AC3E}">
        <p14:creationId xmlns:p14="http://schemas.microsoft.com/office/powerpoint/2010/main" val="424645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E16E-B926-1E2C-207E-8D967530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7A43BAC-0FF3-1D27-4F6D-A293C3F56EE7}"/>
              </a:ext>
            </a:extLst>
          </p:cNvPr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00489CBC-8279-F5FC-5A2E-664177720F1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490B7B0-496B-521C-A3E5-8E68A2CB2027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8BBAC42-B609-AA3C-033F-080F3DF230D6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해결책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</a:t>
            </a:r>
            <a:endParaRPr lang="en-US" sz="1100" dirty="0"/>
          </a:p>
        </p:txBody>
      </p:sp>
      <p:sp>
        <p:nvSpPr>
          <p:cNvPr id="500" name="Card_bg_0"/>
          <p:cNvSpPr>
            <a:spLocks noGrp="1"/>
          </p:cNvSpPr>
          <p:nvPr/>
        </p:nvSpPr>
        <p:spPr>
          <a:xfrm>
            <a:off x="228600" y="1244600"/>
            <a:ext cx="4267200" cy="1625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540" name="Badge_0"/>
          <p:cNvSpPr>
            <a:spLocks noGrp="1"/>
          </p:cNvSpPr>
          <p:nvPr/>
        </p:nvSpPr>
        <p:spPr>
          <a:xfrm>
            <a:off x="292100" y="1308100"/>
            <a:ext cx="4140200" cy="1778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멀티홉 시간 검색</a:t>
            </a:r>
          </a:p>
        </p:txBody>
      </p:sp>
      <p:sp>
        <p:nvSpPr>
          <p:cNvPr id="580" name="Label_0"/>
          <p:cNvSpPr>
            <a:spLocks noGrp="1"/>
          </p:cNvSpPr>
          <p:nvPr/>
        </p:nvSpPr>
        <p:spPr>
          <a:xfrm>
            <a:off x="292100" y="1524000"/>
            <a:ext cx="4140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MRAG (Zhao et al., 2024)</a:t>
            </a:r>
          </a:p>
        </p:txBody>
      </p:sp>
      <p:sp>
        <p:nvSpPr>
          <p:cNvPr id="620" name="Div_0"/>
          <p:cNvSpPr>
            <a:spLocks noGrp="1"/>
          </p:cNvSpPr>
          <p:nvPr/>
        </p:nvSpPr>
        <p:spPr>
          <a:xfrm>
            <a:off x="292100" y="1778000"/>
            <a:ext cx="41402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660" name="Content_0"/>
          <p:cNvSpPr>
            <a:spLocks noGrp="1"/>
          </p:cNvSpPr>
          <p:nvPr/>
        </p:nvSpPr>
        <p:spPr>
          <a:xfrm>
            <a:off x="292100" y="1816100"/>
            <a:ext cx="4140200" cy="9779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Multi-hop TQA에서 단일 검색 대비 성능 향상. 복잡한 시간 체인 추론 가능. 단 검색 비용 증가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"A가 B에 영향을 미쳤고, B는 C에 영향?" → 체인 추론으로 정확도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복잡한 시간 체인에 효과적이나 단순 질문엔 오버헤드 — 질문 복잡도 감지 메커니즘 필요</a:t>
            </a:r>
          </a:p>
        </p:txBody>
      </p:sp>
      <p:sp>
        <p:nvSpPr>
          <p:cNvPr id="501" name="Card_bg_1"/>
          <p:cNvSpPr>
            <a:spLocks noGrp="1"/>
          </p:cNvSpPr>
          <p:nvPr/>
        </p:nvSpPr>
        <p:spPr>
          <a:xfrm>
            <a:off x="4572000" y="1244600"/>
            <a:ext cx="4267200" cy="1625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541" name="Badge_1"/>
          <p:cNvSpPr>
            <a:spLocks noGrp="1"/>
          </p:cNvSpPr>
          <p:nvPr/>
        </p:nvSpPr>
        <p:spPr>
          <a:xfrm>
            <a:off x="4635500" y="1308100"/>
            <a:ext cx="4140200" cy="1778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버전 트리 구조화</a:t>
            </a:r>
          </a:p>
        </p:txBody>
      </p:sp>
      <p:sp>
        <p:nvSpPr>
          <p:cNvPr id="581" name="Label_1"/>
          <p:cNvSpPr>
            <a:spLocks noGrp="1"/>
          </p:cNvSpPr>
          <p:nvPr/>
        </p:nvSpPr>
        <p:spPr>
          <a:xfrm>
            <a:off x="4635500" y="1524000"/>
            <a:ext cx="4140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VersionRAG (Huwiler et al., 2025)</a:t>
            </a:r>
          </a:p>
        </p:txBody>
      </p:sp>
      <p:sp>
        <p:nvSpPr>
          <p:cNvPr id="621" name="Div_1"/>
          <p:cNvSpPr>
            <a:spLocks noGrp="1"/>
          </p:cNvSpPr>
          <p:nvPr/>
        </p:nvSpPr>
        <p:spPr>
          <a:xfrm>
            <a:off x="4635500" y="1778000"/>
            <a:ext cx="41402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661" name="Content_1"/>
          <p:cNvSpPr>
            <a:spLocks noGrp="1"/>
          </p:cNvSpPr>
          <p:nvPr/>
        </p:nvSpPr>
        <p:spPr>
          <a:xfrm>
            <a:off x="4635500" y="1816100"/>
            <a:ext cx="4140200" cy="9779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기존 대비 97% 적은 토큰으로 인덱싱 효율 극대화. 단 명시적 버전 레이블 없는 도메인에 직접 적용 불가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소프트웨어 매뉴얼 v1→v2→v3 → Version Tree 사전 구조화로 정확 버전 검색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버전 구조 명확한 기술 문서에는 효과적이나 범용성 부재 — 도메인 종속적</a:t>
            </a:r>
          </a:p>
        </p:txBody>
      </p:sp>
      <p:sp>
        <p:nvSpPr>
          <p:cNvPr id="502" name="Card_bg_2"/>
          <p:cNvSpPr>
            <a:spLocks noGrp="1"/>
          </p:cNvSpPr>
          <p:nvPr/>
        </p:nvSpPr>
        <p:spPr>
          <a:xfrm>
            <a:off x="228600" y="2946400"/>
            <a:ext cx="4267200" cy="1625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542" name="Badge_2"/>
          <p:cNvSpPr>
            <a:spLocks noGrp="1"/>
          </p:cNvSpPr>
          <p:nvPr/>
        </p:nvSpPr>
        <p:spPr>
          <a:xfrm>
            <a:off x="292100" y="3009900"/>
            <a:ext cx="4140200" cy="1778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시간 지식 그래프</a:t>
            </a:r>
          </a:p>
        </p:txBody>
      </p:sp>
      <p:sp>
        <p:nvSpPr>
          <p:cNvPr id="582" name="Label_2"/>
          <p:cNvSpPr>
            <a:spLocks noGrp="1"/>
          </p:cNvSpPr>
          <p:nvPr/>
        </p:nvSpPr>
        <p:spPr>
          <a:xfrm>
            <a:off x="292100" y="3225800"/>
            <a:ext cx="4140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T-GRAG (Li et al., 2025)</a:t>
            </a:r>
          </a:p>
        </p:txBody>
      </p:sp>
      <p:sp>
        <p:nvSpPr>
          <p:cNvPr id="622" name="Div_2"/>
          <p:cNvSpPr>
            <a:spLocks noGrp="1"/>
          </p:cNvSpPr>
          <p:nvPr/>
        </p:nvSpPr>
        <p:spPr>
          <a:xfrm>
            <a:off x="292100" y="3479800"/>
            <a:ext cx="41402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662" name="Content_2"/>
          <p:cNvSpPr>
            <a:spLocks noGrp="1"/>
          </p:cNvSpPr>
          <p:nvPr/>
        </p:nvSpPr>
        <p:spPr>
          <a:xfrm>
            <a:off x="292100" y="3517900"/>
            <a:ext cx="4140200" cy="9779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시간 민감 질문 정확성 향상. 단 대규모 그래프 구축·유지 비용 수반 — 논문 내에서 직접 한계로 명시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지식 그래프에서 "A → 2020년 이후 → B" 관계 활용하여 시간 정렬 검색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구조화된 시간 관계 표현은 강력하나 실시간 문서 스트림 환경에서 확장성 문제</a:t>
            </a:r>
          </a:p>
        </p:txBody>
      </p:sp>
      <p:sp>
        <p:nvSpPr>
          <p:cNvPr id="503" name="Card_bg_3"/>
          <p:cNvSpPr>
            <a:spLocks noGrp="1"/>
          </p:cNvSpPr>
          <p:nvPr/>
        </p:nvSpPr>
        <p:spPr>
          <a:xfrm>
            <a:off x="4572000" y="2946400"/>
            <a:ext cx="4267200" cy="1625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543" name="Badge_3"/>
          <p:cNvSpPr>
            <a:spLocks noGrp="1"/>
          </p:cNvSpPr>
          <p:nvPr/>
        </p:nvSpPr>
        <p:spPr>
          <a:xfrm>
            <a:off x="4635500" y="3009900"/>
            <a:ext cx="4140200" cy="177800"/>
          </a:xfrm>
          <a:prstGeom prst="roundRect">
            <a:avLst>
              <a:gd name="adj" fmla="val 20000"/>
            </a:avLst>
          </a:prstGeom>
          <a:solidFill>
            <a:srgbClr val="1F5F9E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시간 제약 검색</a:t>
            </a:r>
          </a:p>
        </p:txBody>
      </p:sp>
      <p:sp>
        <p:nvSpPr>
          <p:cNvPr id="583" name="Label_3"/>
          <p:cNvSpPr>
            <a:spLocks noGrp="1"/>
          </p:cNvSpPr>
          <p:nvPr/>
        </p:nvSpPr>
        <p:spPr>
          <a:xfrm>
            <a:off x="4635500" y="3225800"/>
            <a:ext cx="4140200" cy="2286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TemprALM (Gade &amp; Jetcheva, 2024)</a:t>
            </a:r>
          </a:p>
        </p:txBody>
      </p:sp>
      <p:sp>
        <p:nvSpPr>
          <p:cNvPr id="623" name="Div_3"/>
          <p:cNvSpPr>
            <a:spLocks noGrp="1"/>
          </p:cNvSpPr>
          <p:nvPr/>
        </p:nvSpPr>
        <p:spPr>
          <a:xfrm>
            <a:off x="4635500" y="3479800"/>
            <a:ext cx="4140200" cy="127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663" name="Content_3"/>
          <p:cNvSpPr>
            <a:spLocks noGrp="1"/>
          </p:cNvSpPr>
          <p:nvPr/>
        </p:nvSpPr>
        <p:spPr>
          <a:xfrm>
            <a:off x="4635500" y="3517900"/>
            <a:ext cx="4140200" cy="977900"/>
          </a:xfrm>
          <a:prstGeom prst="rect">
            <a:avLst/>
          </a:prstGeom>
          <a:noFill/>
        </p:spPr>
        <p:txBody>
          <a:bodyPr wrap="square" lIns="36000" tIns="18000" rIns="36000" bIns="18000"/>
          <a:lstStyle/>
          <a:p>
            <a:pPr>
              <a:buNone/>
            </a:pPr>
            <a:r>
              <a:rPr lang="ko-KR" sz="1000" dirty="0">
                <a:solidFill>
                  <a:srgbClr val="3D4A5C"/>
                </a:solidFill>
              </a:rPr>
              <a:t>사실 드리프트 및 최신성 부족 문제 완화. 검색 단계에서 시간 제약 명시 시 관련 문서 정밀도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쿼리에 "2023년 이후" 시간 제약 추가 → 관련성 높은 최신 문서 검색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검색 단계의 시간 제약 추가가 factual drift를 줄이는 데 유효 — 생성기 시간 추론은 여전히 한계</a:t>
            </a:r>
          </a:p>
        </p:txBody>
      </p:sp>
      <p:sp>
        <p:nvSpPr>
          <p:cNvPr id="599" name="ImplicationBox"/>
          <p:cNvSpPr>
            <a:spLocks noGrp="1"/>
          </p:cNvSpPr>
          <p:nvPr/>
        </p:nvSpPr>
        <p:spPr>
          <a:xfrm>
            <a:off x="228600" y="4610100"/>
            <a:ext cx="8686800" cy="406400"/>
          </a:xfrm>
          <a:prstGeom prst="rect">
            <a:avLst/>
          </a:prstGeom>
          <a:solidFill>
            <a:srgbClr val="EBF3FF"/>
          </a:solidFill>
          <a:ln w="12700">
            <a:solidFill>
              <a:srgbClr val="1F3864"/>
            </a:solidFill>
          </a:ln>
        </p:spPr>
        <p:txBody>
          <a:bodyPr wrap="square" lIns="91440" tIns="36000" rIns="91440" bIns="36000"/>
          <a:lstStyle/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종합 시사점   </a:t>
            </a:r>
            <a:r>
              <a:rPr lang="ko-KR" sz="1100" dirty="0">
                <a:solidFill>
                  <a:srgbClr val="1F2D3D"/>
                </a:solidFill>
              </a:rPr>
              <a:t>① 검색 단계의 시간 정렬이 핵심 병목 — 타임스탬프 인식 임베딩, 시간 제약 조건 추가가 유효   ② 암묵적 쿼리·멀티홉·확장성 문제는 미해결   ③ VersionRAG·T-GRAG는 도메인 종속적 — 생성기 단의 시간 추론 강화 없이 검색 개선만으로 한계</a:t>
            </a:r>
          </a:p>
        </p:txBody>
      </p:sp>
    </p:spTree>
    <p:extLst>
      <p:ext uri="{BB962C8B-B14F-4D97-AF65-F5344CB8AC3E}">
        <p14:creationId xmlns:p14="http://schemas.microsoft.com/office/powerpoint/2010/main" val="4038342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F1ED-74FB-C68A-A2BC-96E7EBFB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B3653D0-EAF1-3208-23CA-54BB139DEC0C}"/>
              </a:ext>
            </a:extLst>
          </p:cNvPr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3C82078-26E7-F65F-6F8B-33CE1B31207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A1EA09C-F7EC-89A4-10AF-BCB5632528D8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9554B34-D629-2303-FF23-DDDFA3985D5C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해결책 </a:t>
            </a:r>
            <a:endParaRPr lang="en-US" sz="1100" dirty="0"/>
          </a:p>
        </p:txBody>
      </p:sp>
      <p:sp>
        <p:nvSpPr>
          <p:cNvPr id="600" name="Card_bg_0"/>
          <p:cNvSpPr>
            <a:spLocks noGrp="1"/>
          </p:cNvSpPr>
          <p:nvPr/>
        </p:nvSpPr>
        <p:spPr>
          <a:xfrm>
            <a:off x="2286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630" name="Badge_0"/>
          <p:cNvSpPr>
            <a:spLocks noGrp="1"/>
          </p:cNvSpPr>
          <p:nvPr/>
        </p:nvSpPr>
        <p:spPr>
          <a:xfrm>
            <a:off x="3048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양방향 시간 인코딩</a:t>
            </a:r>
          </a:p>
        </p:txBody>
      </p:sp>
      <p:sp>
        <p:nvSpPr>
          <p:cNvPr id="660" name="Label_0"/>
          <p:cNvSpPr>
            <a:spLocks noGrp="1"/>
          </p:cNvSpPr>
          <p:nvPr/>
        </p:nvSpPr>
        <p:spPr>
          <a:xfrm>
            <a:off x="3048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BiTimeBERT (Wang et al., 2023)</a:t>
            </a:r>
          </a:p>
        </p:txBody>
      </p:sp>
      <p:sp>
        <p:nvSpPr>
          <p:cNvPr id="690" name="Div_0"/>
          <p:cNvSpPr>
            <a:spLocks noGrp="1"/>
          </p:cNvSpPr>
          <p:nvPr/>
        </p:nvSpPr>
        <p:spPr>
          <a:xfrm>
            <a:off x="3048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720" name="Content_0"/>
          <p:cNvSpPr>
            <a:spLocks noGrp="1"/>
          </p:cNvSpPr>
          <p:nvPr/>
        </p:nvSpPr>
        <p:spPr>
          <a:xfrm>
            <a:off x="3048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위키피디아 기반 TimeQA·TEMPREASON 등
시간 범위 명시 QA 데이터셋
양방향 시간 인식 임베딩 학습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멀티홉 시간 추론 및 시간 범위 경계 요구 질문에서 단방향 모델 대비 성능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"A는 B가 설립되기 전에 CEO였나?" → 이전·이후 사실 동시 인코딩으로 정답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시간 추론에는 과거→미래 단방향이 아닌 양방향 시간 정보 동시 고려 필요</a:t>
            </a:r>
          </a:p>
        </p:txBody>
      </p:sp>
      <p:sp>
        <p:nvSpPr>
          <p:cNvPr id="601" name="Card_bg_1"/>
          <p:cNvSpPr>
            <a:spLocks noGrp="1"/>
          </p:cNvSpPr>
          <p:nvPr/>
        </p:nvSpPr>
        <p:spPr>
          <a:xfrm>
            <a:off x="30988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631" name="Badge_1"/>
          <p:cNvSpPr>
            <a:spLocks noGrp="1"/>
          </p:cNvSpPr>
          <p:nvPr/>
        </p:nvSpPr>
        <p:spPr>
          <a:xfrm>
            <a:off x="31750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선택적 시간 마스킹</a:t>
            </a:r>
          </a:p>
        </p:txBody>
      </p:sp>
      <p:sp>
        <p:nvSpPr>
          <p:cNvPr id="661" name="Label_1"/>
          <p:cNvSpPr>
            <a:spLocks noGrp="1"/>
          </p:cNvSpPr>
          <p:nvPr/>
        </p:nvSpPr>
        <p:spPr>
          <a:xfrm>
            <a:off x="31750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SG-TLM (Su et al., 2023)</a:t>
            </a:r>
          </a:p>
        </p:txBody>
      </p:sp>
      <p:sp>
        <p:nvSpPr>
          <p:cNvPr id="691" name="Div_1"/>
          <p:cNvSpPr>
            <a:spLocks noGrp="1"/>
          </p:cNvSpPr>
          <p:nvPr/>
        </p:nvSpPr>
        <p:spPr>
          <a:xfrm>
            <a:off x="31750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721" name="Content_1"/>
          <p:cNvSpPr>
            <a:spLocks noGrp="1"/>
          </p:cNvSpPr>
          <p:nvPr/>
        </p:nvSpPr>
        <p:spPr>
          <a:xfrm>
            <a:off x="31750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시간 표현 포함 뉴스·위키피디아 코퍼스
시간적 의미 스팬 선택적 마스킹
vs. 표준 랜덤 MLM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시간 표현 세분화 이해 및 암묵적 시간 단서 인식에서 표준 MLM 대비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"지난 분기" 같은 암묵적 시간 표현 인식률 향상 — 랜덤 마스킹 대비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시간 정보 위치 집중 마스킹이 일반 랜덤 마스킹보다 시간 이해에 효과적</a:t>
            </a:r>
          </a:p>
        </p:txBody>
      </p:sp>
      <p:sp>
        <p:nvSpPr>
          <p:cNvPr id="602" name="Card_bg_2"/>
          <p:cNvSpPr>
            <a:spLocks noGrp="1"/>
          </p:cNvSpPr>
          <p:nvPr/>
        </p:nvSpPr>
        <p:spPr>
          <a:xfrm>
            <a:off x="5969000" y="1219200"/>
            <a:ext cx="2819400" cy="36703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632" name="Badge_2"/>
          <p:cNvSpPr>
            <a:spLocks noGrp="1"/>
          </p:cNvSpPr>
          <p:nvPr/>
        </p:nvSpPr>
        <p:spPr>
          <a:xfrm>
            <a:off x="6045200" y="1308100"/>
            <a:ext cx="26670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36000" tIns="0" rIns="36000" bIns="0" anchor="ctr"/>
          <a:lstStyle/>
          <a:p>
            <a:pPr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어텐션 감독 신호</a:t>
            </a:r>
          </a:p>
        </p:txBody>
      </p:sp>
      <p:sp>
        <p:nvSpPr>
          <p:cNvPr id="662" name="Label_2"/>
          <p:cNvSpPr>
            <a:spLocks noGrp="1"/>
          </p:cNvSpPr>
          <p:nvPr/>
        </p:nvSpPr>
        <p:spPr>
          <a:xfrm>
            <a:off x="6045200" y="1536700"/>
            <a:ext cx="2667000" cy="279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00" b="1" dirty="0">
                <a:solidFill>
                  <a:srgbClr val="1F2D3D"/>
                </a:solidFill>
              </a:rPr>
              <a:t>TSM (Cole et al., 2023)</a:t>
            </a:r>
          </a:p>
        </p:txBody>
      </p:sp>
      <p:sp>
        <p:nvSpPr>
          <p:cNvPr id="692" name="Div_2"/>
          <p:cNvSpPr>
            <a:spLocks noGrp="1"/>
          </p:cNvSpPr>
          <p:nvPr/>
        </p:nvSpPr>
        <p:spPr>
          <a:xfrm>
            <a:off x="6045200" y="1841500"/>
            <a:ext cx="26670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722" name="Content_2"/>
          <p:cNvSpPr>
            <a:spLocks noGrp="1"/>
          </p:cNvSpPr>
          <p:nvPr/>
        </p:nvSpPr>
        <p:spPr>
          <a:xfrm>
            <a:off x="6045200" y="1892300"/>
            <a:ext cx="2667000" cy="29210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방법  </a:t>
            </a:r>
            <a:r>
              <a:rPr lang="ko-KR" sz="1000" dirty="0">
                <a:solidFill>
                  <a:srgbClr val="3D4A5C"/>
                </a:solidFill>
              </a:rPr>
              <a:t>TimeML 어노테이션 시간 표현 코퍼스
(TimeBank 등)
어텐션 헤드에 시간 어노테이션 감독 신호 주입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▶ 결과  </a:t>
            </a:r>
            <a:r>
              <a:rPr lang="ko-KR" sz="1000" dirty="0">
                <a:solidFill>
                  <a:srgbClr val="3D4A5C"/>
                </a:solidFill>
              </a:rPr>
              <a:t>시간 표현과 관련 콘텐츠 간 어텐션 정렬 향상 → 시간 관련 질문에서 올바른 정보에 강하게 집중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i="1" dirty="0">
                <a:solidFill>
                  <a:srgbClr val="5B7A99"/>
                </a:solidFill>
              </a:rPr>
              <a:t>예) "2019년 선거 결과" 질문 → 2019 토큰에 어텐션 집중도 증가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880" dirty="0">
                <a:solidFill>
                  <a:srgbClr val="1F2D3D"/>
                </a:solidFill>
              </a:rPr>
              <a:t>어텐션이 시간 관계를 포착하게 하려면 명시적 시간 감독 신호 주입이 효과적</a:t>
            </a:r>
          </a:p>
        </p:txBody>
      </p:sp>
    </p:spTree>
    <p:extLst>
      <p:ext uri="{BB962C8B-B14F-4D97-AF65-F5344CB8AC3E}">
        <p14:creationId xmlns:p14="http://schemas.microsoft.com/office/powerpoint/2010/main" val="82253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F1ED-74FB-C68A-A2BC-96E7EBFB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1B3653D0-EAF1-3208-23CA-54BB139DEC0C}"/>
              </a:ext>
            </a:extLst>
          </p:cNvPr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비학습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방법론의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장단점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3C82078-26E7-F65F-6F8B-33CE1B31207F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1A1EA09C-F7EC-89A4-10AF-BCB5632528D8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9554B34-D629-2303-FF23-DDDFA3985D5C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해결책 </a:t>
            </a:r>
            <a:endParaRPr lang="en-US" sz="1100" dirty="0"/>
          </a:p>
        </p:txBody>
      </p:sp>
      <p:sp>
        <p:nvSpPr>
          <p:cNvPr id="700" name="Card_bg_0"/>
          <p:cNvSpPr>
            <a:spLocks noGrp="1"/>
          </p:cNvSpPr>
          <p:nvPr/>
        </p:nvSpPr>
        <p:spPr>
          <a:xfrm>
            <a:off x="228600" y="1219200"/>
            <a:ext cx="4191000" cy="241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730" name="Badge_0"/>
          <p:cNvSpPr>
            <a:spLocks noGrp="1"/>
          </p:cNvSpPr>
          <p:nvPr/>
        </p:nvSpPr>
        <p:spPr>
          <a:xfrm>
            <a:off x="304800" y="1308100"/>
            <a:ext cx="40386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합성 데이터 사전학습</a:t>
            </a:r>
          </a:p>
        </p:txBody>
      </p:sp>
      <p:sp>
        <p:nvSpPr>
          <p:cNvPr id="760" name="Label_0"/>
          <p:cNvSpPr>
            <a:spLocks noGrp="1"/>
          </p:cNvSpPr>
          <p:nvPr/>
        </p:nvSpPr>
        <p:spPr>
          <a:xfrm>
            <a:off x="304800" y="1549400"/>
            <a:ext cx="403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50" b="1" dirty="0">
                <a:solidFill>
                  <a:srgbClr val="1F2D3D"/>
                </a:solidFill>
              </a:rPr>
              <a:t>TCQA (Son &amp; Oh, 2023)</a:t>
            </a:r>
          </a:p>
        </p:txBody>
      </p:sp>
      <p:sp>
        <p:nvSpPr>
          <p:cNvPr id="790" name="Div_0"/>
          <p:cNvSpPr>
            <a:spLocks noGrp="1"/>
          </p:cNvSpPr>
          <p:nvPr/>
        </p:nvSpPr>
        <p:spPr>
          <a:xfrm>
            <a:off x="304800" y="1828800"/>
            <a:ext cx="40386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820" name="Content_0"/>
          <p:cNvSpPr>
            <a:spLocks noGrp="1"/>
          </p:cNvSpPr>
          <p:nvPr/>
        </p:nvSpPr>
        <p:spPr>
          <a:xfrm>
            <a:off x="304800" y="1879600"/>
            <a:ext cx="4038600" cy="16764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▶ 방법  </a:t>
            </a:r>
            <a:r>
              <a:rPr lang="ko-KR" sz="1100" dirty="0">
                <a:solidFill>
                  <a:srgbClr val="3D4A5C"/>
                </a:solidFill>
              </a:rPr>
              <a:t>합성 시간 문맥 QA 데이터셋으로만 학습
다양한 시간 범위·맥락 자동 생성
실제 역사 QA·타임라인 데이터셋으로 평가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▶ 결과  </a:t>
            </a:r>
            <a:r>
              <a:rPr lang="ko-KR" sz="1100" dirty="0">
                <a:solidFill>
                  <a:srgbClr val="3D4A5C"/>
                </a:solidFill>
              </a:rPr>
              <a:t>실제 레이블 없이 합성 데이터만으로 역사적 추론 및 타임라인 일관성 태스크에서 경쟁력 있는 성능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920" i="1" dirty="0">
                <a:solidFill>
                  <a:srgbClr val="5B7A99"/>
                </a:solidFill>
              </a:rPr>
              <a:t>예) 합성 데이터로만 학습 → 실제 역사 QA 벤치마크에서 supervised 모델에 근접한 성능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920" dirty="0">
                <a:solidFill>
                  <a:srgbClr val="1F2D3D"/>
                </a:solidFill>
              </a:rPr>
              <a:t>합성 데이터로 시간 정렬 능력 사전학습 가능 — 레이블 데이터 구축 비용을 우회하는 실용적 전략</a:t>
            </a:r>
          </a:p>
        </p:txBody>
      </p:sp>
      <p:sp>
        <p:nvSpPr>
          <p:cNvPr id="701" name="Card_bg_1"/>
          <p:cNvSpPr>
            <a:spLocks noGrp="1"/>
          </p:cNvSpPr>
          <p:nvPr/>
        </p:nvSpPr>
        <p:spPr>
          <a:xfrm>
            <a:off x="4470400" y="1219200"/>
            <a:ext cx="4191000" cy="241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/>
          <a:lstStyle/>
          <a:p>
            <a:endParaRPr lang="ko-KR" dirty="0"/>
          </a:p>
        </p:txBody>
      </p:sp>
      <p:sp>
        <p:nvSpPr>
          <p:cNvPr id="731" name="Badge_1"/>
          <p:cNvSpPr>
            <a:spLocks noGrp="1"/>
          </p:cNvSpPr>
          <p:nvPr/>
        </p:nvSpPr>
        <p:spPr>
          <a:xfrm>
            <a:off x="4546600" y="1308100"/>
            <a:ext cx="4038600" cy="1905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</p:spPr>
        <p:txBody>
          <a:bodyPr lIns="45720" tIns="0" rIns="4572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계층적 시간 모델링</a:t>
            </a:r>
          </a:p>
        </p:txBody>
      </p:sp>
      <p:sp>
        <p:nvSpPr>
          <p:cNvPr id="761" name="Label_1"/>
          <p:cNvSpPr>
            <a:spLocks noGrp="1"/>
          </p:cNvSpPr>
          <p:nvPr/>
        </p:nvSpPr>
        <p:spPr>
          <a:xfrm>
            <a:off x="4546600" y="1549400"/>
            <a:ext cx="4038600" cy="254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>
              <a:buNone/>
            </a:pPr>
            <a:r>
              <a:rPr lang="ko-KR" sz="1050" b="1" dirty="0">
                <a:solidFill>
                  <a:srgbClr val="1F2D3D"/>
                </a:solidFill>
              </a:rPr>
              <a:t>TALM (Ren et al., 2023)</a:t>
            </a:r>
          </a:p>
        </p:txBody>
      </p:sp>
      <p:sp>
        <p:nvSpPr>
          <p:cNvPr id="791" name="Div_1"/>
          <p:cNvSpPr>
            <a:spLocks noGrp="1"/>
          </p:cNvSpPr>
          <p:nvPr/>
        </p:nvSpPr>
        <p:spPr>
          <a:xfrm>
            <a:off x="4546600" y="1828800"/>
            <a:ext cx="4038600" cy="127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 dirty="0"/>
          </a:p>
        </p:txBody>
      </p:sp>
      <p:sp>
        <p:nvSpPr>
          <p:cNvPr id="821" name="Content_1"/>
          <p:cNvSpPr>
            <a:spLocks noGrp="1"/>
          </p:cNvSpPr>
          <p:nvPr/>
        </p:nvSpPr>
        <p:spPr>
          <a:xfrm>
            <a:off x="4546600" y="1879600"/>
            <a:ext cx="4038600" cy="1676400"/>
          </a:xfrm>
          <a:prstGeom prst="rect">
            <a:avLst/>
          </a:prstGeom>
          <a:noFill/>
        </p:spPr>
        <p:txBody>
          <a:bodyPr wrap="square" lIns="36000" tIns="36000" rIns="36000" bIns="36000"/>
          <a:lstStyle/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▶ 방법  </a:t>
            </a:r>
            <a:r>
              <a:rPr lang="ko-KR" sz="1100" dirty="0">
                <a:solidFill>
                  <a:srgbClr val="3D4A5C"/>
                </a:solidFill>
              </a:rPr>
              <a:t>역사 문서·고문서·연대기적 텍스트
단기/장기 시간 단어를 계층적으로 모델링
고문서 연도 추정(Document Dating) 태스크로 평가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1100" b="1" dirty="0">
                <a:solidFill>
                  <a:srgbClr val="1F3864"/>
                </a:solidFill>
              </a:rPr>
              <a:t>▶ 결과  </a:t>
            </a:r>
            <a:r>
              <a:rPr lang="ko-KR" sz="1100" dirty="0">
                <a:solidFill>
                  <a:srgbClr val="3D4A5C"/>
                </a:solidFill>
              </a:rPr>
              <a:t>고문서 연도 추정 태스크에서 기존 BERT 기반 모델 대비 향상된 정확도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920" i="1" dirty="0">
                <a:solidFill>
                  <a:srgbClr val="5B7A99"/>
                </a:solidFill>
              </a:rPr>
              <a:t>예) 문서에 "세기→연도→월→일" 계층 구조 학습 → 작성 시기 추정 정확도 향상</a:t>
            </a:r>
          </a:p>
          <a:p>
            <a:pPr>
              <a:buNone/>
            </a:pPr>
            <a:endParaRPr lang="ko-KR" sz="500" dirty="0"/>
          </a:p>
          <a:p>
            <a:pPr>
              <a:buNone/>
            </a:pPr>
            <a:r>
              <a:rPr lang="ko-KR" sz="920" dirty="0">
                <a:solidFill>
                  <a:srgbClr val="1F2D3D"/>
                </a:solidFill>
              </a:rPr>
              <a:t>시간 표현의 계층적 구조(세기→연도→월→일)를 학습할수록 시간적 세분화 이해 향상</a:t>
            </a:r>
          </a:p>
        </p:txBody>
      </p:sp>
      <p:sp>
        <p:nvSpPr>
          <p:cNvPr id="799" name="ImplicationBox"/>
          <p:cNvSpPr>
            <a:spLocks noGrp="1"/>
          </p:cNvSpPr>
          <p:nvPr/>
        </p:nvSpPr>
        <p:spPr>
          <a:xfrm>
            <a:off x="228600" y="3708400"/>
            <a:ext cx="8686800" cy="1270000"/>
          </a:xfrm>
          <a:prstGeom prst="rect">
            <a:avLst/>
          </a:prstGeom>
          <a:solidFill>
            <a:srgbClr val="EBF3FF"/>
          </a:solidFill>
          <a:ln w="12700">
            <a:solidFill>
              <a:srgbClr val="1F3864"/>
            </a:solidFill>
          </a:ln>
        </p:spPr>
        <p:txBody>
          <a:bodyPr wrap="square" lIns="91440" tIns="45720" rIns="91440" bIns="45720"/>
          <a:lstStyle/>
          <a:p>
            <a:pPr>
              <a:buNone/>
            </a:pPr>
            <a:r>
              <a:rPr lang="ko-KR" sz="1000" b="1" dirty="0">
                <a:solidFill>
                  <a:srgbClr val="1F3864"/>
                </a:solidFill>
              </a:rPr>
              <a:t>종합 시사점</a:t>
            </a:r>
          </a:p>
          <a:p>
            <a:pPr marL="228600" indent="-228600">
              <a:buFont typeface="Arial"/>
              <a:buChar char="•"/>
            </a:pPr>
            <a:r>
              <a:rPr lang="ko-KR" sz="1100" dirty="0">
                <a:solidFill>
                  <a:srgbClr val="1F2D3D"/>
                </a:solidFill>
              </a:rPr>
              <a:t>시간 표현 집중 마스킹(SG-TLM)·양방향 인코딩(BiTimeBERT)·어텐션 감독 신호(TSM)로 모델 내부 시간 표현을 직접 강화</a:t>
            </a:r>
          </a:p>
          <a:p>
            <a:pPr marL="228600" indent="-228600">
              <a:buFont typeface="Arial"/>
              <a:buChar char="•"/>
            </a:pPr>
            <a:r>
              <a:rPr lang="ko-KR" sz="1100" dirty="0">
                <a:solidFill>
                  <a:srgbClr val="1F2D3D"/>
                </a:solidFill>
              </a:rPr>
              <a:t>합성 데이터 사전학습(TCQA)은 레이블 비용 우회하는 현실적 전략 — 계층적 시간 모델링(TALM)은 세분화 이해에 효과적</a:t>
            </a:r>
          </a:p>
          <a:p>
            <a:pPr marL="228600" indent="-228600">
              <a:buFont typeface="Arial"/>
              <a:buChar char="•"/>
            </a:pPr>
            <a:r>
              <a:rPr lang="ko-KR" sz="1100" dirty="0">
                <a:solidFill>
                  <a:srgbClr val="1F2D3D"/>
                </a:solidFill>
              </a:rPr>
              <a:t>특화 태스크 강점 vs. 범용 LLM 대비 실용 배포·범용성 절충 필요</a:t>
            </a:r>
          </a:p>
        </p:txBody>
      </p:sp>
    </p:spTree>
    <p:extLst>
      <p:ext uri="{BB962C8B-B14F-4D97-AF65-F5344CB8AC3E}">
        <p14:creationId xmlns:p14="http://schemas.microsoft.com/office/powerpoint/2010/main" val="3315028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확인했다 — 최신 LLM도 시간 충돌 앞에서 무너진다</a:t>
            </a:r>
            <a:endParaRPr lang="ko-KR" sz="2000" dirty="0"/>
          </a:p>
        </p:txBody>
      </p:sp>
      <p:sp>
        <p:nvSpPr>
          <p:cNvPr id="5" name="Shape 3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LLM 성능 파악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Pilot Study 결과  (인덱스 0~600, n=599~1,247)  —  GPT-4.1 &amp; Llama-3.1-70B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274320" y="1024128"/>
          <a:ext cx="8503920" cy="170078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no_conflict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 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Llama-3.1-70B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no_conflict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Llama-3.1-70B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 ⚡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044952"/>
            <a:ext cx="4096512" cy="685800"/>
          </a:xfrm>
          <a:prstGeom prst="rect">
            <a:avLst/>
          </a:prstGeom>
          <a:solidFill>
            <a:srgbClr val="FFF5F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74320" y="3044952"/>
            <a:ext cx="64008" cy="6858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8"/>
          <p:cNvSpPr/>
          <p:nvPr/>
        </p:nvSpPr>
        <p:spPr>
          <a:xfrm>
            <a:off x="457200" y="30815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GPT-4.1:  no_conflict F1 0.811  →  conflict 0.649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355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–16%p  |  Evidence Acc  –17%p  (충돌 정보 단 1개 개입 시)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44568" y="3044952"/>
            <a:ext cx="4370832" cy="68580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44568" y="3044952"/>
            <a:ext cx="64008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727448" y="30815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 모두 conflict에서 일관된 성능 하락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27448" y="33558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규모·유형 무관  —  구조적 한계  (서베이 Section 4.3 일치)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385876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조건  current / outdated 모드별 비교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/>
        </p:nvGraphicFramePr>
        <p:xfrm>
          <a:off x="274320" y="4151376"/>
          <a:ext cx="8412480" cy="12801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편향 패턴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Bias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시점 선호 편향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Llama-70B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7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역방향 편향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Llama-70B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7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7E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과거 시점 선호 편향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025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 </a:t>
            </a:r>
            <a:r>
              <a:rPr lang="en-US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2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파악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Pilot Study 확장 계획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 추가 측정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86410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7498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모델 효과 측정  (GPT-5.5 zero-shot  |  gpt-5.5-2026-04-23)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097280"/>
            <a:ext cx="8641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최신 모델 자체가 강해지면 conflict 격차가 줄어드는가?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1371600"/>
          <a:ext cx="8961120" cy="1030224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gpt-5.5-2026-04-23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(current 50+outdated 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gpt-5.5-2026-04-23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2468880"/>
            <a:ext cx="8641080" cy="274320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9"/>
          <p:cNvSpPr/>
          <p:nvPr/>
        </p:nvSpPr>
        <p:spPr>
          <a:xfrm>
            <a:off x="384048" y="2468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Prompting 효과 측정  (Phase 1 결과 본 후 진행)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74320" y="2816352"/>
            <a:ext cx="8641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최고 성능 모델 + Time-aware CoT 추가로 격차가 닫히는가?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274320" y="3090672"/>
          <a:ext cx="9235440" cy="88392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프롬프트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예상 비용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best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(예상: gpt-5.5)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Time-aware CoT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(timestamp 교차 추론)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3694176"/>
            <a:ext cx="864108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274320" y="3694176"/>
            <a:ext cx="64008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57200" y="3712464"/>
            <a:ext cx="8321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기준:  conflict F1 격차 8%p 이상 잔존  →  현 연구 방향 유지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(GPT-4.1 기준: no_conflict 0.811 vs conflict 0.649 =  –16%p)   총 예산  ~$5~10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4206240"/>
            <a:ext cx="8641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격차 8%p 이상 잔존 ]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 방향 유지  →  RL + 곱셈 보상 학습      </a:t>
            </a:r>
            <a:r>
              <a:rPr lang="en-US" sz="1050" b="1" dirty="0">
                <a:solidFill>
                  <a:srgbClr val="4A7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[ 8~14%p 회복 ]  </a:t>
            </a: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좁히기  →  multi-layer 집중      </a:t>
            </a: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[ 14%p 이상 회복 ]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검토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14151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&amp; 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641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미팅 전후 Action Items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64108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 (미팅 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8641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64008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5453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Phase 1A/B:  GPT-5.5 (gpt-5.5-2026-04-23) zero-shot, conflict 200건 측정  (~$3)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8641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64008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결과 보고 conflict 격차 판정 후 시나리오 확인  (8%p 기준)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8641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2249424"/>
            <a:ext cx="64008" cy="3474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29514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Phase 2C:  Phase 1 최고 모델 + Time-aware CoT 100건 측정  (~$3)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734056"/>
            <a:ext cx="8641080" cy="274320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" y="273405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미팅 후  (시나리오 A/B 기준)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8641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64008" cy="34747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TC-RAG Dataset Train/Test split 확정  (hoh_source_idx 기준, 누수 방지)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438144"/>
            <a:ext cx="8641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3438144"/>
            <a:ext cx="64008" cy="34747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483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SFT Cold-start 학습  (Qwen2.5-7B 또는 LLaMA-3.1-8B, LoRA 적용)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813048"/>
            <a:ext cx="8641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3813048"/>
            <a:ext cx="64008" cy="34747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GRPO 학습 + Evidence Accuracy eval pipeline 구축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86410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74320" y="4187952"/>
            <a:ext cx="64008" cy="34747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42336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TISER prompting, KO framework baseline 구현 및 비교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718304"/>
            <a:ext cx="8641080" cy="329184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74320" y="4718304"/>
            <a:ext cx="64008" cy="32918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원칙:  결과를 보고 판단  —  어떤 방향이 맞는지 데이터로 결정합니다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4695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해결 방법론 검토 </a:t>
            </a:r>
            <a:r>
              <a:rPr lang="en-US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학습의 필요성 검토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818120" y="1097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비교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프롬프팅 / Agent 기반 접근의 실제 성능과 구조적 한계  —  RL 학습 필요성 근거 검토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41605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" y="1060704"/>
            <a:ext cx="4160520" cy="54864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A  —  프롬프팅 + SFT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Bazaga et al. (2025). "TISER: Learning to Reason Over Time."  ACL 2025.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 reasoning + reflection + SFT (학습 없이 CoT만 적용 시)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75104"/>
            <a:ext cx="365760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GPT-4 + TISER: Macro F1  87.2 → 89.8  (+2.6pp)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957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Qwen2.5-7B fine-tuned: 91.1% Macro (SOTA)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Prompting only Mistral-7B: 22.0 → 20.8  (오히려 하락)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090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RAG MultiHopRAG temporal: fine-tuned 7B  33.5% 불과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RAG cross-document conflict 평가 대상 아님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1060704"/>
            <a:ext cx="416052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81728" y="1060704"/>
            <a:ext cx="416052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6460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B  —  Agent + 외부 KB  (학습 없음)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64608" y="1481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Ozer &amp; Yildiz (2025). "Knowledge Organization for Temporal Conflict in QA."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(S,R,O,T) quadruple 추출 + 외부 KB, 학습 불필요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1975104"/>
            <a:ext cx="3657600" cy="27432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64608" y="20482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Llama-70B KO: Unified Clark  0.76  (RAG 0.68 vs +8pp)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23957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Atomic (S,R,O,T) schema 가정 — narrative event 적용 불가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64608" y="2743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매 query당 LLM 3~4회 호출 필요 (latency 및 비용 급증)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30906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 attribute only — multi-layer conflict 미지원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4381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Atomic decomposition 전제 — implicit query 실패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864608"/>
            <a:ext cx="8641080" cy="16459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74320" y="4864608"/>
            <a:ext cx="64008" cy="16459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두 대안은 본 연구의 주요 Baseline으로 직접 측정하여, 학습 기반 접근의 필요성을 수치로 확인합니다.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282151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 TV-RAG 아키텍처</a:t>
            </a:r>
          </a:p>
        </p:txBody>
      </p:sp>
      <p:sp>
        <p:nvSpPr>
          <p:cNvPr id="101" name="DepthTitle"/>
          <p:cNvSpPr txBox="1"/>
          <p:nvPr/>
        </p:nvSpPr>
        <p:spPr>
          <a:xfrm>
            <a:off x="469900" y="787400"/>
            <a:ext cx="6032500" cy="3048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Retriever → RL-trained Generator 2단계 파이프라인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458418" y="1148080"/>
            <a:ext cx="8046720" cy="4826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highlight>
                  <a:srgbClr val="FFFD7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Generator는 End-to-End QA 시스템 + </a:t>
            </a:r>
            <a:r>
              <a:rPr lang="en-US" sz="1100" b="1" dirty="0">
                <a:solidFill>
                  <a:srgbClr val="4B5563"/>
                </a:solidFill>
                <a:highlight>
                  <a:srgbClr val="FFFD7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'시간적 문서 필터(Listwise Temporal Reranker)'</a:t>
            </a:r>
            <a:r>
              <a:rPr lang="en-US" sz="1100" dirty="0">
                <a:solidFill>
                  <a:srgbClr val="4B5563"/>
                </a:solidFill>
                <a:highlight>
                  <a:srgbClr val="FFFD7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sz="1100" b="1" dirty="0">
                <a:solidFill>
                  <a:srgbClr val="4B5563"/>
                </a:solidFill>
                <a:highlight>
                  <a:srgbClr val="FFFD7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B5563"/>
                </a:solidFill>
                <a:highlight>
                  <a:srgbClr val="FFFD7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이중 역할을 수행</a:t>
            </a:r>
          </a:p>
        </p:txBody>
      </p:sp>
      <p:sp>
        <p:nvSpPr>
          <p:cNvPr id="109" name="BottomNote"/>
          <p:cNvSpPr txBox="1"/>
          <p:nvPr/>
        </p:nvSpPr>
        <p:spPr>
          <a:xfrm>
            <a:off x="458418" y="2940292"/>
            <a:ext cx="8046720" cy="31861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highlight>
                  <a:srgbClr val="FFFD78"/>
                </a:highlight>
              </a:rPr>
              <a:t>본 연구는 Generator 측의 temporal conflict resolution에 집중하며, Retriever 개선은 future work으로 남깁니다.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687451A-BA38-C442-86A2-9C50E269F6EC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1640214"/>
          <a:ext cx="8051800" cy="817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6339950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8688498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1288694132"/>
                    </a:ext>
                  </a:extLst>
                </a:gridCol>
              </a:tblGrid>
              <a:tr h="186765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구성요소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역할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학습 여부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017487"/>
                  </a:ext>
                </a:extLst>
              </a:tr>
              <a:tr h="30349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Retriever</a:t>
                      </a:r>
                      <a:endParaRPr lang="ko-KR" altLang="en-US" sz="1050" b="1" dirty="0">
                        <a:solidFill>
                          <a:srgbClr val="1E2761"/>
                        </a:solidFill>
                        <a:latin typeface="Calibri"/>
                        <a:cs typeface="Calibri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Bi-encoder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기반 의미적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top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-k 검색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기존 사전학습 모델 사용 (frozen)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78090"/>
                  </a:ext>
                </a:extLst>
              </a:tr>
              <a:tr h="30349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Generator</a:t>
                      </a:r>
                      <a:endParaRPr lang="ko-KR" altLang="en-US" sz="1050" b="1" dirty="0">
                        <a:solidFill>
                          <a:srgbClr val="1E2761"/>
                        </a:solidFill>
                        <a:latin typeface="Calibri"/>
                        <a:cs typeface="Calibri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top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-k 문서를 받아 시간적 유효성 추론 + 답변 생성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SFT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cold-start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→ GRPO (핵심)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092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462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1" name="DepthTitle"/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4.2.1 HoH-QAs 원본 구조</a:t>
            </a:r>
          </a:p>
        </p:txBody>
      </p:sp>
      <p:sp>
        <p:nvSpPr>
          <p:cNvPr id="102" name="Body"/>
          <p:cNvSpPr txBox="1"/>
          <p:nvPr/>
        </p:nvSpPr>
        <p:spPr>
          <a:xfrm>
            <a:off x="492046" y="1167008"/>
            <a:ext cx="8046720" cy="57252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HoH(History of History) 데이터셋은 Wikipedia 문서의 실제 편집 이력을 활용하여 구축된 RAG 벤치마크입니다. </a:t>
            </a:r>
            <a:r>
              <a:rPr lang="en-US" sz="1100" dirty="0" err="1">
                <a:solidFill>
                  <a:srgbClr val="1F2937"/>
                </a:solidFill>
              </a:rPr>
              <a:t>각</a:t>
            </a:r>
            <a:r>
              <a:rPr lang="en-US" sz="1100" dirty="0">
                <a:solidFill>
                  <a:srgbClr val="1F2937"/>
                </a:solidFill>
              </a:rPr>
              <a:t> 레코드는 하나의 사실(fact)이 시간에 따라 변경된 사례를 담으며, 정답 문자열과 근거 문장(evidence), Wikipedia 문서 제목만 제공합니다.</a:t>
            </a:r>
          </a:p>
        </p:txBody>
      </p:sp>
      <p:sp>
        <p:nvSpPr>
          <p:cNvPr id="103" name="CodeBlock"/>
          <p:cNvSpPr txBox="1"/>
          <p:nvPr/>
        </p:nvSpPr>
        <p:spPr>
          <a:xfrm>
            <a:off x="548640" y="1846240"/>
            <a:ext cx="8046720" cy="24257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"question"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"What is the name of the yeast...?",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"answer"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"Maudiozyma bulderi",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"2024-07-01",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"evidence"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"The yeast Maudiozyma bulderi can be used...",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"document"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{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"title"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"Glucono delta-lactone" },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"outdated_infos"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[{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  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"answer"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"Saccharomyces bulderi",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  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"evidence"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"The yeast Saccharomyces bulderi...",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    </a:t>
            </a:r>
            <a:r>
              <a:rPr lang="en-US" sz="10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: "2024-06-01"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  }]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2E8F0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4281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526606" y="1149350"/>
            <a:ext cx="804672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en" altLang="ko-KR" sz="1200" b="1" dirty="0" err="1"/>
              <a:t>HoH</a:t>
            </a:r>
            <a:r>
              <a:rPr lang="en" altLang="ko-KR" sz="1200" b="1" dirty="0"/>
              <a:t>-QAs</a:t>
            </a:r>
            <a:r>
              <a:rPr lang="ko-KR" altLang="en-US" sz="1200" b="1" dirty="0" err="1"/>
              <a:t>를</a:t>
            </a:r>
            <a:r>
              <a:rPr lang="ko-KR" altLang="en-US" sz="1200" b="1" dirty="0"/>
              <a:t> 그대로 사용할 수 없는 이유</a:t>
            </a:r>
            <a:r>
              <a:rPr lang="en-US" altLang="ko-KR" sz="1200" b="1" dirty="0"/>
              <a:t>:</a:t>
            </a:r>
            <a:endParaRPr lang="en-US" sz="1200" dirty="0">
              <a:solidFill>
                <a:srgbClr val="4B5563"/>
              </a:solidFill>
              <a:latin typeface="Calibri"/>
              <a:cs typeface="Calibri"/>
            </a:endParaRPr>
          </a:p>
        </p:txBody>
      </p:sp>
      <p:sp>
        <p:nvSpPr>
          <p:cNvPr id="110" name="Card1"/>
          <p:cNvSpPr txBox="1"/>
          <p:nvPr/>
        </p:nvSpPr>
        <p:spPr>
          <a:xfrm>
            <a:off x="548640" y="1612900"/>
            <a:ext cx="2551113" cy="289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1" name="CardTitle1"/>
          <p:cNvSpPr txBox="1"/>
          <p:nvPr/>
        </p:nvSpPr>
        <p:spPr>
          <a:xfrm>
            <a:off x="662940" y="1714500"/>
            <a:ext cx="2322513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1: 문서 본문 부재</a:t>
            </a:r>
          </a:p>
        </p:txBody>
      </p:sp>
      <p:sp>
        <p:nvSpPr>
          <p:cNvPr id="112" name="CardBody1"/>
          <p:cNvSpPr txBox="1"/>
          <p:nvPr/>
        </p:nvSpPr>
        <p:spPr>
          <a:xfrm>
            <a:off x="662940" y="2019300"/>
            <a:ext cx="2322513" cy="2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evidence 문장과 Wikipedia 제목만 제공되며, RAG context로 사용할 실제 청크가 없습니다.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3B82F6"/>
                </a:solidFill>
              </a:rPr>
              <a:t>→ Step 1(청크 구축)에서 해결</a:t>
            </a:r>
          </a:p>
        </p:txBody>
      </p:sp>
      <p:sp>
        <p:nvSpPr>
          <p:cNvPr id="113" name="Card2"/>
          <p:cNvSpPr txBox="1"/>
          <p:nvPr/>
        </p:nvSpPr>
        <p:spPr>
          <a:xfrm>
            <a:off x="3296603" y="1612900"/>
            <a:ext cx="2551113" cy="289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4" name="CardTitle2"/>
          <p:cNvSpPr txBox="1"/>
          <p:nvPr/>
        </p:nvSpPr>
        <p:spPr>
          <a:xfrm>
            <a:off x="3410903" y="1714500"/>
            <a:ext cx="2322513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2: 시간적 모호성</a:t>
            </a:r>
          </a:p>
        </p:txBody>
      </p:sp>
      <p:sp>
        <p:nvSpPr>
          <p:cNvPr id="115" name="CardBody2"/>
          <p:cNvSpPr txBox="1"/>
          <p:nvPr/>
        </p:nvSpPr>
        <p:spPr>
          <a:xfrm>
            <a:off x="3410903" y="2019300"/>
            <a:ext cx="2322513" cy="2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질문에 시점 정보가 없어 current 답과 outdated 답이 모두 유효합니다. 단일 ground truth를 정의할 수 없습니다.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3B82F6"/>
                </a:solidFill>
              </a:rPr>
              <a:t>→ Step 2(QA 합성)에서 해결</a:t>
            </a:r>
          </a:p>
        </p:txBody>
      </p:sp>
      <p:sp>
        <p:nvSpPr>
          <p:cNvPr id="116" name="Card3"/>
          <p:cNvSpPr txBox="1"/>
          <p:nvPr/>
        </p:nvSpPr>
        <p:spPr>
          <a:xfrm>
            <a:off x="6044566" y="1612900"/>
            <a:ext cx="2551113" cy="289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7" name="CardTitle3"/>
          <p:cNvSpPr txBox="1"/>
          <p:nvPr/>
        </p:nvSpPr>
        <p:spPr>
          <a:xfrm>
            <a:off x="6158866" y="1714500"/>
            <a:ext cx="2322513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3: </a:t>
            </a:r>
            <a:r>
              <a:rPr lang="en-US" sz="1200" b="1" dirty="0" err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근거</a:t>
            </a: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200" b="1" dirty="0" err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청크의</a:t>
            </a: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200" b="1" dirty="0" err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부재</a:t>
            </a:r>
            <a:endParaRPr lang="en-US" sz="1200" b="1" dirty="0"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118" name="CardBody3"/>
          <p:cNvSpPr txBox="1"/>
          <p:nvPr/>
        </p:nvSpPr>
        <p:spPr>
          <a:xfrm>
            <a:off x="6158866" y="2019300"/>
            <a:ext cx="2322513" cy="2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정답의 근거가 되는 문서가 어떤 것인지 annotation이 없어, 모델의 문서 선택 정확도를 평가할 수 없습니다.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3B82F6"/>
                </a:solidFill>
              </a:rPr>
              <a:t>→ Step 2(QA 합성)에서 해결</a:t>
            </a:r>
          </a:p>
        </p:txBody>
      </p:sp>
      <p:sp>
        <p:nvSpPr>
          <p:cNvPr id="2" name="DepthTitle">
            <a:extLst>
              <a:ext uri="{FF2B5EF4-FFF2-40B4-BE49-F238E27FC236}">
                <a16:creationId xmlns:a16="http://schemas.microsoft.com/office/drawing/2014/main" id="{EDEA9A60-9769-6FFF-A869-5D0DB1D326BC}"/>
              </a:ext>
            </a:extLst>
          </p:cNvPr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4.2.1 HoH-QAs 원본 구조</a:t>
            </a:r>
          </a:p>
        </p:txBody>
      </p:sp>
    </p:spTree>
    <p:extLst>
      <p:ext uri="{BB962C8B-B14F-4D97-AF65-F5344CB8AC3E}">
        <p14:creationId xmlns:p14="http://schemas.microsoft.com/office/powerpoint/2010/main" val="3169903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1" name="DepthTitle"/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4.2.2 Step 1 — Wikipedia 청크 구축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460504" y="1132902"/>
            <a:ext cx="804672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/>
                <a:cs typeface="Calibri"/>
              </a:rPr>
              <a:t>문제 1(문서 본문 부재)을 해결하기 위해, 각 레코드의 타임스탬프를 기반으로 Wikipedia 문서를 fetch하여 청크를 구축</a:t>
            </a:r>
          </a:p>
        </p:txBody>
      </p:sp>
      <p:sp>
        <p:nvSpPr>
          <p:cNvPr id="103" name="Body"/>
          <p:cNvSpPr txBox="1"/>
          <p:nvPr/>
        </p:nvSpPr>
        <p:spPr>
          <a:xfrm>
            <a:off x="548640" y="1524000"/>
            <a:ext cx="8046720" cy="111883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100"/>
              </a:spcAft>
              <a:buFont typeface="Calibri"/>
              <a:buAutoNum type="arabicPeriod"/>
            </a:pPr>
            <a:r>
              <a:rPr lang="en-US" sz="1100" dirty="0">
                <a:solidFill>
                  <a:srgbClr val="1E2761"/>
                </a:solidFill>
              </a:rPr>
              <a:t>last_modified_time 기준으로 Wikipedia MediaWiki API를 호출해 해당 시점의 revision wikitext를 fetch</a:t>
            </a:r>
          </a:p>
          <a:p>
            <a:pPr marL="228600" indent="-228600">
              <a:lnSpc>
                <a:spcPct val="150000"/>
              </a:lnSpc>
              <a:spcAft>
                <a:spcPts val="100"/>
              </a:spcAft>
              <a:buFont typeface="Calibri"/>
              <a:buAutoNum type="arabicPeriod"/>
            </a:pPr>
            <a:r>
              <a:rPr lang="en-US" sz="1100" dirty="0">
                <a:solidFill>
                  <a:srgbClr val="1E2761"/>
                </a:solidFill>
              </a:rPr>
              <a:t>wikitext → 평문 변환 후 슬라이딩 윈도우로 청크 분할</a:t>
            </a:r>
          </a:p>
          <a:p>
            <a:pPr marL="228600" indent="-228600">
              <a:lnSpc>
                <a:spcPct val="150000"/>
              </a:lnSpc>
              <a:spcAft>
                <a:spcPts val="100"/>
              </a:spcAft>
              <a:buFont typeface="Calibri"/>
              <a:buAutoNum type="arabicPeriod"/>
            </a:pPr>
            <a:r>
              <a:rPr lang="en-US" sz="1100" dirty="0">
                <a:solidFill>
                  <a:srgbClr val="1E2761"/>
                </a:solidFill>
              </a:rPr>
              <a:t>evidence 문장을 포함한 청크에</a:t>
            </a:r>
            <a:r>
              <a:rPr lang="en-US" sz="1100" b="1" dirty="0">
                <a:solidFill>
                  <a:srgbClr val="1E2761"/>
                </a:solidFill>
              </a:rPr>
              <a:t> current / outdated 레이블 부여, 나머지는 distractor</a:t>
            </a:r>
          </a:p>
          <a:p>
            <a:pPr marL="228600" indent="-228600">
              <a:lnSpc>
                <a:spcPct val="150000"/>
              </a:lnSpc>
              <a:spcAft>
                <a:spcPts val="100"/>
              </a:spcAft>
              <a:buFont typeface="Calibri"/>
              <a:buAutoNum type="arabicPeriod"/>
            </a:pPr>
            <a:r>
              <a:rPr lang="en-US" sz="1100" dirty="0">
                <a:solidFill>
                  <a:srgbClr val="1E2761"/>
                </a:solidFill>
              </a:rPr>
              <a:t>outdated snapshot은 evidence 청크 1개만 추출 (두 버전 간 대부분 동일하므로 distractor 중복 방지)</a:t>
            </a:r>
          </a:p>
        </p:txBody>
      </p:sp>
    </p:spTree>
    <p:extLst>
      <p:ext uri="{BB962C8B-B14F-4D97-AF65-F5344CB8AC3E}">
        <p14:creationId xmlns:p14="http://schemas.microsoft.com/office/powerpoint/2010/main" val="3688350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2" name="CodeBlock"/>
          <p:cNvSpPr txBox="1"/>
          <p:nvPr/>
        </p:nvSpPr>
        <p:spPr>
          <a:xfrm>
            <a:off x="548640" y="1143000"/>
            <a:ext cx="8046720" cy="37261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"hoh_000000",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"hoh_source_idx"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"question"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"What is the name of the yeast...to ethanol and carbon dioxide?",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"answers"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[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"current",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"answer"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"Maudiozyma bulderi",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"outdated",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"answer"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"Saccharomyces bulderi",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"2024-06-01",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"outdated_index"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0}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],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"chunks"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[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"distractor",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"Gluconolactone is a food additive...",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1,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"distractor",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"GDL is pH-neutral, but hydrolyses...",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3,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"current",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"The yeast Maudiozyma bulderi can be used...",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5,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"outdated",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"The yeast Saccharomyces bulderi can be used...",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"2024-06-01",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"outdated_index"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0}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]</a:t>
            </a:r>
          </a:p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" name="DepthTitle">
            <a:extLst>
              <a:ext uri="{FF2B5EF4-FFF2-40B4-BE49-F238E27FC236}">
                <a16:creationId xmlns:a16="http://schemas.microsoft.com/office/drawing/2014/main" id="{CE061AF8-B49A-227A-804A-02B6EBE2314B}"/>
              </a:ext>
            </a:extLst>
          </p:cNvPr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4.2.2 Step 1 — Wikipedia </a:t>
            </a:r>
            <a:r>
              <a:rPr lang="en-US" altLang="ko-KR" sz="1400" b="1" dirty="0" err="1">
                <a:solidFill>
                  <a:srgbClr val="1E2760"/>
                </a:solidFill>
                <a:latin typeface="Arial Black"/>
                <a:cs typeface="Arial Black"/>
              </a:rPr>
              <a:t>청크</a:t>
            </a:r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 </a:t>
            </a:r>
            <a:r>
              <a:rPr lang="en-US" altLang="ko-KR" sz="1400" b="1" dirty="0" err="1">
                <a:solidFill>
                  <a:srgbClr val="1E2760"/>
                </a:solidFill>
                <a:latin typeface="Arial Black"/>
                <a:cs typeface="Arial Black"/>
              </a:rPr>
              <a:t>구축</a:t>
            </a:r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 (</a:t>
            </a:r>
            <a:r>
              <a:rPr lang="ko-KR" altLang="en-US" sz="1400" b="1" dirty="0">
                <a:solidFill>
                  <a:srgbClr val="1E2760"/>
                </a:solidFill>
                <a:latin typeface="Arial Black"/>
                <a:cs typeface="Arial Black"/>
              </a:rPr>
              <a:t>예시</a:t>
            </a:r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5321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1" name="DepthTitle"/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4.2.3 Step 2 — QA 합성</a:t>
            </a:r>
          </a:p>
        </p:txBody>
      </p:sp>
      <p:sp>
        <p:nvSpPr>
          <p:cNvPr id="102" name="Body"/>
          <p:cNvSpPr txBox="1"/>
          <p:nvPr/>
        </p:nvSpPr>
        <p:spPr>
          <a:xfrm>
            <a:off x="548640" y="1132902"/>
            <a:ext cx="8046720" cy="90338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F2937"/>
                </a:solidFill>
              </a:rPr>
              <a:t>청크 구조와 타임스탬프는 유지하되, </a:t>
            </a:r>
            <a:r>
              <a:rPr lang="en-US" sz="1100" b="1" dirty="0">
                <a:solidFill>
                  <a:srgbClr val="1F2937"/>
                </a:solidFill>
              </a:rPr>
              <a:t>질문을 새로 생성</a:t>
            </a:r>
            <a:r>
              <a:rPr lang="en-US" sz="1100" dirty="0">
                <a:solidFill>
                  <a:srgbClr val="1F2937"/>
                </a:solidFill>
              </a:rPr>
              <a:t>하고 evidence를 명시하는 방식으로 변환합니다.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1F2937"/>
                </a:solidFill>
              </a:rPr>
              <a:t>각 레코드에서 </a:t>
            </a:r>
            <a:r>
              <a:rPr lang="en-US" sz="1100" b="1" dirty="0">
                <a:solidFill>
                  <a:srgbClr val="1F2937"/>
                </a:solidFill>
              </a:rPr>
              <a:t>mode ∈ {current, current_raw, outdated_0, ...}</a:t>
            </a:r>
            <a:r>
              <a:rPr lang="en-US" sz="1100" dirty="0">
                <a:solidFill>
                  <a:srgbClr val="1F2937"/>
                </a:solidFill>
              </a:rPr>
              <a:t> 별로 독립 샘플을 생성 (HoH 원본 1개 → 최대 2+n개 훈련 샘플)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1E2761"/>
                </a:solidFill>
              </a:rPr>
              <a:t>핵심: target_answer는 HoH 원본에서 고정값으로 주입 (LLM hallucination 방지)</a:t>
            </a:r>
          </a:p>
        </p:txBody>
      </p:sp>
      <p:sp>
        <p:nvSpPr>
          <p:cNvPr id="110" name="Card1"/>
          <p:cNvSpPr txBox="1"/>
          <p:nvPr/>
        </p:nvSpPr>
        <p:spPr>
          <a:xfrm>
            <a:off x="548640" y="2183171"/>
            <a:ext cx="3930650" cy="2796453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1" name="CT1"/>
          <p:cNvSpPr txBox="1"/>
          <p:nvPr/>
        </p:nvSpPr>
        <p:spPr>
          <a:xfrm>
            <a:off x="662940" y="2259371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프롬프트 핵심 지시</a:t>
            </a:r>
          </a:p>
        </p:txBody>
      </p:sp>
      <p:sp>
        <p:nvSpPr>
          <p:cNvPr id="112" name="CB1"/>
          <p:cNvSpPr txBox="1"/>
          <p:nvPr/>
        </p:nvSpPr>
        <p:spPr>
          <a:xfrm>
            <a:off x="662940" y="2564171"/>
            <a:ext cx="3702050" cy="97488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narrative temporal hint 사용 (서술적 시간 표현)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연도/날짜 숫자 포함 시 즉시 reject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target_answer는 고정값 그대로 사용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reasoning은 evidence_chunk_id 정확도 향상용 CoT</a:t>
            </a:r>
          </a:p>
        </p:txBody>
      </p:sp>
      <p:sp>
        <p:nvSpPr>
          <p:cNvPr id="120" name="OutputFormat"/>
          <p:cNvSpPr txBox="1"/>
          <p:nvPr/>
        </p:nvSpPr>
        <p:spPr>
          <a:xfrm>
            <a:off x="662940" y="3599180"/>
            <a:ext cx="3702050" cy="12700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72000" tIns="45720" rIns="72000" bIns="4572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Calibri"/>
                <a:cs typeface="Calibri"/>
              </a:rPr>
              <a:t>Output Format</a:t>
            </a:r>
          </a:p>
          <a:p>
            <a:pPr marL="0" indent="0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"mode"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str,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"new_question"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str,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"target_answer"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str,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"reasoning"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str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13" name="Card2"/>
          <p:cNvSpPr txBox="1"/>
          <p:nvPr/>
        </p:nvSpPr>
        <p:spPr>
          <a:xfrm>
            <a:off x="4662170" y="2183171"/>
            <a:ext cx="3930650" cy="2796453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4" name="CT2"/>
          <p:cNvSpPr txBox="1"/>
          <p:nvPr/>
        </p:nvSpPr>
        <p:spPr>
          <a:xfrm>
            <a:off x="4776470" y="2259371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 err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자동</a:t>
            </a: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200" b="1" dirty="0" err="1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검증</a:t>
            </a:r>
            <a:endParaRPr lang="en-US" sz="1200" b="1" dirty="0"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115" name="CB2"/>
          <p:cNvSpPr txBox="1"/>
          <p:nvPr/>
        </p:nvSpPr>
        <p:spPr>
          <a:xfrm>
            <a:off x="4776470" y="2564171"/>
            <a:ext cx="3702050" cy="748666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target_answer == ground_truth 일치 검증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날짜 패턴 포함 여부 regex 필터링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• 통과한 샘플만 최종 </a:t>
            </a:r>
            <a:r>
              <a:rPr lang="en-US" sz="1050" dirty="0" err="1">
                <a:solidFill>
                  <a:srgbClr val="1E2761"/>
                </a:solidFill>
              </a:rPr>
              <a:t>데이터에</a:t>
            </a:r>
            <a:r>
              <a:rPr lang="en-US" sz="1050" dirty="0">
                <a:solidFill>
                  <a:srgbClr val="1E2761"/>
                </a:solidFill>
              </a:rPr>
              <a:t> </a:t>
            </a:r>
            <a:r>
              <a:rPr lang="en-US" sz="1050" dirty="0" err="1">
                <a:solidFill>
                  <a:srgbClr val="1E2761"/>
                </a:solidFill>
              </a:rPr>
              <a:t>포함</a:t>
            </a:r>
            <a:endParaRPr lang="en-US" sz="1050" dirty="0">
              <a:solidFill>
                <a:srgbClr val="1E27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841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1" name="DepthTitle"/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4.2.4 최종 TC-RAG Dataset 구조</a:t>
            </a:r>
          </a:p>
        </p:txBody>
      </p:sp>
      <p:sp>
        <p:nvSpPr>
          <p:cNvPr id="2" name="Desc">
            <a:extLst>
              <a:ext uri="{FF2B5EF4-FFF2-40B4-BE49-F238E27FC236}">
                <a16:creationId xmlns:a16="http://schemas.microsoft.com/office/drawing/2014/main" id="{DAA0C078-B415-C24A-8AFE-DD15351558A4}"/>
              </a:ext>
            </a:extLst>
          </p:cNvPr>
          <p:cNvSpPr txBox="1"/>
          <p:nvPr/>
        </p:nvSpPr>
        <p:spPr>
          <a:xfrm>
            <a:off x="546100" y="1150651"/>
            <a:ext cx="80518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100" dirty="0">
                <a:solidFill>
                  <a:srgbClr val="1E2761"/>
                </a:solidFill>
              </a:rPr>
              <a:t>각 샘플에는 </a:t>
            </a:r>
            <a:r>
              <a:rPr lang="en" altLang="ko-KR" sz="1100" dirty="0" err="1">
                <a:solidFill>
                  <a:srgbClr val="1E2761"/>
                </a:solidFill>
              </a:rPr>
              <a:t>hoh_source_idx</a:t>
            </a:r>
            <a:r>
              <a:rPr lang="en" altLang="ko-KR" sz="1100" dirty="0">
                <a:solidFill>
                  <a:srgbClr val="1E2761"/>
                </a:solidFill>
              </a:rPr>
              <a:t> </a:t>
            </a:r>
            <a:r>
              <a:rPr lang="ko-KR" altLang="en-US" sz="1100" dirty="0">
                <a:solidFill>
                  <a:srgbClr val="1E2761"/>
                </a:solidFill>
              </a:rPr>
              <a:t>필드</a:t>
            </a:r>
            <a:r>
              <a:rPr lang="en-US" altLang="ko-KR" sz="1100" dirty="0">
                <a:solidFill>
                  <a:srgbClr val="1E2761"/>
                </a:solidFill>
              </a:rPr>
              <a:t>(</a:t>
            </a:r>
            <a:r>
              <a:rPr lang="ko-KR" altLang="en-US" sz="1100" dirty="0">
                <a:solidFill>
                  <a:srgbClr val="1E2761"/>
                </a:solidFill>
              </a:rPr>
              <a:t>원본 </a:t>
            </a:r>
            <a:r>
              <a:rPr lang="en" altLang="ko-KR" sz="1100" dirty="0" err="1">
                <a:solidFill>
                  <a:srgbClr val="1E2761"/>
                </a:solidFill>
              </a:rPr>
              <a:t>HoH</a:t>
            </a:r>
            <a:r>
              <a:rPr lang="en" altLang="ko-KR" sz="1100" dirty="0">
                <a:solidFill>
                  <a:srgbClr val="1E2761"/>
                </a:solidFill>
              </a:rPr>
              <a:t> </a:t>
            </a:r>
            <a:r>
              <a:rPr lang="ko-KR" altLang="en-US" sz="1100" dirty="0">
                <a:solidFill>
                  <a:srgbClr val="1E2761"/>
                </a:solidFill>
              </a:rPr>
              <a:t>데이터셋 인덱스</a:t>
            </a:r>
            <a:r>
              <a:rPr lang="en-US" altLang="ko-KR" sz="1100" dirty="0">
                <a:solidFill>
                  <a:srgbClr val="1E2761"/>
                </a:solidFill>
              </a:rPr>
              <a:t>, </a:t>
            </a:r>
            <a:r>
              <a:rPr lang="ko-KR" altLang="en-US" sz="1100" dirty="0">
                <a:solidFill>
                  <a:srgbClr val="1E2761"/>
                </a:solidFill>
              </a:rPr>
              <a:t>정수</a:t>
            </a:r>
            <a:r>
              <a:rPr lang="en-US" altLang="ko-KR" sz="1100" dirty="0">
                <a:solidFill>
                  <a:srgbClr val="1E2761"/>
                </a:solidFill>
              </a:rPr>
              <a:t>)</a:t>
            </a:r>
            <a:r>
              <a:rPr lang="ko-KR" altLang="en-US" sz="1100" dirty="0">
                <a:solidFill>
                  <a:srgbClr val="1E2761"/>
                </a:solidFill>
              </a:rPr>
              <a:t>가 포함되어</a:t>
            </a:r>
            <a:r>
              <a:rPr lang="en-US" altLang="ko-KR" sz="1100" dirty="0">
                <a:solidFill>
                  <a:srgbClr val="1E2761"/>
                </a:solidFill>
              </a:rPr>
              <a:t>, </a:t>
            </a:r>
            <a:r>
              <a:rPr lang="ko-KR" altLang="en-US" sz="1100" dirty="0">
                <a:solidFill>
                  <a:srgbClr val="1E2761"/>
                </a:solidFill>
              </a:rPr>
              <a:t>평가 시 </a:t>
            </a:r>
            <a:r>
              <a:rPr lang="en" altLang="ko-KR" sz="1100" dirty="0" err="1">
                <a:solidFill>
                  <a:srgbClr val="1E2761"/>
                </a:solidFill>
              </a:rPr>
              <a:t>HoH</a:t>
            </a:r>
            <a:r>
              <a:rPr lang="en" altLang="ko-KR" sz="1100" dirty="0">
                <a:solidFill>
                  <a:srgbClr val="1E2761"/>
                </a:solidFill>
              </a:rPr>
              <a:t> </a:t>
            </a:r>
            <a:r>
              <a:rPr lang="ko-KR" altLang="en-US" sz="1100" dirty="0">
                <a:solidFill>
                  <a:srgbClr val="1E2761"/>
                </a:solidFill>
              </a:rPr>
              <a:t>벤치마크와의 데이터 오염</a:t>
            </a:r>
            <a:r>
              <a:rPr lang="en-US" altLang="ko-KR" sz="1100" dirty="0">
                <a:solidFill>
                  <a:srgbClr val="1E2761"/>
                </a:solidFill>
              </a:rPr>
              <a:t>(</a:t>
            </a:r>
            <a:r>
              <a:rPr lang="en" altLang="ko-KR" sz="1100" dirty="0">
                <a:solidFill>
                  <a:srgbClr val="1E2761"/>
                </a:solidFill>
              </a:rPr>
              <a:t>leakage)</a:t>
            </a:r>
            <a:r>
              <a:rPr lang="ko-KR" altLang="en-US" sz="1100" dirty="0">
                <a:solidFill>
                  <a:srgbClr val="1E2761"/>
                </a:solidFill>
              </a:rPr>
              <a:t>을 방지하기 위한 </a:t>
            </a:r>
            <a:r>
              <a:rPr lang="en" altLang="ko-KR" sz="1100" dirty="0">
                <a:solidFill>
                  <a:srgbClr val="1E2761"/>
                </a:solidFill>
              </a:rPr>
              <a:t>split </a:t>
            </a:r>
            <a:r>
              <a:rPr lang="ko-KR" altLang="en-US" sz="1100" dirty="0">
                <a:solidFill>
                  <a:srgbClr val="1E2761"/>
                </a:solidFill>
              </a:rPr>
              <a:t>구분에 활용합니다</a:t>
            </a:r>
            <a:r>
              <a:rPr lang="en-US" altLang="ko-KR" sz="1100" dirty="0">
                <a:solidFill>
                  <a:srgbClr val="1E2761"/>
                </a:solidFill>
              </a:rPr>
              <a:t>.</a:t>
            </a:r>
            <a:endParaRPr lang="ko-KR" altLang="en-US" sz="1100" dirty="0">
              <a:solidFill>
                <a:srgbClr val="1E276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D30456-9BE0-F047-84FB-497CFED6B20E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1841500"/>
          <a:ext cx="80518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63020895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105121523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346628608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403954403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mode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질문 출처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LLM 필요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evidence_chunk_id 할당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5213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current</a:t>
                      </a:r>
                      <a:endParaRPr lang="ko-KR" altLang="en-US" sz="1050" b="1" dirty="0">
                        <a:solidFill>
                          <a:srgbClr val="3B82F6"/>
                        </a:solidFill>
                        <a:latin typeface="Calibri"/>
                        <a:cs typeface="Calibri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LLM 생성 (시간 힌트 포함)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label=current 청크 자동 할당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34439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current_raw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HoH 원본 질문 그대로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X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label=current 청크 자동 할당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75008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outdated_i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LLM 생성 (시간 힌트 포함)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label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=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outdated_i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청크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자동 할당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233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342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 학습 데이터셋 — TC-RAG Dataset 구축</a:t>
            </a:r>
          </a:p>
        </p:txBody>
      </p:sp>
      <p:sp>
        <p:nvSpPr>
          <p:cNvPr id="102" name="GRPOCode"/>
          <p:cNvSpPr txBox="1"/>
          <p:nvPr/>
        </p:nvSpPr>
        <p:spPr>
          <a:xfrm>
            <a:off x="548640" y="1143000"/>
            <a:ext cx="8046720" cy="37261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"hoh_000000_current",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"hoh_source_idx"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"mode"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"current",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"original_question"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"What is the name of the yeast that can be used to ferment gluconolactone?",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"new_question"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"What is the currently accepted name of the yeast that ferments gluconolactone?",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"target_answer"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"Maudiozyma bulderi",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"evidence_chunk_id"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3,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"chunks"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[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0,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"distractor",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"Gluconolactone is a food additive...",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1,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"distractor",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"GDL is pH-neutral, but hydrolyses...",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 00:00:00"},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3,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"current",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"The yeast Maudiozyma bulderi can be used...",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"2024-07-01"},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{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"chunk_id"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5,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"label"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"outdated",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"text"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"The yeast Saccharomyces bulderi can be used...",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   </a:t>
            </a:r>
            <a:r>
              <a:rPr lang="en-US" sz="900" dirty="0">
                <a:solidFill>
                  <a:srgbClr val="93C5FD"/>
                </a:solidFill>
                <a:latin typeface="Consolas"/>
                <a:cs typeface="Consolas"/>
              </a:rPr>
              <a:t>"last_modified_time"</a:t>
            </a: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: "2024-06-01"}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  ]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" name="DepthTitle">
            <a:extLst>
              <a:ext uri="{FF2B5EF4-FFF2-40B4-BE49-F238E27FC236}">
                <a16:creationId xmlns:a16="http://schemas.microsoft.com/office/drawing/2014/main" id="{C6B62D07-F184-2BED-8719-6245FDF93C00}"/>
              </a:ext>
            </a:extLst>
          </p:cNvPr>
          <p:cNvSpPr txBox="1"/>
          <p:nvPr/>
        </p:nvSpPr>
        <p:spPr>
          <a:xfrm>
            <a:off x="470535" y="787400"/>
            <a:ext cx="603504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4.2.4 최종 TC-RAG Dataset </a:t>
            </a:r>
            <a:r>
              <a:rPr lang="en-US" altLang="ko-KR" sz="1400" b="1" dirty="0" err="1">
                <a:solidFill>
                  <a:srgbClr val="1E2760"/>
                </a:solidFill>
                <a:latin typeface="Arial Black"/>
                <a:cs typeface="Arial Black"/>
              </a:rPr>
              <a:t>구조</a:t>
            </a:r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 (</a:t>
            </a:r>
            <a:r>
              <a:rPr lang="ko-KR" altLang="en-US" sz="1400" b="1" dirty="0">
                <a:solidFill>
                  <a:srgbClr val="1E2760"/>
                </a:solidFill>
                <a:latin typeface="Arial Black"/>
                <a:cs typeface="Arial Black"/>
              </a:rPr>
              <a:t>예시</a:t>
            </a:r>
            <a:r>
              <a:rPr lang="en-US" altLang="ko-KR" sz="1400" b="1" dirty="0">
                <a:solidFill>
                  <a:srgbClr val="1E2760"/>
                </a:solidFill>
                <a:latin typeface="Arial Black"/>
                <a:cs typeface="Arial Black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58490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 Retriever &amp; 4.4 Generator</a:t>
            </a:r>
          </a:p>
        </p:txBody>
      </p:sp>
      <p:sp>
        <p:nvSpPr>
          <p:cNvPr id="110" name="RCard"/>
          <p:cNvSpPr txBox="1"/>
          <p:nvPr/>
        </p:nvSpPr>
        <p:spPr>
          <a:xfrm>
            <a:off x="548640" y="1066800"/>
            <a:ext cx="3930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1" name="RTitle"/>
          <p:cNvSpPr txBox="1"/>
          <p:nvPr/>
        </p:nvSpPr>
        <p:spPr>
          <a:xfrm>
            <a:off x="662940" y="1143000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 Retriever — 의미 기반 문서 검색</a:t>
            </a:r>
          </a:p>
        </p:txBody>
      </p:sp>
      <p:sp>
        <p:nvSpPr>
          <p:cNvPr id="112" name="RBody"/>
          <p:cNvSpPr txBox="1"/>
          <p:nvPr/>
        </p:nvSpPr>
        <p:spPr>
          <a:xfrm>
            <a:off x="662940" y="1473200"/>
            <a:ext cx="3702050" cy="2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기존 사전학습된 bi-encoder(Contriever, BGE)를 그대로 사용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E2761"/>
                </a:solidFill>
              </a:rPr>
              <a:t>쿼리에 대해 의미적으로 관련된 상위 k개 문서를 검색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1E2761"/>
                </a:solidFill>
              </a:rPr>
              <a:t>시간적 처리 일체 수행하지 않음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3B82F6"/>
                </a:solidFill>
                <a:highlight>
                  <a:srgbClr val="FFFD78"/>
                </a:highlight>
              </a:rPr>
              <a:t>→ k를 충분히 설정하여 current/outdated 버전 모두 context에 포함</a:t>
            </a:r>
          </a:p>
        </p:txBody>
      </p:sp>
      <p:sp>
        <p:nvSpPr>
          <p:cNvPr id="113" name="GCard"/>
          <p:cNvSpPr txBox="1"/>
          <p:nvPr/>
        </p:nvSpPr>
        <p:spPr>
          <a:xfrm>
            <a:off x="4662170" y="1066800"/>
            <a:ext cx="393065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4" name="GTitle"/>
          <p:cNvSpPr txBox="1"/>
          <p:nvPr/>
        </p:nvSpPr>
        <p:spPr>
          <a:xfrm>
            <a:off x="4776470" y="1143000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 Generator — 3블록 출력 구조</a:t>
            </a:r>
          </a:p>
        </p:txBody>
      </p:sp>
      <p:sp>
        <p:nvSpPr>
          <p:cNvPr id="115" name="GBody"/>
          <p:cNvSpPr txBox="1"/>
          <p:nvPr/>
        </p:nvSpPr>
        <p:spPr>
          <a:xfrm>
            <a:off x="4776470" y="1473200"/>
            <a:ext cx="3702050" cy="2200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E2761"/>
                </a:solidFill>
              </a:rPr>
              <a:t>검색된 top-k 문서 전체를 컨텍스트로 받아 3블록 출력: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B82F6"/>
                </a:solidFill>
              </a:rPr>
              <a:t>&lt;reasoning&gt; </a:t>
            </a:r>
            <a:r>
              <a:rPr lang="en-US" sz="1050" dirty="0">
                <a:solidFill>
                  <a:srgbClr val="1E2761"/>
                </a:solidFill>
              </a:rPr>
              <a:t>시간적 유효성 교차 검증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B82F6"/>
                </a:solidFill>
              </a:rPr>
              <a:t>&lt;evidence&gt; </a:t>
            </a:r>
            <a:r>
              <a:rPr lang="en-US" sz="1050" dirty="0">
                <a:solidFill>
                  <a:srgbClr val="1E2761"/>
                </a:solidFill>
              </a:rPr>
              <a:t>기준 시점에 부합하는 문서 선택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B82F6"/>
                </a:solidFill>
              </a:rPr>
              <a:t>&lt;answer&gt; </a:t>
            </a:r>
            <a:r>
              <a:rPr lang="en-US" sz="1050" dirty="0">
                <a:solidFill>
                  <a:srgbClr val="1E2761"/>
                </a:solidFill>
              </a:rPr>
              <a:t>최종 답변 생성</a:t>
            </a:r>
          </a:p>
        </p:txBody>
      </p:sp>
    </p:spTree>
    <p:extLst>
      <p:ext uri="{BB962C8B-B14F-4D97-AF65-F5344CB8AC3E}">
        <p14:creationId xmlns:p14="http://schemas.microsoft.com/office/powerpoint/2010/main" val="1083176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FTCard">
            <a:extLst>
              <a:ext uri="{FF2B5EF4-FFF2-40B4-BE49-F238E27FC236}">
                <a16:creationId xmlns:a16="http://schemas.microsoft.com/office/drawing/2014/main" id="{3ECCEB67-DB27-0D28-F9B3-2C8E3EA7B198}"/>
              </a:ext>
            </a:extLst>
          </p:cNvPr>
          <p:cNvSpPr txBox="1"/>
          <p:nvPr/>
        </p:nvSpPr>
        <p:spPr>
          <a:xfrm>
            <a:off x="546100" y="921132"/>
            <a:ext cx="3937000" cy="3948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 Generator</a:t>
            </a:r>
          </a:p>
        </p:txBody>
      </p:sp>
      <p:sp>
        <p:nvSpPr>
          <p:cNvPr id="110" name="SFTCard"/>
          <p:cNvSpPr txBox="1"/>
          <p:nvPr/>
        </p:nvSpPr>
        <p:spPr>
          <a:xfrm>
            <a:off x="4660900" y="921132"/>
            <a:ext cx="3937000" cy="406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11" name="SFTTitle"/>
          <p:cNvSpPr txBox="1"/>
          <p:nvPr/>
        </p:nvSpPr>
        <p:spPr>
          <a:xfrm>
            <a:off x="4775200" y="1041400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4.4.1 SFT Cold-start (format-only)</a:t>
            </a:r>
          </a:p>
        </p:txBody>
      </p:sp>
      <p:sp>
        <p:nvSpPr>
          <p:cNvPr id="112" name="SFTBody"/>
          <p:cNvSpPr txBox="1"/>
          <p:nvPr/>
        </p:nvSpPr>
        <p:spPr>
          <a:xfrm>
            <a:off x="4775200" y="1371600"/>
            <a:ext cx="3708400" cy="2097305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&lt;reasoning&gt;/&lt;evidence&gt;/&lt;answer&gt; 출력 형식과 정답(evidence, answer)을 학습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&lt;reasoning&gt; 블록은 generic으로 제한</a:t>
            </a:r>
          </a:p>
          <a:p>
            <a:pPr marL="342900" indent="-171450">
              <a:lnSpc>
                <a:spcPct val="150000"/>
              </a:lnSpc>
              <a:buFont typeface="Arial" panose="020B0604020202020204" pitchFamily="34" charset="0"/>
              <a:buChar char="–"/>
            </a:pPr>
            <a:r>
              <a:rPr lang="en-US" sz="950" dirty="0">
                <a:solidFill>
                  <a:srgbClr val="6B7280"/>
                </a:solidFill>
              </a:rPr>
              <a:t>예: "The answer can be found in Document 3."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E2761"/>
                </a:solidFill>
              </a:rPr>
              <a:t>WHAT</a:t>
            </a:r>
            <a:r>
              <a:rPr lang="en-US" sz="1050" dirty="0">
                <a:solidFill>
                  <a:srgbClr val="1E2761"/>
                </a:solidFill>
              </a:rPr>
              <a:t>(무엇을 출력)은 학습하지만 </a:t>
            </a:r>
            <a:r>
              <a:rPr lang="en-US" sz="1050" b="1" dirty="0">
                <a:solidFill>
                  <a:srgbClr val="1E2761"/>
                </a:solidFill>
              </a:rPr>
              <a:t>WHY</a:t>
            </a:r>
            <a:r>
              <a:rPr lang="en-US" sz="1050" dirty="0">
                <a:solidFill>
                  <a:srgbClr val="1E2761"/>
                </a:solidFill>
              </a:rPr>
              <a:t>(왜 유효한지)는 학습하지 않음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3B82F6"/>
                </a:solidFill>
              </a:rPr>
              <a:t>→ temporal reasoning이 GRPO에서 자발적으로 emerge하는지 검증하기 위해 의도적 설계</a:t>
            </a:r>
          </a:p>
        </p:txBody>
      </p:sp>
      <p:sp>
        <p:nvSpPr>
          <p:cNvPr id="113" name="SFTCode"/>
          <p:cNvSpPr txBox="1"/>
          <p:nvPr/>
        </p:nvSpPr>
        <p:spPr>
          <a:xfrm>
            <a:off x="4775200" y="3873500"/>
            <a:ext cx="3708400" cy="10795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D78"/>
                </a:solidFill>
                <a:latin typeface="Consolas"/>
                <a:cs typeface="Consolas"/>
              </a:rPr>
              <a:t>&lt;reasoning&gt;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The answer can be found in Doc 3.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D78"/>
                </a:solidFill>
                <a:latin typeface="Consolas"/>
                <a:cs typeface="Consolas"/>
              </a:rPr>
              <a:t>&lt;/reasoning&gt;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&lt;evidence&gt;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[3] </a:t>
            </a: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&lt;/evidence&gt;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6EFAC"/>
                </a:solidFill>
                <a:latin typeface="Consolas"/>
                <a:cs typeface="Consolas"/>
              </a:rPr>
              <a:t>&lt;answer&gt;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Maudiozyma bulderi </a:t>
            </a:r>
            <a:r>
              <a:rPr lang="en-US" sz="950" dirty="0">
                <a:solidFill>
                  <a:srgbClr val="86EFAC"/>
                </a:solidFill>
                <a:latin typeface="Consolas"/>
                <a:cs typeface="Consolas"/>
              </a:rPr>
              <a:t>&lt;/answer&gt;</a:t>
            </a:r>
          </a:p>
        </p:txBody>
      </p:sp>
      <p:sp>
        <p:nvSpPr>
          <p:cNvPr id="130" name="InputFormat"/>
          <p:cNvSpPr txBox="1"/>
          <p:nvPr/>
        </p:nvSpPr>
        <p:spPr>
          <a:xfrm>
            <a:off x="658810" y="1322025"/>
            <a:ext cx="3659802" cy="3382178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72000" tIns="45720" rIns="72000" bIns="4572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[Query]</a:t>
            </a: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 What is the currently accepted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name of the yeast that ferments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gluconolactone?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1]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2023-05-12]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is a food additive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used as a sequestrant, an acidifier,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or a curing agent. Pure GDL is a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white odorless crystalline powder.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2]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2024-06-01]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The yeast Saccharomyces bulderi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can be used to ferment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to ethanol and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carbon dioxide.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3]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2024-07-01]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The yeast Maudiozyma bulderi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can be used to ferment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to ethanol and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carbon dioxide.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88245-3C86-6C76-E83A-3D42A90AEA6C}"/>
              </a:ext>
            </a:extLst>
          </p:cNvPr>
          <p:cNvSpPr txBox="1"/>
          <p:nvPr/>
        </p:nvSpPr>
        <p:spPr>
          <a:xfrm>
            <a:off x="633470" y="993087"/>
            <a:ext cx="36598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200" b="1" dirty="0">
                <a:latin typeface="Calibri"/>
                <a:cs typeface="Calibri"/>
              </a:rPr>
              <a:t>Input Format: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BDE52-AC0A-1F21-9670-893FA7E14AEE}"/>
              </a:ext>
            </a:extLst>
          </p:cNvPr>
          <p:cNvSpPr txBox="1"/>
          <p:nvPr/>
        </p:nvSpPr>
        <p:spPr>
          <a:xfrm>
            <a:off x="4720115" y="3568700"/>
            <a:ext cx="3201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200" b="1" dirty="0">
                <a:latin typeface="Calibri"/>
                <a:cs typeface="Calibri"/>
              </a:rPr>
              <a:t>Output Format:</a:t>
            </a:r>
          </a:p>
        </p:txBody>
      </p:sp>
    </p:spTree>
    <p:extLst>
      <p:ext uri="{BB962C8B-B14F-4D97-AF65-F5344CB8AC3E}">
        <p14:creationId xmlns:p14="http://schemas.microsoft.com/office/powerpoint/2010/main" val="3186523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 Generator</a:t>
            </a:r>
          </a:p>
        </p:txBody>
      </p:sp>
      <p:sp>
        <p:nvSpPr>
          <p:cNvPr id="120" name="GRPOCard"/>
          <p:cNvSpPr txBox="1"/>
          <p:nvPr/>
        </p:nvSpPr>
        <p:spPr>
          <a:xfrm>
            <a:off x="4660900" y="965200"/>
            <a:ext cx="3937000" cy="39039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121" name="GRPOTitle"/>
          <p:cNvSpPr txBox="1"/>
          <p:nvPr/>
        </p:nvSpPr>
        <p:spPr>
          <a:xfrm>
            <a:off x="4775200" y="1041400"/>
            <a:ext cx="370205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sz="12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4.4.2 GRPO 시간적 추론 강화</a:t>
            </a:r>
          </a:p>
        </p:txBody>
      </p:sp>
      <p:sp>
        <p:nvSpPr>
          <p:cNvPr id="122" name="GRPOBody"/>
          <p:cNvSpPr txBox="1"/>
          <p:nvPr/>
        </p:nvSpPr>
        <p:spPr>
          <a:xfrm>
            <a:off x="4775200" y="1371600"/>
            <a:ext cx="382016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1E2761"/>
                </a:solidFill>
              </a:rPr>
              <a:t>TC-RAG Dataset 전체 사용 (current_raw 포함)</a:t>
            </a:r>
          </a:p>
          <a:p>
            <a:pPr marL="171450" indent="-171450">
              <a:lnSpc>
                <a:spcPct val="15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1E2761"/>
                </a:solidFill>
              </a:rPr>
              <a:t>모델이 스스로 temporal reasoning을 생성</a:t>
            </a:r>
          </a:p>
          <a:p>
            <a:pPr marL="0" indent="0">
              <a:lnSpc>
                <a:spcPct val="15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3B82F6"/>
                </a:solidFill>
              </a:rPr>
              <a:t>→ reward로 올바른 evidence 선택 시에만 answer reward 수령</a:t>
            </a:r>
          </a:p>
        </p:txBody>
      </p:sp>
      <p:sp>
        <p:nvSpPr>
          <p:cNvPr id="123" name="GRPOCode"/>
          <p:cNvSpPr txBox="1"/>
          <p:nvPr/>
        </p:nvSpPr>
        <p:spPr>
          <a:xfrm>
            <a:off x="4775200" y="3539915"/>
            <a:ext cx="3708400" cy="1164287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&lt;reasoning&gt;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  </a:t>
            </a:r>
            <a:r>
              <a:rPr lang="en-US" sz="950" dirty="0">
                <a:solidFill>
                  <a:srgbClr val="FFFD78"/>
                </a:solidFill>
                <a:latin typeface="Consolas"/>
                <a:cs typeface="Consolas"/>
              </a:rPr>
              <a:t>Doc 2 (2024-06-01) predates the update.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D78"/>
                </a:solidFill>
                <a:latin typeface="Consolas"/>
                <a:cs typeface="Consolas"/>
              </a:rPr>
              <a:t>  Doc 3 is post-update.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&lt;/reasoning&gt;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&lt;evidence&gt; </a:t>
            </a:r>
            <a:r>
              <a:rPr lang="en-US" sz="950" dirty="0">
                <a:solidFill>
                  <a:srgbClr val="92C6FD"/>
                </a:solidFill>
                <a:latin typeface="Consolas"/>
                <a:cs typeface="Consolas"/>
              </a:rPr>
              <a:t>[2]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&lt;/evidence&gt;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&lt;answer&gt; </a:t>
            </a:r>
            <a:r>
              <a:rPr lang="en-US" sz="950" dirty="0">
                <a:solidFill>
                  <a:srgbClr val="73FB79"/>
                </a:solidFill>
                <a:latin typeface="Consolas"/>
                <a:cs typeface="Consolas"/>
              </a:rPr>
              <a:t>Saccharomyces bulderi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&lt;/answer&gt;</a:t>
            </a:r>
          </a:p>
        </p:txBody>
      </p:sp>
      <p:sp>
        <p:nvSpPr>
          <p:cNvPr id="2" name="SFTCard">
            <a:extLst>
              <a:ext uri="{FF2B5EF4-FFF2-40B4-BE49-F238E27FC236}">
                <a16:creationId xmlns:a16="http://schemas.microsoft.com/office/drawing/2014/main" id="{1F5AA556-BEF5-1031-AB2C-E77D6A510AC1}"/>
              </a:ext>
            </a:extLst>
          </p:cNvPr>
          <p:cNvSpPr txBox="1"/>
          <p:nvPr/>
        </p:nvSpPr>
        <p:spPr>
          <a:xfrm>
            <a:off x="546100" y="921132"/>
            <a:ext cx="3937000" cy="3948048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91440" tIns="45720" rIns="91440" bIns="45720" anchor="t"/>
          <a:lstStyle/>
          <a:p>
            <a:endParaRPr lang="en-US" dirty="0"/>
          </a:p>
        </p:txBody>
      </p:sp>
      <p:sp>
        <p:nvSpPr>
          <p:cNvPr id="3" name="InputFormat">
            <a:extLst>
              <a:ext uri="{FF2B5EF4-FFF2-40B4-BE49-F238E27FC236}">
                <a16:creationId xmlns:a16="http://schemas.microsoft.com/office/drawing/2014/main" id="{D8E28900-E3DD-142E-B181-2F4DF3D89ABC}"/>
              </a:ext>
            </a:extLst>
          </p:cNvPr>
          <p:cNvSpPr txBox="1"/>
          <p:nvPr/>
        </p:nvSpPr>
        <p:spPr>
          <a:xfrm>
            <a:off x="658810" y="1322025"/>
            <a:ext cx="3659802" cy="3382178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txBody>
          <a:bodyPr wrap="square" lIns="72000" tIns="45720" rIns="72000" bIns="4572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[Query]</a:t>
            </a: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 What is the currently accepted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name of the yeast that ferments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gluconolactone?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1]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2023-05-12]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is a food additive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used as a sequestrant, an acidifier,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or a curing agent. Pure GDL is a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white odorless crystalline powder.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2]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2024-06-01]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The yeast </a:t>
            </a: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Saccharomyces bulderi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can be used to ferment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to ethanol and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carbon dioxide.</a:t>
            </a:r>
          </a:p>
          <a:p>
            <a:pPr marL="0" indent="0">
              <a:lnSpc>
                <a:spcPct val="60000"/>
              </a:lnSpc>
              <a:buNone/>
            </a:pP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3C5FD"/>
                </a:solidFill>
                <a:latin typeface="Consolas"/>
                <a:cs typeface="Consolas"/>
              </a:rPr>
              <a:t>[Document 3]</a:t>
            </a:r>
            <a:r>
              <a:rPr lang="en-US" sz="950" dirty="0">
                <a:solidFill>
                  <a:srgbClr val="94A3B8"/>
                </a:solidFill>
                <a:latin typeface="Consolas"/>
                <a:cs typeface="Consolas"/>
              </a:rPr>
              <a:t> [modified: 2024-07-01]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onsolas"/>
                <a:cs typeface="Consolas"/>
              </a:rPr>
              <a:t>The yeast Maudiozyma bulderi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can be used to ferment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gluconolactone to ethanol and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/>
                <a:cs typeface="Consolas"/>
              </a:rPr>
              <a:t>carbon dioxide.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C73A-F9AB-5B25-AB40-2D0A79921688}"/>
              </a:ext>
            </a:extLst>
          </p:cNvPr>
          <p:cNvSpPr txBox="1"/>
          <p:nvPr/>
        </p:nvSpPr>
        <p:spPr>
          <a:xfrm>
            <a:off x="633470" y="993087"/>
            <a:ext cx="36598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200" b="1" dirty="0">
                <a:latin typeface="Calibri"/>
                <a:cs typeface="Calibri"/>
              </a:rPr>
              <a:t>Input Format: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46E2E2-B2D8-9C4C-98AD-80F68BE70FD1}"/>
              </a:ext>
            </a:extLst>
          </p:cNvPr>
          <p:cNvSpPr txBox="1"/>
          <p:nvPr/>
        </p:nvSpPr>
        <p:spPr>
          <a:xfrm>
            <a:off x="4720115" y="3278306"/>
            <a:ext cx="3201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altLang="ko-KR" sz="1200" b="1" dirty="0">
                <a:latin typeface="Calibri"/>
                <a:cs typeface="Calibri"/>
              </a:rPr>
              <a:t>Output Format:</a:t>
            </a:r>
          </a:p>
        </p:txBody>
      </p:sp>
    </p:spTree>
    <p:extLst>
      <p:ext uri="{BB962C8B-B14F-4D97-AF65-F5344CB8AC3E}">
        <p14:creationId xmlns:p14="http://schemas.microsoft.com/office/powerpoint/2010/main" val="3187073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highlight>
                  <a:srgbClr val="FFFD78"/>
                </a:highligh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4.5 Reward 함수</a:t>
            </a:r>
          </a:p>
        </p:txBody>
      </p:sp>
      <p:sp>
        <p:nvSpPr>
          <p:cNvPr id="101" name="Formula"/>
          <p:cNvSpPr txBox="1"/>
          <p:nvPr/>
        </p:nvSpPr>
        <p:spPr>
          <a:xfrm>
            <a:off x="2533880" y="1139329"/>
            <a:ext cx="3790239" cy="462709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0">
            <a:noFill/>
          </a:ln>
          <a:effectLst>
            <a:softEdge rad="0"/>
          </a:effectLst>
        </p:spPr>
        <p:txBody>
          <a:bodyPr wrap="square" lIns="91440" tIns="45720" rIns="91440" bIns="4572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/>
                <a:cs typeface="Cambria Math"/>
              </a:rPr>
              <a:t>R = R</a:t>
            </a:r>
            <a:r>
              <a:rPr lang="en-US" sz="1400" b="1" baseline="-25000" dirty="0">
                <a:solidFill>
                  <a:srgbClr val="1E2761"/>
                </a:solidFill>
                <a:latin typeface="Cambria Math"/>
                <a:cs typeface="Cambria Math"/>
              </a:rPr>
              <a:t>format</a:t>
            </a:r>
            <a:r>
              <a:rPr lang="en-US" sz="2000" b="1" dirty="0">
                <a:solidFill>
                  <a:srgbClr val="1E2761"/>
                </a:solidFill>
                <a:latin typeface="Cambria Math"/>
                <a:cs typeface="Cambria Math"/>
              </a:rPr>
              <a:t> + R</a:t>
            </a:r>
            <a:r>
              <a:rPr lang="en-US" sz="1400" b="1" baseline="-25000" dirty="0">
                <a:solidFill>
                  <a:srgbClr val="1E2761"/>
                </a:solidFill>
                <a:latin typeface="Cambria Math"/>
                <a:cs typeface="Cambria Math"/>
              </a:rPr>
              <a:t>answer</a:t>
            </a:r>
            <a:r>
              <a:rPr lang="en-US" sz="2000" b="1" dirty="0">
                <a:solidFill>
                  <a:srgbClr val="3B82F6"/>
                </a:solidFill>
                <a:latin typeface="Cambria Math"/>
                <a:cs typeface="Cambria Math"/>
              </a:rPr>
              <a:t> × </a:t>
            </a:r>
            <a:r>
              <a:rPr lang="en-US" sz="2000" b="1" dirty="0">
                <a:solidFill>
                  <a:srgbClr val="1E2761"/>
                </a:solidFill>
                <a:latin typeface="Cambria Math"/>
                <a:cs typeface="Cambria Math"/>
              </a:rPr>
              <a:t>R</a:t>
            </a:r>
            <a:r>
              <a:rPr lang="en-US" sz="1400" b="1" baseline="-25000" dirty="0">
                <a:solidFill>
                  <a:srgbClr val="1E2761"/>
                </a:solidFill>
                <a:latin typeface="Cambria Math"/>
                <a:cs typeface="Cambria Math"/>
              </a:rPr>
              <a:t>evidence</a:t>
            </a:r>
          </a:p>
        </p:txBody>
      </p:sp>
      <p:sp>
        <p:nvSpPr>
          <p:cNvPr id="130" name="Insight"/>
          <p:cNvSpPr txBox="1"/>
          <p:nvPr/>
        </p:nvSpPr>
        <p:spPr>
          <a:xfrm>
            <a:off x="546100" y="3465623"/>
            <a:ext cx="8046720" cy="1385572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highlight>
                  <a:srgbClr val="FFFD78"/>
                </a:highlight>
              </a:rPr>
              <a:t>핵심 설계: R_answer × R_evidence </a:t>
            </a:r>
            <a:r>
              <a:rPr lang="en-US" sz="1100" b="1" dirty="0" err="1">
                <a:solidFill>
                  <a:srgbClr val="1E2761"/>
                </a:solidFill>
                <a:highlight>
                  <a:srgbClr val="FFFD78"/>
                </a:highlight>
              </a:rPr>
              <a:t>곱셈</a:t>
            </a:r>
            <a:r>
              <a:rPr lang="en-US" sz="1100" b="1" dirty="0">
                <a:solidFill>
                  <a:srgbClr val="1E2761"/>
                </a:solidFill>
                <a:highlight>
                  <a:srgbClr val="FFFD78"/>
                </a:highlight>
              </a:rPr>
              <a:t> </a:t>
            </a:r>
            <a:r>
              <a:rPr lang="en-US" sz="1100" b="1" dirty="0" err="1">
                <a:solidFill>
                  <a:srgbClr val="1E2761"/>
                </a:solidFill>
                <a:highlight>
                  <a:srgbClr val="FFFD78"/>
                </a:highlight>
              </a:rPr>
              <a:t>구조</a:t>
            </a:r>
            <a:endParaRPr lang="en-US" sz="1100" b="1" dirty="0">
              <a:solidFill>
                <a:srgbClr val="1E2761"/>
              </a:solidFill>
              <a:highlight>
                <a:srgbClr val="FFFD78"/>
              </a:highlight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evidence selection 없이 answer만 맞히는 shortcut을 원천 차단. 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en-US" sz="1100" dirty="0" err="1">
                <a:solidFill>
                  <a:srgbClr val="1E2761"/>
                </a:solidFill>
              </a:rPr>
              <a:t>모델이</a:t>
            </a:r>
            <a:r>
              <a:rPr lang="en-US" sz="1100" dirty="0">
                <a:solidFill>
                  <a:srgbClr val="1E2761"/>
                </a:solidFill>
              </a:rPr>
              <a:t> temporal conflict를 올바르게 resolve해야만 (R_evidence=1) answer reward를 받을 수 있음.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altLang="ko-KR" sz="1100" b="1" dirty="0">
                <a:solidFill>
                  <a:srgbClr val="3B82F6"/>
                </a:solidFill>
              </a:rPr>
              <a:t>→ </a:t>
            </a:r>
            <a:r>
              <a:rPr lang="en-US" sz="1100" b="1" dirty="0" err="1">
                <a:solidFill>
                  <a:srgbClr val="3B82F6"/>
                </a:solidFill>
              </a:rPr>
              <a:t>시간적</a:t>
            </a:r>
            <a:r>
              <a:rPr lang="en-US" sz="1100" b="1" dirty="0">
                <a:solidFill>
                  <a:srgbClr val="3B82F6"/>
                </a:solidFill>
              </a:rPr>
              <a:t> 추론을 직접 측정하는 항목은 없으나, current/outdated 혼합 데이터와 곱셈 구조의 결합이 temporal reasoning을 </a:t>
            </a:r>
            <a:r>
              <a:rPr lang="en-US" sz="1100" b="1" dirty="0" err="1">
                <a:solidFill>
                  <a:srgbClr val="3B82F6"/>
                </a:solidFill>
              </a:rPr>
              <a:t>유도</a:t>
            </a:r>
            <a:r>
              <a:rPr lang="en-US" sz="1100" b="1" dirty="0">
                <a:solidFill>
                  <a:srgbClr val="3B82F6"/>
                </a:solidFill>
              </a:rPr>
              <a:t> </a:t>
            </a:r>
            <a:r>
              <a:rPr lang="en-US" altLang="ko-KR" sz="1100" b="1" dirty="0">
                <a:solidFill>
                  <a:srgbClr val="3B82F6"/>
                </a:solidFill>
              </a:rPr>
              <a:t>(</a:t>
            </a:r>
            <a:r>
              <a:rPr lang="en-US" sz="1100" b="1" dirty="0">
                <a:solidFill>
                  <a:srgbClr val="3B82F6"/>
                </a:solidFill>
              </a:rPr>
              <a:t>6.5.3절에서 post-hoc </a:t>
            </a:r>
            <a:r>
              <a:rPr lang="en-US" sz="1100" b="1" dirty="0" err="1">
                <a:solidFill>
                  <a:srgbClr val="3B82F6"/>
                </a:solidFill>
              </a:rPr>
              <a:t>검증</a:t>
            </a:r>
            <a:r>
              <a:rPr lang="en-US" sz="1100" b="1" dirty="0">
                <a:solidFill>
                  <a:srgbClr val="3B82F6"/>
                </a:solidFill>
              </a:rPr>
              <a:t>.</a:t>
            </a:r>
            <a:r>
              <a:rPr lang="en-US" altLang="ko-KR" sz="1100" b="1" dirty="0">
                <a:solidFill>
                  <a:srgbClr val="3B82F6"/>
                </a:solidFill>
              </a:rPr>
              <a:t>)</a:t>
            </a:r>
            <a:endParaRPr lang="en-US" sz="1100" b="1" dirty="0">
              <a:solidFill>
                <a:srgbClr val="3B82F6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410203C-CE7C-4A4E-85A7-11B4C374F089}"/>
              </a:ext>
            </a:extLst>
          </p:cNvPr>
          <p:cNvGraphicFramePr>
            <a:graphicFrameLocks noGrp="1"/>
          </p:cNvGraphicFramePr>
          <p:nvPr/>
        </p:nvGraphicFramePr>
        <p:xfrm>
          <a:off x="546100" y="1873936"/>
          <a:ext cx="8051800" cy="1331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437731032"/>
                    </a:ext>
                  </a:extLst>
                </a:gridCol>
                <a:gridCol w="4484936">
                  <a:extLst>
                    <a:ext uri="{9D8B030D-6E8A-4147-A177-3AD203B41FA5}">
                      <a16:colId xmlns:a16="http://schemas.microsoft.com/office/drawing/2014/main" val="786375492"/>
                    </a:ext>
                  </a:extLst>
                </a:gridCol>
                <a:gridCol w="2042864">
                  <a:extLst>
                    <a:ext uri="{9D8B030D-6E8A-4147-A177-3AD203B41FA5}">
                      <a16:colId xmlns:a16="http://schemas.microsoft.com/office/drawing/2014/main" val="1385580225"/>
                    </a:ext>
                  </a:extLst>
                </a:gridCol>
              </a:tblGrid>
              <a:tr h="2923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Reward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정의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계산 방법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336624"/>
                  </a:ext>
                </a:extLst>
              </a:tr>
              <a:tr h="33414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R_format</a:t>
                      </a:r>
                      <a:endParaRPr lang="ko-KR" altLang="en-US" sz="1050" b="1" dirty="0">
                        <a:solidFill>
                          <a:srgbClr val="1E2761"/>
                        </a:solidFill>
                        <a:latin typeface="Arial"/>
                        <a:cs typeface="Arial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&lt;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reasoning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&gt;, &lt;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evidence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&gt;, &lt;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answer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&gt; 태그 모두 존재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rule-based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(0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0.1)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681745"/>
                  </a:ext>
                </a:extLst>
              </a:tr>
              <a:tr h="33832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R_answer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&lt;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answer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&gt; 블록이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target_answer와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일치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exact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match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
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token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F1 (0~1)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644868"/>
                  </a:ext>
                </a:extLst>
              </a:tr>
              <a:tr h="33414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R_evidence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&lt;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evidence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&gt; 블록의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chunk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id가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ground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truth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evidence_chunk_id와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일치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exact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match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(0 </a:t>
                      </a:r>
                      <a:r>
                        <a:rPr lang="ko-KR" altLang="en-US" sz="1050" b="0" dirty="0" err="1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or</a:t>
                      </a:r>
                      <a:r>
                        <a:rPr lang="ko-KR" altLang="en-US" sz="1050" b="0" dirty="0">
                          <a:solidFill>
                            <a:srgbClr val="1F2937"/>
                          </a:solidFill>
                          <a:latin typeface="Calibri" pitchFamily="34" charset="0"/>
                          <a:cs typeface="Calibri" pitchFamily="34" charset="-120"/>
                        </a:rPr>
                        <a:t> 1)</a:t>
                      </a: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093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40815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HoH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-QAs 데이터 구조와 한계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111601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65700" y="1070289"/>
            <a:ext cx="3746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1: RAG 문서 환경 부재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49800" y="1372550"/>
            <a:ext cx="3962400" cy="39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evidence 문장(1~2문장)</a:t>
            </a:r>
            <a:r>
              <a:rPr lang="en-US" sz="900" dirty="0" err="1"/>
              <a:t>과</a:t>
            </a:r>
            <a:r>
              <a:rPr lang="ko-KR" altLang="en-US" sz="900" dirty="0"/>
              <a:t> </a:t>
            </a:r>
            <a:r>
              <a:rPr lang="en-US" sz="900" dirty="0"/>
              <a:t>Wikipedia 제목만 제공.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b="1" dirty="0" err="1"/>
              <a:t>RAG를</a:t>
            </a:r>
            <a:r>
              <a:rPr lang="en-US" sz="900" b="1" dirty="0"/>
              <a:t> </a:t>
            </a:r>
            <a:r>
              <a:rPr lang="en-US" sz="900" b="1" dirty="0" err="1"/>
              <a:t>위한</a:t>
            </a:r>
            <a:r>
              <a:rPr lang="en-US" sz="900" b="1" dirty="0"/>
              <a:t> </a:t>
            </a:r>
            <a:r>
              <a:rPr lang="en-US" sz="900" b="1" dirty="0" err="1"/>
              <a:t>문서</a:t>
            </a:r>
            <a:r>
              <a:rPr lang="en-US" sz="900" b="1" dirty="0"/>
              <a:t> </a:t>
            </a:r>
            <a:r>
              <a:rPr lang="en-US" sz="900" b="1" dirty="0" err="1"/>
              <a:t>chunk가</a:t>
            </a:r>
            <a:r>
              <a:rPr lang="en-US" sz="900" b="1" dirty="0"/>
              <a:t> </a:t>
            </a:r>
            <a:r>
              <a:rPr lang="en-US" sz="900" b="1" dirty="0" err="1"/>
              <a:t>없어</a:t>
            </a:r>
            <a:r>
              <a:rPr lang="ko-KR" altLang="en-US" sz="900" b="1" dirty="0"/>
              <a:t> </a:t>
            </a:r>
            <a:r>
              <a:rPr lang="en-US" sz="900" b="1" dirty="0" err="1"/>
              <a:t>문서</a:t>
            </a:r>
            <a:r>
              <a:rPr lang="en-US" sz="900" b="1" dirty="0"/>
              <a:t> </a:t>
            </a:r>
            <a:r>
              <a:rPr lang="en-US" sz="900" b="1" dirty="0" err="1"/>
              <a:t>선택</a:t>
            </a:r>
            <a:r>
              <a:rPr lang="en-US" sz="900" b="1" dirty="0"/>
              <a:t> </a:t>
            </a:r>
            <a:r>
              <a:rPr lang="en-US" sz="900" b="1" dirty="0" err="1"/>
              <a:t>학습</a:t>
            </a:r>
            <a:r>
              <a:rPr lang="en-US" sz="900" b="1" dirty="0"/>
              <a:t> </a:t>
            </a:r>
            <a:r>
              <a:rPr lang="en-US" sz="900" b="1" dirty="0" err="1"/>
              <a:t>및</a:t>
            </a:r>
            <a:r>
              <a:rPr lang="en-US" sz="900" b="1" dirty="0"/>
              <a:t> </a:t>
            </a:r>
            <a:r>
              <a:rPr lang="en-US" sz="900" b="1" dirty="0" err="1"/>
              <a:t>평가</a:t>
            </a:r>
            <a:r>
              <a:rPr lang="en-US" sz="900" b="1" dirty="0"/>
              <a:t> 불가.</a:t>
            </a: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206801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5700" y="2022297"/>
            <a:ext cx="3746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2: 시간적 기준점 모호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49800" y="2324556"/>
            <a:ext cx="2354562" cy="129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 err="1"/>
              <a:t>HoH</a:t>
            </a:r>
            <a:r>
              <a:rPr lang="en-US" sz="900" dirty="0"/>
              <a:t> QA </a:t>
            </a:r>
            <a:r>
              <a:rPr lang="en-US" sz="900" dirty="0" err="1"/>
              <a:t>생성</a:t>
            </a:r>
            <a:r>
              <a:rPr lang="en-US" sz="900" dirty="0"/>
              <a:t> 프롬프트가 과거·현재 정보를 함께 제공하고 "둘 다 답이 되는 질문"을 생성하도록 설계.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→ </a:t>
            </a:r>
            <a:r>
              <a:rPr lang="en-US" sz="900" b="1" dirty="0"/>
              <a:t>question에 시점 기준이 없어 current/outdated 답 </a:t>
            </a:r>
            <a:r>
              <a:rPr lang="en-US" sz="900" b="1" dirty="0" err="1"/>
              <a:t>모두</a:t>
            </a:r>
            <a:r>
              <a:rPr lang="en-US" sz="900" b="1" dirty="0"/>
              <a:t> </a:t>
            </a:r>
            <a:r>
              <a:rPr lang="en-US" sz="900" b="1" dirty="0" err="1"/>
              <a:t>정답이</a:t>
            </a:r>
            <a:r>
              <a:rPr lang="en-US" sz="900" b="1" dirty="0"/>
              <a:t> </a:t>
            </a:r>
            <a:r>
              <a:rPr lang="en-US" sz="900" b="1" dirty="0" err="1"/>
              <a:t>될</a:t>
            </a:r>
            <a:r>
              <a:rPr lang="en-US" sz="900" b="1" dirty="0"/>
              <a:t> </a:t>
            </a:r>
            <a:r>
              <a:rPr lang="en-US" sz="900" b="1" dirty="0" err="1"/>
              <a:t>수</a:t>
            </a:r>
            <a:r>
              <a:rPr lang="en-US" sz="900" b="1" dirty="0"/>
              <a:t> </a:t>
            </a:r>
            <a:r>
              <a:rPr lang="en-US" sz="900" b="1" dirty="0" err="1"/>
              <a:t>있음</a:t>
            </a:r>
            <a:r>
              <a:rPr lang="en-US" altLang="ko-KR" sz="900" b="1" dirty="0"/>
              <a:t>.</a:t>
            </a:r>
            <a:endParaRPr lang="en-US" sz="900" b="1" dirty="0"/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→ 단일 ground truth 확정 불가 → RL 보상 판정 불가능.</a:t>
            </a: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388448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65700" y="3838767"/>
            <a:ext cx="3746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3: 근거 문서 미지정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749800" y="4141026"/>
            <a:ext cx="396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900" b="1" dirty="0"/>
              <a:t>정답의 근거가 </a:t>
            </a:r>
            <a:r>
              <a:rPr lang="en-US" sz="900" b="1" dirty="0" err="1"/>
              <a:t>어떤</a:t>
            </a:r>
            <a:r>
              <a:rPr lang="en-US" sz="900" b="1" dirty="0"/>
              <a:t> </a:t>
            </a:r>
            <a:r>
              <a:rPr lang="en-US" sz="900" b="1" dirty="0" err="1"/>
              <a:t>문서인지</a:t>
            </a:r>
            <a:r>
              <a:rPr lang="ko-KR" altLang="en-US" sz="900" b="1" dirty="0"/>
              <a:t> </a:t>
            </a:r>
            <a:r>
              <a:rPr lang="en-US" sz="900" b="1" dirty="0" err="1"/>
              <a:t>evidence_chunk_id</a:t>
            </a:r>
            <a:r>
              <a:rPr lang="en-US" sz="900" b="1" dirty="0"/>
              <a:t> </a:t>
            </a:r>
            <a:r>
              <a:rPr lang="en-US" sz="900" b="1" dirty="0" err="1"/>
              <a:t>가</a:t>
            </a:r>
            <a:r>
              <a:rPr lang="en-US" sz="900" b="1" dirty="0"/>
              <a:t> </a:t>
            </a:r>
            <a:r>
              <a:rPr lang="en-US" sz="900" b="1" dirty="0" err="1"/>
              <a:t>없음</a:t>
            </a:r>
            <a:r>
              <a:rPr lang="en-US" sz="900" dirty="0"/>
              <a:t>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900" dirty="0"/>
              <a:t>→ </a:t>
            </a:r>
            <a:r>
              <a:rPr lang="en-US" sz="900" dirty="0" err="1"/>
              <a:t>모델의</a:t>
            </a:r>
            <a:r>
              <a:rPr lang="en-US" sz="900" dirty="0"/>
              <a:t> 문서 </a:t>
            </a:r>
            <a:r>
              <a:rPr lang="en-US" sz="900" dirty="0" err="1"/>
              <a:t>선택</a:t>
            </a:r>
            <a:r>
              <a:rPr lang="en-US" sz="900" dirty="0"/>
              <a:t> </a:t>
            </a:r>
            <a:r>
              <a:rPr lang="en-US" sz="900" dirty="0" err="1"/>
              <a:t>정확도를</a:t>
            </a:r>
            <a:r>
              <a:rPr lang="ko-KR" altLang="en-US" sz="900" dirty="0"/>
              <a:t> </a:t>
            </a:r>
            <a:r>
              <a:rPr lang="en-US" sz="900" dirty="0" err="1"/>
              <a:t>측정할</a:t>
            </a:r>
            <a:r>
              <a:rPr lang="en-US" sz="900" dirty="0"/>
              <a:t> 수 없음.</a:t>
            </a:r>
          </a:p>
        </p:txBody>
      </p:sp>
      <p:sp>
        <p:nvSpPr>
          <p:cNvPr id="18" name="Shape 13"/>
          <p:cNvSpPr/>
          <p:nvPr/>
        </p:nvSpPr>
        <p:spPr>
          <a:xfrm>
            <a:off x="4572000" y="242478"/>
            <a:ext cx="4191000" cy="320040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4572000" y="242478"/>
            <a:ext cx="419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HoH의 팩트·정답은 그대로 활용하되, </a:t>
            </a:r>
            <a:b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환경 재현과 RL 학습을 위한 구조적 변환이 필요</a:t>
            </a:r>
            <a:endParaRPr lang="en-US" sz="9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9FDD4703-4066-4C96-CAE0-0BADC65AE6FE}"/>
              </a:ext>
            </a:extLst>
          </p:cNvPr>
          <p:cNvSpPr/>
          <p:nvPr/>
        </p:nvSpPr>
        <p:spPr>
          <a:xfrm>
            <a:off x="316525" y="946418"/>
            <a:ext cx="4014370" cy="2643552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"question"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"What is the name of the yeast that can be used to </a:t>
            </a:r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endParaRPr lang="en-US" altLang="ko-KR" sz="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ferment gluconolactone to ethanol and carbon dioxide?",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"answer"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"Maudiozyma bulderi",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"last_modified_time"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"2024-07-01 00:00:00",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"evidence"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"The yeast \"Maudiozyma bulderi\" can be used to </a:t>
            </a:r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</a:t>
            </a:r>
            <a:endParaRPr lang="en-US" altLang="ko-KR" sz="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ferment gluconolactone to ethanol and carbon dioxide.",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"outdated_infos"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"answer"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"Saccharomyces bulderi",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"evidence"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"The yeast \"Saccharomyces bulderi\" can be used </a:t>
            </a:r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en-US" altLang="ko-KR" sz="8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 ferment</a:t>
            </a:r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gluconolactone to ethanol and carbon dioxide.",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"last_modified_time"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"2024-06-01"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],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"document"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"id"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"1000005",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"title"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"Glucono delta-lactone"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6AAABA-9D4E-364A-A6CC-3E8CC5DDAD83}"/>
              </a:ext>
            </a:extLst>
          </p:cNvPr>
          <p:cNvGraphicFramePr>
            <a:graphicFrameLocks noGrp="1"/>
          </p:cNvGraphicFramePr>
          <p:nvPr/>
        </p:nvGraphicFramePr>
        <p:xfrm>
          <a:off x="317500" y="3758724"/>
          <a:ext cx="4013200" cy="1143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1372139667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54160713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question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>
                          <a:solidFill>
                            <a:srgbClr val="94A3B8"/>
                          </a:solidFill>
                        </a:rPr>
                        <a:t>HoH 원본 질문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336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answer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현재 시점 정답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99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evidence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정답 근거 문장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5996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last_modified_time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정보 수정 시점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592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outdated_infos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과거 시점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정답·근거·정보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수정 시점 배열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983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r>
                        <a:rPr lang="ko-KR" altLang="en-US" sz="700" b="1" dirty="0" err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document</a:t>
                      </a:r>
                      <a:endParaRPr lang="ko-KR" altLang="en-US" sz="700" b="1" dirty="0">
                        <a:solidFill>
                          <a:srgbClr val="93C5FD"/>
                        </a:solidFill>
                        <a:latin typeface="Consolas"/>
                        <a:cs typeface="Consolas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출처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Wikipedia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문서 (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id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,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title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643306"/>
                  </a:ext>
                </a:extLst>
              </a:tr>
            </a:tbl>
          </a:graphicData>
        </a:graphic>
      </p:graphicFrame>
      <p:pic>
        <p:nvPicPr>
          <p:cNvPr id="20" name="그림 19">
            <a:extLst>
              <a:ext uri="{FF2B5EF4-FFF2-40B4-BE49-F238E27FC236}">
                <a16:creationId xmlns:a16="http://schemas.microsoft.com/office/drawing/2014/main" id="{CF5EBB27-16D3-11C6-E981-B2E33CE9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362" y="1963434"/>
            <a:ext cx="1922816" cy="1701928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300D1E54-E7B6-368C-0B5C-D079D04533C4}"/>
              </a:ext>
            </a:extLst>
          </p:cNvPr>
          <p:cNvSpPr/>
          <p:nvPr/>
        </p:nvSpPr>
        <p:spPr>
          <a:xfrm>
            <a:off x="7272020" y="3733941"/>
            <a:ext cx="1554480" cy="18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850" b="1" dirty="0">
                <a:solidFill>
                  <a:schemeClr val="bg1">
                    <a:lumMod val="50000"/>
                  </a:schemeClr>
                </a:solidFill>
              </a:rPr>
              <a:t>Fig. </a:t>
            </a:r>
            <a:r>
              <a:rPr lang="en-US" sz="850" b="1" dirty="0" err="1">
                <a:solidFill>
                  <a:schemeClr val="bg1">
                    <a:lumMod val="50000"/>
                  </a:schemeClr>
                </a:solidFill>
              </a:rPr>
              <a:t>HoH</a:t>
            </a:r>
            <a:r>
              <a:rPr lang="en-US" altLang="ko-KR" sz="850" b="1" dirty="0">
                <a:solidFill>
                  <a:schemeClr val="bg1">
                    <a:lumMod val="50000"/>
                  </a:schemeClr>
                </a:solidFill>
              </a:rPr>
              <a:t>-QA </a:t>
            </a:r>
            <a:r>
              <a:rPr lang="ko-KR" altLang="en-US" sz="850" b="1" dirty="0">
                <a:solidFill>
                  <a:schemeClr val="bg1">
                    <a:lumMod val="50000"/>
                  </a:schemeClr>
                </a:solidFill>
              </a:rPr>
              <a:t>생성 프롬프트</a:t>
            </a:r>
            <a:endParaRPr lang="en-US" sz="85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809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26963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TC-RAG Dataset 구축 결과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16525" y="836246"/>
            <a:ext cx="4014370" cy="2698435"/>
          </a:xfrm>
          <a:prstGeom prst="rect">
            <a:avLst/>
          </a:prstGeom>
          <a:solidFill>
            <a:srgbClr val="1E293B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"id"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"h</a:t>
            </a:r>
            <a:r>
              <a:rPr lang="en-US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h_0000</a:t>
            </a:r>
            <a:r>
              <a:rPr lang="en-US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0_current",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hoh_source_idx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"provider"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</a:t>
            </a:r>
            <a:r>
              <a:rPr lang="en" altLang="ko-KR" sz="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vllm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"model"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</a:t>
            </a:r>
            <a:r>
              <a:rPr lang="en" altLang="ko-KR" sz="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huggyllama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/llama-7b",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"mode"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"current",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original_question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new_question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target_answer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</a:t>
            </a:r>
            <a:r>
              <a:rPr lang="en" altLang="ko-KR" sz="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Meudiozyma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ko-KR" sz="8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bulderi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evidence_chunk_id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3,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reasoning_qa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"chunks"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[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chunk_id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"label"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"distractor",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"text"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"...",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 err="1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last_modified_time</a:t>
            </a:r>
            <a:r>
              <a:rPr lang="en" altLang="ko-KR" sz="800" dirty="0">
                <a:solidFill>
                  <a:srgbClr val="93C5FD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"2024-07-01 00:00:00"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},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</a:p>
          <a:p>
            <a:r>
              <a:rPr lang="ko-KR" altLang="en-US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" altLang="ko-KR" sz="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509889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altLang="ko-KR" sz="750" dirty="0"/>
          </a:p>
        </p:txBody>
      </p:sp>
      <p:sp>
        <p:nvSpPr>
          <p:cNvPr id="6" name="Shape 4"/>
          <p:cNvSpPr/>
          <p:nvPr/>
        </p:nvSpPr>
        <p:spPr>
          <a:xfrm>
            <a:off x="4635500" y="914400"/>
            <a:ext cx="4191000" cy="1783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635500" y="914400"/>
            <a:ext cx="45720" cy="1783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00" y="100584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65700" y="960119"/>
            <a:ext cx="3746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Wikipedia 청크 구축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49800" y="1262380"/>
            <a:ext cx="396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900" dirty="0">
                <a:solidFill>
                  <a:srgbClr val="1E293B"/>
                </a:solidFill>
              </a:rPr>
              <a:t>각 레코드의 </a:t>
            </a:r>
            <a:r>
              <a:rPr lang="en-US" sz="900" b="1" dirty="0">
                <a:solidFill>
                  <a:srgbClr val="1E293B"/>
                </a:solidFill>
              </a:rPr>
              <a:t>last_modified_time</a:t>
            </a:r>
            <a:r>
              <a:rPr lang="en-US" sz="900" dirty="0">
                <a:solidFill>
                  <a:srgbClr val="1E293B"/>
                </a:solidFill>
              </a:rPr>
              <a:t> 기준으로 </a:t>
            </a:r>
            <a:r>
              <a:rPr lang="en-US" sz="900" b="1" dirty="0">
                <a:solidFill>
                  <a:srgbClr val="1E293B"/>
                </a:solidFill>
              </a:rPr>
              <a:t>Wikipedia MediaWiki API</a:t>
            </a:r>
            <a:r>
              <a:rPr lang="en-US" sz="900" dirty="0">
                <a:solidFill>
                  <a:srgbClr val="1E293B"/>
                </a:solidFill>
              </a:rPr>
              <a:t>를 호출하여 해당 시점의 revision wikitext를 가져옴.</a:t>
            </a:r>
          </a:p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900" dirty="0">
                <a:solidFill>
                  <a:srgbClr val="1E293B"/>
                </a:solidFill>
              </a:rPr>
              <a:t>wikitext를 평문으로 변환한 뒤 </a:t>
            </a:r>
            <a:r>
              <a:rPr lang="en-US" sz="900" b="1" dirty="0">
                <a:solidFill>
                  <a:srgbClr val="1E293B"/>
                </a:solidFill>
              </a:rPr>
              <a:t>슬라이딩 윈도우</a:t>
            </a:r>
            <a:r>
              <a:rPr lang="en-US" sz="900" dirty="0">
                <a:solidFill>
                  <a:srgbClr val="1E293B"/>
                </a:solidFill>
              </a:rPr>
              <a:t>로 청크를 분할하고, 각 청크에 레이블을 부여:</a:t>
            </a:r>
          </a:p>
          <a:p>
            <a:pPr marL="68580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current</a:t>
            </a:r>
            <a:r>
              <a:rPr lang="en-US" sz="900" dirty="0">
                <a:solidFill>
                  <a:srgbClr val="1E293B"/>
                </a:solidFill>
              </a:rPr>
              <a:t> — 최신 정보가 담긴 evidence 포함 청크</a:t>
            </a:r>
          </a:p>
          <a:p>
            <a:pPr marL="68580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outdated</a:t>
            </a:r>
            <a:r>
              <a:rPr lang="en-US" sz="900" dirty="0">
                <a:solidFill>
                  <a:srgbClr val="1E293B"/>
                </a:solidFill>
              </a:rPr>
              <a:t> — 과거 시점 evidence 포함 청크</a:t>
            </a:r>
          </a:p>
          <a:p>
            <a:pPr marL="685800" lvl="1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distractor</a:t>
            </a:r>
            <a:r>
              <a:rPr lang="en-US" sz="900" dirty="0">
                <a:solidFill>
                  <a:srgbClr val="1E293B"/>
                </a:solidFill>
              </a:rPr>
              <a:t> — 정답과 무관한 방해 청크 (RAG 검색 환경 재현)</a:t>
            </a:r>
          </a:p>
          <a:p>
            <a:pPr>
              <a:lnSpc>
                <a:spcPct val="110000"/>
              </a:lnSpc>
            </a:pPr>
            <a:endParaRPr lang="en-US" sz="900" b="1" dirty="0">
              <a:solidFill>
                <a:srgbClr val="1E293B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2563EB"/>
                </a:solidFill>
              </a:rPr>
              <a:t>→ 문제 1, 3 해결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35500" y="2748280"/>
            <a:ext cx="4191000" cy="218851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635500" y="2748280"/>
            <a:ext cx="45720" cy="218851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00" y="2839720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65700" y="2794000"/>
            <a:ext cx="37465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QA 합성 (질문 재생성)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49800" y="3096260"/>
            <a:ext cx="3962400" cy="1738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en-US" sz="900" dirty="0">
                <a:solidFill>
                  <a:srgbClr val="1E293B"/>
                </a:solidFill>
              </a:rPr>
              <a:t>각 mode별로 독립적인 QA 샘플을 생성:</a:t>
            </a: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current</a:t>
            </a:r>
            <a:r>
              <a:rPr lang="en-US" sz="900" dirty="0">
                <a:solidFill>
                  <a:srgbClr val="1E293B"/>
                </a:solidFill>
              </a:rPr>
              <a:t> — LLM이 최신 evidence 기반으로 new_question 생성</a:t>
            </a: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current_raw</a:t>
            </a:r>
            <a:r>
              <a:rPr lang="en-US" sz="900" dirty="0">
                <a:solidFill>
                  <a:srgbClr val="1E293B"/>
                </a:solidFill>
              </a:rPr>
              <a:t> — HoH 원본 질문을 그대로 사용 (LLM 미사용)</a:t>
            </a:r>
          </a:p>
          <a:p>
            <a:pPr marL="685800" lvl="1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1E293B"/>
                </a:solidFill>
              </a:rPr>
              <a:t>outdated_{i}</a:t>
            </a:r>
            <a:r>
              <a:rPr lang="en-US" sz="900" dirty="0">
                <a:solidFill>
                  <a:srgbClr val="1E293B"/>
                </a:solidFill>
              </a:rPr>
              <a:t> — i번째 과거 시점 evidence 기반으로 LLM이 new_question 생성 (i = outdated_infos 인덱스)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 startAt="2"/>
            </a:pPr>
            <a:r>
              <a:rPr lang="en-US" sz="900" dirty="0">
                <a:solidFill>
                  <a:srgbClr val="1E293B"/>
                </a:solidFill>
              </a:rPr>
              <a:t>질문에 </a:t>
            </a:r>
            <a:r>
              <a:rPr lang="en-US" sz="900" b="1" dirty="0">
                <a:solidFill>
                  <a:srgbClr val="1E293B"/>
                </a:solidFill>
              </a:rPr>
              <a:t>서술적 시간 힌트만 허용</a:t>
            </a:r>
            <a:r>
              <a:rPr lang="en-US" sz="900" dirty="0">
                <a:solidFill>
                  <a:srgbClr val="1E293B"/>
                </a:solidFill>
              </a:rPr>
              <a:t>하고, 연도·날짜 등 숫자 포함 시 </a:t>
            </a:r>
            <a:r>
              <a:rPr lang="en-US" sz="900" b="1" dirty="0">
                <a:solidFill>
                  <a:srgbClr val="1E293B"/>
                </a:solidFill>
              </a:rPr>
              <a:t>자동 reject</a:t>
            </a:r>
            <a:r>
              <a:rPr lang="en-US" sz="900" dirty="0">
                <a:solidFill>
                  <a:srgbClr val="1E293B"/>
                </a:solidFill>
              </a:rPr>
              <a:t> → 모델이 질문 속 날짜로 정답을 유추하는 </a:t>
            </a:r>
            <a:r>
              <a:rPr lang="en-US" sz="900" b="1" dirty="0">
                <a:solidFill>
                  <a:srgbClr val="1E293B"/>
                </a:solidFill>
              </a:rPr>
              <a:t>타임스탬프 매칭 shortcut</a:t>
            </a:r>
            <a:r>
              <a:rPr lang="en-US" sz="900" dirty="0">
                <a:solidFill>
                  <a:srgbClr val="1E293B"/>
                </a:solidFill>
              </a:rPr>
              <a:t>을 원천 차단.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 startAt="3"/>
            </a:pPr>
            <a:r>
              <a:rPr lang="en-US" sz="900" b="1" dirty="0">
                <a:solidFill>
                  <a:srgbClr val="1E293B"/>
                </a:solidFill>
              </a:rPr>
              <a:t>reasoning_qa</a:t>
            </a:r>
            <a:r>
              <a:rPr lang="en-US" sz="900" dirty="0">
                <a:solidFill>
                  <a:srgbClr val="1E293B"/>
                </a:solidFill>
              </a:rPr>
              <a:t>를 LLM으로 함께 생성하여 정답 도출 근거 추론(CoT)을 제공.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 startAt="4"/>
            </a:pPr>
            <a:r>
              <a:rPr lang="en-US" sz="900" b="1" dirty="0">
                <a:solidFill>
                  <a:srgbClr val="1E293B"/>
                </a:solidFill>
              </a:rPr>
              <a:t>target_answer</a:t>
            </a:r>
            <a:r>
              <a:rPr lang="en-US" sz="900" dirty="0">
                <a:solidFill>
                  <a:srgbClr val="1E293B"/>
                </a:solidFill>
              </a:rPr>
              <a:t>는 HoH 원본 정답을 그대로 고정값으로 주입.</a:t>
            </a:r>
          </a:p>
          <a:p>
            <a:pPr marL="228600" indent="-228600">
              <a:lnSpc>
                <a:spcPct val="100000"/>
              </a:lnSpc>
              <a:buFont typeface="+mj-lt"/>
              <a:buAutoNum type="arabicPeriod" startAt="5"/>
            </a:pPr>
            <a:r>
              <a:rPr lang="en-US" sz="900" b="1" dirty="0">
                <a:solidFill>
                  <a:srgbClr val="1E293B"/>
                </a:solidFill>
              </a:rPr>
              <a:t>evidence_chunk_id</a:t>
            </a:r>
            <a:r>
              <a:rPr lang="en-US" sz="900" dirty="0">
                <a:solidFill>
                  <a:srgbClr val="1E293B"/>
                </a:solidFill>
              </a:rPr>
              <a:t>는 정답 근거 청크를 미리 지정한 뒤 질문을 생성하므로 사전 확정된 값.</a:t>
            </a:r>
          </a:p>
          <a:p>
            <a:pPr>
              <a:lnSpc>
                <a:spcPct val="100000"/>
              </a:lnSpc>
            </a:pPr>
            <a:endParaRPr lang="en-US" sz="500" dirty="0">
              <a:solidFill>
                <a:srgbClr val="1E293B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900" b="1" dirty="0">
                <a:solidFill>
                  <a:srgbClr val="2563EB"/>
                </a:solidFill>
              </a:rPr>
              <a:t>→ 문제 2 해결</a:t>
            </a:r>
            <a:endParaRPr lang="en-US" sz="900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B9CE4E0-C8ED-5844-B7E9-7CD326D6D42F}"/>
              </a:ext>
            </a:extLst>
          </p:cNvPr>
          <p:cNvGraphicFramePr>
            <a:graphicFrameLocks noGrp="1"/>
          </p:cNvGraphicFramePr>
          <p:nvPr/>
        </p:nvGraphicFramePr>
        <p:xfrm>
          <a:off x="317695" y="3626121"/>
          <a:ext cx="4013200" cy="1371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3470453789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314785228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 err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id</a:t>
                      </a:r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 / </a:t>
                      </a:r>
                      <a:r>
                        <a:rPr lang="ko-KR" altLang="en-US" sz="700" b="1" dirty="0" err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hoh_source_idx</a:t>
                      </a:r>
                      <a:endParaRPr lang="ko-KR" altLang="en-US" sz="700" b="1" dirty="0">
                        <a:solidFill>
                          <a:srgbClr val="93C5FD"/>
                        </a:solidFill>
                        <a:latin typeface="Consolas"/>
                        <a:cs typeface="Consolas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데이터셋 ID </a:t>
                      </a:r>
                      <a:r>
                        <a:rPr lang="en-US" altLang="ko-KR" sz="700" dirty="0">
                          <a:solidFill>
                            <a:srgbClr val="94A3B8"/>
                          </a:solidFill>
                        </a:rPr>
                        <a:t>/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HoH</a:t>
                      </a:r>
                      <a:r>
                        <a:rPr lang="en-US" altLang="ko-KR" sz="700" dirty="0">
                          <a:solidFill>
                            <a:srgbClr val="94A3B8"/>
                          </a:solidFill>
                        </a:rPr>
                        <a:t>-QAs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인덱스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009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mode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current / </a:t>
                      </a:r>
                      <a:r>
                        <a:rPr lang="en-US" sz="700" dirty="0" err="1">
                          <a:solidFill>
                            <a:srgbClr val="94A3B8"/>
                          </a:solidFill>
                        </a:rPr>
                        <a:t>current_raw</a:t>
                      </a: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 / outdated_</a:t>
                      </a:r>
                      <a:r>
                        <a:rPr lang="en-US" altLang="ko-KR" sz="700" dirty="0">
                          <a:solidFill>
                            <a:srgbClr val="94A3B8"/>
                          </a:solidFill>
                        </a:rPr>
                        <a:t>{</a:t>
                      </a:r>
                      <a:r>
                        <a:rPr lang="en-US" sz="700" dirty="0" err="1">
                          <a:solidFill>
                            <a:srgbClr val="94A3B8"/>
                          </a:solidFill>
                        </a:rPr>
                        <a:t>i</a:t>
                      </a:r>
                      <a:r>
                        <a:rPr lang="en-US" altLang="ko-KR" sz="700" dirty="0">
                          <a:solidFill>
                            <a:srgbClr val="94A3B8"/>
                          </a:solidFill>
                        </a:rPr>
                        <a:t>}</a:t>
                      </a:r>
                      <a:endParaRPr lang="en-US" sz="700" dirty="0">
                        <a:solidFill>
                          <a:srgbClr val="94A3B8"/>
                        </a:solidFill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68814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 err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new_question</a:t>
                      </a:r>
                      <a:endParaRPr lang="ko-KR" altLang="en-US" sz="700" b="1" dirty="0">
                        <a:solidFill>
                          <a:srgbClr val="93C5FD"/>
                        </a:solidFill>
                        <a:latin typeface="Consolas"/>
                        <a:cs typeface="Consolas"/>
                      </a:endParaRPr>
                    </a:p>
                  </a:txBody>
                  <a:tcPr marT="0" marB="0" anchor="ctr">
                    <a:lnL w="0"/>
                    <a:lnR w="0">
                      <a:noFill/>
                    </a:lnR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시간 맥락 포함 재생성 질문</a:t>
                      </a:r>
                      <a:r>
                        <a:rPr lang="en-US" altLang="ko-KR" sz="700" b="1" dirty="0">
                          <a:solidFill>
                            <a:srgbClr val="94A3B8"/>
                          </a:solidFill>
                        </a:rPr>
                        <a:t>(</a:t>
                      </a:r>
                      <a:r>
                        <a:rPr lang="en-US" altLang="ko-KR" sz="700" b="1" dirty="0" err="1">
                          <a:solidFill>
                            <a:srgbClr val="94A3B8"/>
                          </a:solidFill>
                        </a:rPr>
                        <a:t>LLM생성</a:t>
                      </a:r>
                      <a:r>
                        <a:rPr lang="en-US" altLang="ko-KR" sz="700" b="1" dirty="0">
                          <a:solidFill>
                            <a:srgbClr val="94A3B8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rgbClr val="94A3B8"/>
                        </a:solidFill>
                      </a:endParaRPr>
                    </a:p>
                  </a:txBody>
                  <a:tcPr marT="0" marB="0" anchor="ctr">
                    <a:lnL w="0">
                      <a:noFill/>
                    </a:lnL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236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target_answer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정답 (HoH 원본 고정값)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14432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evidence_chunk_id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정답 근거 청크 ID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8282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en-US" sz="700" b="1" dirty="0">
                          <a:solidFill>
                            <a:srgbClr val="93C5FD"/>
                          </a:solidFill>
                          <a:latin typeface="Consolas"/>
                        </a:rPr>
                        <a:t>reasoning_qa</a:t>
                      </a:r>
                    </a:p>
                  </a:txBody>
                  <a:tcPr marT="0" marB="0" anchor="ctr">
                    <a:lnL w="0"/>
                    <a:lnR w="0">
                      <a:noFill/>
                    </a:lnR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정답 도출 근거 </a:t>
                      </a:r>
                      <a:r>
                        <a:rPr lang="en-US" sz="700" dirty="0" err="1">
                          <a:solidFill>
                            <a:srgbClr val="94A3B8"/>
                          </a:solidFill>
                        </a:rPr>
                        <a:t>추론</a:t>
                      </a:r>
                      <a:r>
                        <a:rPr lang="en-US" sz="700" dirty="0">
                          <a:solidFill>
                            <a:srgbClr val="94A3B8"/>
                          </a:solidFill>
                        </a:rPr>
                        <a:t> </a:t>
                      </a:r>
                      <a:r>
                        <a:rPr lang="en-US" altLang="ko-KR" sz="700" b="1" dirty="0">
                          <a:solidFill>
                            <a:srgbClr val="94A3B8"/>
                          </a:solidFill>
                        </a:rPr>
                        <a:t>(</a:t>
                      </a:r>
                      <a:r>
                        <a:rPr lang="en-US" altLang="ko-KR" sz="700" b="1" dirty="0" err="1">
                          <a:solidFill>
                            <a:srgbClr val="94A3B8"/>
                          </a:solidFill>
                        </a:rPr>
                        <a:t>LLM생성</a:t>
                      </a:r>
                      <a:r>
                        <a:rPr lang="en-US" altLang="ko-KR" sz="700" b="1" dirty="0">
                          <a:solidFill>
                            <a:srgbClr val="94A3B8"/>
                          </a:solidFill>
                        </a:rPr>
                        <a:t>)</a:t>
                      </a:r>
                      <a:endParaRPr lang="en-US" sz="700" dirty="0">
                        <a:solidFill>
                          <a:srgbClr val="94A3B8"/>
                        </a:solidFill>
                      </a:endParaRPr>
                    </a:p>
                  </a:txBody>
                  <a:tcPr marT="0" marB="0" anchor="ctr">
                    <a:lnL w="0">
                      <a:noFill/>
                    </a:lnL>
                    <a:lnR w="0"/>
                    <a:lnT w="0">
                      <a:noFill/>
                    </a:lnT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2845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chunks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Wikipedia 청크 리스트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2285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  └ </a:t>
                      </a:r>
                      <a:r>
                        <a:rPr lang="ko-KR" altLang="en-US" sz="700" b="1" dirty="0" err="1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label</a:t>
                      </a:r>
                      <a:endParaRPr lang="ko-KR" altLang="en-US" sz="700" b="1" dirty="0">
                        <a:solidFill>
                          <a:srgbClr val="93C5FD"/>
                        </a:solidFill>
                        <a:latin typeface="Consolas"/>
                        <a:cs typeface="Consolas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current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/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outdated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/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distractor</a:t>
                      </a:r>
                      <a:endParaRPr lang="ko-KR" altLang="en-US" sz="700" dirty="0">
                        <a:solidFill>
                          <a:srgbClr val="94A3B8"/>
                        </a:solidFill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8344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r>
                        <a:rPr lang="ko-KR" altLang="en-US" sz="700" b="1" dirty="0">
                          <a:solidFill>
                            <a:srgbClr val="93C5FD"/>
                          </a:solidFill>
                          <a:latin typeface="Consolas"/>
                          <a:cs typeface="Consolas"/>
                        </a:rPr>
                        <a:t>   └ outdated_index</a:t>
                      </a:r>
                    </a:p>
                  </a:txBody>
                  <a:tcPr marL="36000" marR="3600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  </a:t>
                      </a:r>
                      <a:r>
                        <a:rPr lang="ko-KR" altLang="en-US" sz="700" dirty="0" err="1">
                          <a:solidFill>
                            <a:srgbClr val="94A3B8"/>
                          </a:solidFill>
                        </a:rPr>
                        <a:t>outdated</a:t>
                      </a:r>
                      <a:r>
                        <a:rPr lang="ko-KR" altLang="en-US" sz="700" dirty="0">
                          <a:solidFill>
                            <a:srgbClr val="94A3B8"/>
                          </a:solidFill>
                        </a:rPr>
                        <a:t> 청크 전용; outdated_infos 배열 인덱스 (시간 역순)</a:t>
                      </a:r>
                    </a:p>
                  </a:txBody>
                  <a:tcPr marL="36000" marR="36000"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872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시간적 충돌 설계 — 핵심 메커니즘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모든 레코드에 </a:t>
            </a:r>
            <a:r>
              <a:rPr lang="en-US" sz="900" b="1" dirty="0">
                <a:solidFill>
                  <a:srgbClr val="1E293B"/>
                </a:solidFill>
              </a:rPr>
              <a:t>current 청크</a:t>
            </a:r>
            <a:r>
              <a:rPr lang="en-US" sz="900" dirty="0">
                <a:solidFill>
                  <a:srgbClr val="1E293B"/>
                </a:solidFill>
              </a:rPr>
              <a:t>(최신)와 </a:t>
            </a:r>
            <a:r>
              <a:rPr lang="en-US" sz="900" b="1" dirty="0">
                <a:solidFill>
                  <a:srgbClr val="1E293B"/>
                </a:solidFill>
              </a:rPr>
              <a:t>outdated 청크</a:t>
            </a:r>
            <a:r>
              <a:rPr lang="en-US" sz="900" dirty="0">
                <a:solidFill>
                  <a:srgbClr val="1E293B"/>
                </a:solidFill>
              </a:rPr>
              <a:t>(과거)가 함께 포함되어, 모델이 </a:t>
            </a:r>
            <a:r>
              <a:rPr lang="en-US" sz="900" b="1" dirty="0">
                <a:solidFill>
                  <a:srgbClr val="1E293B"/>
                </a:solidFill>
              </a:rPr>
              <a:t>시간적 맥락</a:t>
            </a:r>
            <a:r>
              <a:rPr lang="en-US" sz="900" dirty="0">
                <a:solidFill>
                  <a:srgbClr val="1E293B"/>
                </a:solidFill>
              </a:rPr>
              <a:t>에 따라 올바른 정보를 선택해야 하는 충돌 상황을 구현한다. </a:t>
            </a:r>
            <a:br>
              <a:rPr lang="en-US" sz="900" dirty="0">
                <a:solidFill>
                  <a:srgbClr val="1E293B"/>
                </a:solidFill>
              </a:rPr>
            </a:br>
            <a:r>
              <a:rPr lang="en-US" sz="900" dirty="0" err="1">
                <a:solidFill>
                  <a:srgbClr val="1E293B"/>
                </a:solidFill>
              </a:rPr>
              <a:t>하나의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b="1" dirty="0">
                <a:solidFill>
                  <a:srgbClr val="1E293B"/>
                </a:solidFill>
              </a:rPr>
              <a:t>original_question</a:t>
            </a:r>
            <a:r>
              <a:rPr lang="en-US" sz="900" dirty="0">
                <a:solidFill>
                  <a:srgbClr val="1E293B"/>
                </a:solidFill>
              </a:rPr>
              <a:t>에서 3가지 모드의 질문이 파생된다: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current_raw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원본 질문(original_question)을 </a:t>
            </a:r>
            <a:r>
              <a:rPr lang="en-US" sz="900" b="1" dirty="0">
                <a:solidFill>
                  <a:srgbClr val="1E293B"/>
                </a:solidFill>
              </a:rPr>
              <a:t>변환 없이 그대로</a:t>
            </a:r>
            <a:r>
              <a:rPr lang="en-US" sz="900" dirty="0">
                <a:solidFill>
                  <a:srgbClr val="1E293B"/>
                </a:solidFill>
              </a:rPr>
              <a:t> new_question에 사용.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E293B"/>
                </a:solidFill>
              </a:rPr>
              <a:t>시간적 힌트가 없으므로</a:t>
            </a:r>
            <a:r>
              <a:rPr lang="en-US" sz="900" dirty="0">
                <a:solidFill>
                  <a:srgbClr val="1E293B"/>
                </a:solidFill>
              </a:rPr>
              <a:t>, current/outdated 청크가 동시에 주어졌을 때 모델이 어떤 답을 선택하는지 테스트하는 </a:t>
            </a:r>
            <a:r>
              <a:rPr lang="en-US" sz="900" b="1" dirty="0">
                <a:solidFill>
                  <a:srgbClr val="1E293B"/>
                </a:solidFill>
              </a:rPr>
              <a:t>충돌 상황용 모드</a:t>
            </a:r>
            <a:r>
              <a:rPr lang="en-US" sz="90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9184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LLM이 원본 질문을 기반으로, </a:t>
            </a:r>
            <a:r>
              <a:rPr lang="en-US" sz="900" b="1" dirty="0">
                <a:solidFill>
                  <a:srgbClr val="1E293B"/>
                </a:solidFill>
              </a:rPr>
              <a:t>"최신 시점"을 명시</a:t>
            </a:r>
            <a:r>
              <a:rPr lang="en-US" sz="900" dirty="0">
                <a:solidFill>
                  <a:srgbClr val="1E293B"/>
                </a:solidFill>
              </a:rPr>
              <a:t>하는 표현을 추가하여 질문을 재구성한 모드.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예) "~의 인구는?"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→ "가장 최근 인구조사 기준, ~의 인구는?"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정답은 </a:t>
            </a:r>
            <a:r>
              <a:rPr lang="en-US" sz="900" b="1" dirty="0">
                <a:solidFill>
                  <a:srgbClr val="1E293B"/>
                </a:solidFill>
              </a:rPr>
              <a:t>current 청크</a:t>
            </a:r>
            <a:r>
              <a:rPr lang="en-US" sz="900" dirty="0">
                <a:solidFill>
                  <a:srgbClr val="1E293B"/>
                </a:solidFill>
              </a:rPr>
              <a:t>의 최신 정보.</a:t>
            </a:r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3383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2648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outdated_{</a:t>
            </a:r>
            <a:r>
              <a:rPr lang="en-US" sz="11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LLM이 원본 질문을 기반으로, </a:t>
            </a:r>
            <a:r>
              <a:rPr lang="en-US" sz="900" b="1" dirty="0">
                <a:solidFill>
                  <a:srgbClr val="1E293B"/>
                </a:solidFill>
              </a:rPr>
              <a:t>"특정 과거 시점"을 지칭</a:t>
            </a:r>
            <a:r>
              <a:rPr lang="en-US" sz="900" dirty="0">
                <a:solidFill>
                  <a:srgbClr val="1E293B"/>
                </a:solidFill>
              </a:rPr>
              <a:t>하는 표현을 추가하여 질문을 재구성한 모드.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예) "~의 인구는?"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→ "이전 인구조사 기준, ~의 인구는?"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정답은 해당 </a:t>
            </a:r>
            <a:r>
              <a:rPr lang="en-US" sz="900" b="1" dirty="0">
                <a:solidFill>
                  <a:srgbClr val="1E293B"/>
                </a:solidFill>
              </a:rPr>
              <a:t>outdated 청크</a:t>
            </a:r>
            <a:r>
              <a:rPr lang="en-US" sz="900" dirty="0">
                <a:solidFill>
                  <a:srgbClr val="1E293B"/>
                </a:solidFill>
              </a:rPr>
              <a:t>의 과거 정보.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인덱스가 </a:t>
            </a:r>
            <a:r>
              <a:rPr lang="en-US" sz="900" b="1" dirty="0">
                <a:solidFill>
                  <a:srgbClr val="1E293B"/>
                </a:solidFill>
              </a:rPr>
              <a:t>클수록 더 오래된 시점</a:t>
            </a:r>
            <a:r>
              <a:rPr lang="en-US" sz="900" dirty="0">
                <a:solidFill>
                  <a:srgbClr val="1E293B"/>
                </a:solidFill>
              </a:rPr>
              <a:t>을 의미.</a:t>
            </a:r>
          </a:p>
        </p:txBody>
      </p:sp>
    </p:spTree>
    <p:extLst>
      <p:ext uri="{BB962C8B-B14F-4D97-AF65-F5344CB8AC3E}">
        <p14:creationId xmlns:p14="http://schemas.microsoft.com/office/powerpoint/2010/main" val="9358172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1 — 과학/분류학: 효모 학명 변경 (idx: 0)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 (original_question):
</a:t>
            </a:r>
            <a:r>
              <a:rPr lang="en-US" sz="850" i="1" dirty="0">
                <a:solidFill>
                  <a:srgbClr val="64748B"/>
                </a:solidFill>
              </a:rPr>
              <a:t>"What is the name of the yeast that can be used to ferment gluconolactone to ethanol and carbon dioxide?"
</a:t>
            </a:r>
            <a:r>
              <a:rPr lang="en-US" sz="850" dirty="0">
                <a:solidFill>
                  <a:srgbClr val="64748B"/>
                </a:solidFill>
              </a:rPr>
              <a:t>(글루코노락톤을 에탄올과 이산화탄소로 발효시킬 수 있는 효모의 이름은 무엇인가?)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57200" y="1417320"/>
          <a:ext cx="8229600" cy="171704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is the name of the yeast that can be used to ferment gluconolactone to ethanol and carbon dioxide?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글루코노락톤을 에탄올과 이산화탄소로 발효시킬 수 있는 효모의 이름은 무엇인가?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Maudiozyma bulderi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When the latest research on yeast was conducted, what was the name of the yeast that can be used to ferment gluconolactone to ethanol and carbon dioxide?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최신 효모 연구가 수행되었을 때, 글루코노락톤을 발효시킬 수 있는 효모의 이름은?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Maudiozyma bulderi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type of yeast was used to ferment gluconolactone to ethanol and carbon dioxide before the recent reclassification of yeast species?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최근 효모 종의 재분류 이전에, 글루코노락톤을 발효시키는 데 사용된 효모는?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Saccharomyces bulderi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6135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</a:rPr>
              <a:t>제공되는 청크 (chunks): </a:t>
            </a:r>
            <a:r>
              <a:rPr lang="en-US" sz="850" dirty="0">
                <a:solidFill>
                  <a:srgbClr val="1E293B"/>
                </a:solidFill>
              </a:rPr>
              <a:t>총 6개 (current 1개, outdated 1개, distractor 4개)
</a:t>
            </a:r>
            <a:r>
              <a:rPr lang="en-US" sz="850" b="1" dirty="0">
                <a:solidFill>
                  <a:srgbClr val="2563EB"/>
                </a:solidFill>
              </a:rPr>
              <a:t>  current 청크 </a:t>
            </a:r>
            <a:r>
              <a:rPr lang="en-US" sz="850" dirty="0">
                <a:solidFill>
                  <a:srgbClr val="1E293B"/>
                </a:solidFill>
              </a:rPr>
              <a:t>(수정일: 2024-07-01): "...the yeast Maudiozyma bulderi can ferment gluconolactone..."
</a:t>
            </a:r>
            <a:r>
              <a:rPr lang="en-US" sz="850" b="1" dirty="0">
                <a:solidFill>
                  <a:srgbClr val="DC2626"/>
                </a:solidFill>
              </a:rPr>
              <a:t>  outdated 청크 </a:t>
            </a:r>
            <a:r>
              <a:rPr lang="en-US" sz="850" dirty="0">
                <a:solidFill>
                  <a:srgbClr val="1E293B"/>
                </a:solidFill>
              </a:rPr>
              <a:t>(수정일: 2024-06-01): "...the yeast Saccharomyces bulderi can ferment gluconolactone..."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3931919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393191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학명 재분류라는 실제 과학적 변화를 반영. 동일 문장에서 효모 이름만 바뀌어 있어, 모델이 시간 맥락에 따라 올바른 학명을 선택해야 함.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2 — 경찰서장 교체 (idx: 15)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"Who is the current chief of the Fullerton Police Department?"
</a:t>
            </a:r>
            <a:r>
              <a:rPr lang="en-US" sz="850" dirty="0">
                <a:solidFill>
                  <a:srgbClr val="64748B"/>
                </a:solidFill>
              </a:rPr>
              <a:t>(현재 풀러턴 경찰서장은 누구인가?)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325880"/>
          <a:ext cx="8229600" cy="152400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Who is the current chief of the Fullerton Police Department?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현재 풀러턴 경찰서장은 누구인가?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Jon Radus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Who is the current chief of the Fullerton Police Department at the present time?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현 시점에서 풀러턴 경찰서장은 누구인가?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Jon Radus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Who was the chief of the Fullerton Police Department shortly before the chief stepped down due to health concerns?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서장이 건강 문제로 사임하기 직전 풀러턴 경찰서장은 누구였는가?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David Hendricks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2976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E293B"/>
                </a:solidFill>
              </a:rPr>
              <a:t>제공되는 청크: </a:t>
            </a:r>
            <a:r>
              <a:rPr lang="en-US" sz="850" dirty="0">
                <a:solidFill>
                  <a:srgbClr val="1E293B"/>
                </a:solidFill>
              </a:rPr>
              <a:t>총 10개 (current 2개, outdated 1개, distractor 7개)
</a:t>
            </a:r>
            <a:r>
              <a:rPr lang="en-US" sz="850" b="1" dirty="0">
                <a:solidFill>
                  <a:srgbClr val="2563EB"/>
                </a:solidFill>
              </a:rPr>
              <a:t>  current 청크 </a:t>
            </a:r>
            <a:r>
              <a:rPr lang="en-US" sz="850" dirty="0">
                <a:solidFill>
                  <a:srgbClr val="1E293B"/>
                </a:solidFill>
              </a:rPr>
              <a:t>(수정일: 2024-12-01): "...The current chief is Jon Radus..."
</a:t>
            </a:r>
            <a:r>
              <a:rPr lang="en-US" sz="850" b="1" dirty="0">
                <a:solidFill>
                  <a:srgbClr val="DC2626"/>
                </a:solidFill>
              </a:rPr>
              <a:t>  outdated 청크 </a:t>
            </a:r>
            <a:r>
              <a:rPr lang="en-US" sz="850" dirty="0">
                <a:solidFill>
                  <a:srgbClr val="1E293B"/>
                </a:solidFill>
              </a:rPr>
              <a:t>(수정일: 2024-11-01): "...The current chief is David Hendricks..."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3647440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364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인사 교체라는 현실적 변화 반영. outdated 질문에서 "건강 문제로 사임하기 직전"이라는 간접적 시간 표현 사용.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3 — 수상 실적 변화 (idx: 534)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"How many times has The Washington Post won the Pulitzer Prize for its work?"
</a:t>
            </a:r>
            <a:r>
              <a:rPr lang="en-US" sz="850" dirty="0">
                <a:solidFill>
                  <a:srgbClr val="64748B"/>
                </a:solidFill>
              </a:rPr>
              <a:t>(워싱턴 포스트는 퓰리처상을 몇 번 수상했는가?)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25880"/>
          <a:ext cx="8229600" cy="162052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has The Washington Post won the Pulitzer Prize for its work?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워싱턴 포스트는 퓰리처상을 몇 번 수상했는가?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has The Washington Post won the Pulitzer Prize for its work as of the latest available information?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최신 정보 기준으로, 워싱턴 포스트는 퓰리처상을 몇 번 수상했는가?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76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had The Washington Post won the Pulitzer Prize for its work when the newspaper was still owned by the Graham family?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워싱턴 포스트가 아직 그레이엄 가문 소유였을 때, 퓰리처상을 몇 번 수상한 상태였는가?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73400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4"/>
          <p:cNvSpPr/>
          <p:nvPr/>
        </p:nvSpPr>
        <p:spPr>
          <a:xfrm>
            <a:off x="640080" y="307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누적 수상 횟수가 시간에 따라 증가하는 패턴. outdated 질문에서 "그레이엄 가문 소유 시절"이라는 역사적 맥락으로 시점을 특정.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4 — 스포츠 선수 이적: 3단계 시간 레이어 (idx: 569)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"Which team does Callum Crawford play for in the National Lacrosse League?"
</a:t>
            </a:r>
            <a:r>
              <a:rPr lang="en-US" sz="850" dirty="0">
                <a:solidFill>
                  <a:srgbClr val="64748B"/>
                </a:solidFill>
              </a:rPr>
              <a:t>(Callum Crawford는 내셔널 라크로스 리그(NLL)에서 어느 팀 소속인가?)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325880"/>
          <a:ext cx="8229600" cy="202692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Which team does Callum Crawford play for in the National Lacrosse League?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Callum Crawford는 내셔널 라크로스 리그(NLL)에서 어느 팀 소속인가?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Philadelphia Wings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Which team does Callum Crawford play for in the National Lacrosse League at the time of the latest update?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최신 업데이트 기준, Callum Crawford는 NLL 어느 팀 소속인가?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Philadelphia Wings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Which team did Callum Crawford play for in the National Lacrosse League before signing with the Philadelphia Wings?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Philadelphia Wings와 계약하기 전, Callum Crawford는 NLL 어느 팀이었는가?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Panther City LC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Which team did Callum Crawford play for in the National Lacrosse League shortly before being drafted in the NLL Dispersal Draft?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NLL Dispersal Draft에서 드래프트되기 직전, Callum Crawford는 어느 팀이었는가?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San Diego Seals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9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제공되는 청크: </a:t>
            </a:r>
            <a:r>
              <a:rPr lang="en-US" sz="850" dirty="0">
                <a:solidFill>
                  <a:srgbClr val="1E293B"/>
                </a:solidFill>
              </a:rPr>
              <a:t>총 4개 (current 1개, outdated 2개, distractor 1개)
</a:t>
            </a:r>
            <a:r>
              <a:rPr lang="en-US" sz="800" dirty="0">
                <a:solidFill>
                  <a:srgbClr val="64748B"/>
                </a:solidFill>
              </a:rPr>
              <a:t>  current (2024-12-01): Philadelphia Wings  |  outdated_0 (2024-09-01): Panther City LC  |  outdated_1 (2024-10-01): San Diego Seals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3967479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5"/>
          <p:cNvSpPr/>
          <p:nvPr/>
        </p:nvSpPr>
        <p:spPr>
          <a:xfrm>
            <a:off x="640080" y="3967479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3단계 시간 레이어로 선수의 이적 이력을 추적. 각 시점마다 소속팀이 다르며, 모델은 질문의 시간적 맥락에 맞는 청크를 선택해야 함.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5 — 뉴질랜드 축구 대표팀 우승 기록 (idx: 547)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"How many times has New Zealand won the OFC Nations Cup?"
</a:t>
            </a:r>
            <a:r>
              <a:rPr lang="en-US" sz="850" dirty="0">
                <a:solidFill>
                  <a:srgbClr val="64748B"/>
                </a:solidFill>
              </a:rPr>
              <a:t>(뉴질랜드는 OFC 네이션스컵을 몇 번 우승했는가?)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325880"/>
          <a:ext cx="8229600" cy="162052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has New Zealand won the OFC Nations Cup?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뉴질랜드는 OFC 네이션스컵을 몇 번 우승했는가?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has New Zealand won the OFC Nations Cup as of the latest update?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최신 업데이트 기준, 뉴질랜드는 OFC 네이션스컵을 몇 번 우승했는가?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times had New Zealand won the OFC Nations Cup at the time they last participated in the FIFA Confederations Cup before the COVID-19 pandemic?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COVID-19 팬데믹 이전에 뉴질랜드가 마지막으로 FIFA 컨페더레이션스컵에 참가했을 시점까지, OFC 네이션스컵 우승 횟수는?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73400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307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누적 우승 횟수가 시간에 따라 증가. outdated 질문에서 "COVID-19 이전 마지막 컨페더레이션스컵 참가 시점"이라는 복합적 시간 참조 사용.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6 — 축구 기준 경기: 4단계 충돌 (idx: 103)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"What match is used as the reference point for the correctness of caps and goals?"
</a:t>
            </a:r>
            <a:r>
              <a:rPr lang="en-US" sz="850" dirty="0">
                <a:solidFill>
                  <a:srgbClr val="64748B"/>
                </a:solidFill>
              </a:rPr>
              <a:t>(출전 경기 수(caps)와 골 수(goals)의 정확성을 위한 기준 경기는 무엇인가?)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325880"/>
          <a:ext cx="8229600" cy="262636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match is used as the reference point for the correctness of caps and goals?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출전 경기 수(caps)와 골 수(goals)의 정확성을 위한 기준 경기는 무엇인가?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 second match against Kenya.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match is used as the reference point for the correctness of caps and goals at the time of the current squad selection?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현재 스쿼드 선발 시점 기준, caps와 goals 정확성의 기준 경기는?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 second match against Kenya.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When the policy regarding kit suppliers was being updated, what match was used as the reference point for the correctness of caps and goals?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유니폼 공급사 정책이 업데이트되던 시점에, 기준 경기는?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 match against Nigeria.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match is used as the reference point for the correctness of caps and goals before the Africa Cup of Nations qualification matches against Cape Verde?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아프리카 네이션스컵 카보베르데 예선전 이전에, 기준 경기는?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 match against Angola.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What match is used as the reference point for the correctness of caps and goals at the time of the Africa Cup of Nations qualification matches against Namibia and Zimbabwe?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아프리카 네이션스컵 나미비아·짐바브웨 예선전 시점에, 기준 경기는?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The match against Zimbabwe.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79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제공되는 청크: </a:t>
            </a:r>
            <a:r>
              <a:rPr lang="en-US" sz="850" dirty="0">
                <a:solidFill>
                  <a:srgbClr val="1E293B"/>
                </a:solidFill>
              </a:rPr>
              <a:t>총 10개 (current 2개, outdated 3개, distractor 5개)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338320"/>
            <a:ext cx="82296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4338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4단계에 걸쳐 기준 경기가 계속 바뀌는 복잡한 시간적 충돌. 각 outdated 질문이 서로 다른 시점을 이벤트 기반으로 지칭함.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부록  </a:t>
            </a: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예시 7 — Jan Oblak 주장 출전: 5단계 충돌 (idx: 177)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원본 질문: </a:t>
            </a:r>
            <a:r>
              <a:rPr lang="en-US" sz="850" i="1" dirty="0">
                <a:solidFill>
                  <a:srgbClr val="64748B"/>
                </a:solidFill>
              </a:rPr>
              <a:t>"How many matches did Jan Oblak start as the team captain?"
</a:t>
            </a:r>
            <a:r>
              <a:rPr lang="en-US" sz="850" dirty="0">
                <a:solidFill>
                  <a:srgbClr val="64748B"/>
                </a:solidFill>
              </a:rPr>
              <a:t>(Jan Oblak은 주장으로서 몇 경기에 선발 출전했는가?)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325880"/>
          <a:ext cx="8229600" cy="2529840"/>
        </p:xfrm>
        <a:graphic>
          <a:graphicData uri="http://schemas.openxmlformats.org/drawingml/2006/table">
            <a:tbl>
              <a:tblPr/>
              <a:tblGrid>
                <a:gridCol w="87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모드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new_question (영어 원문)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한글 번역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900" b="1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</a:rPr>
                        <a:t>current_raw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matches did Jan Oblak start as the team captain?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Jan Oblak은 주장으로서 몇 경기에 선발 출전했는가? 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matches did Jan Oblak start as the team captain as of the latest update?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최신 업데이트 기준, Jan Oblak의 주장 선발 출전 수는?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outdated_0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matches did Jan Oblak start as the team captain at the time the player records were last updated in the summer?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여름에 선수 기록이 마지막으로 업데이트되었을 때, 주장 선발 출전 수는?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outdated_1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As of the summer of the same year the national team played its first match against the Faroe Islands, which team captain started the most matches?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대표팀이 페로 제도와 첫 경기를 치른 해 여름 기준, 가장 많이 선발 출전한 주장은?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outdated_2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How many matches did Jan Oblak start as the team captain around the time the team's recent call-ups were announced?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최근 대표팀 소집 명단이 발표될 무렵, 주장 선발 출전 수는?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86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</a:rPr>
              <a:t>제공되는 청크: </a:t>
            </a:r>
            <a:r>
              <a:rPr lang="en-US" sz="850" dirty="0">
                <a:solidFill>
                  <a:srgbClr val="1E293B"/>
                </a:solidFill>
              </a:rPr>
              <a:t>총 10개 (current 2개, outdated 4개, distractor 4개)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57200" y="4145279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40080" y="4145279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</a:rPr>
              <a:t>→ 5단계의 시간 레이어에서 출전 수가 44→45→46→...→50으로 점진적으로 증가. 모델은 각 시점 표현을 정확히 해석하여 맞는 숫자를 골라야 함.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BE1E1-2960-E78E-3614-AD63D88D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DD56DD0-5C12-BCBD-9724-A6793380C3FD}"/>
              </a:ext>
            </a:extLst>
          </p:cNvPr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66B84F-EBA0-E28B-2455-549ED7ED7D4B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CC94F7-EADD-54B3-4896-86AB52E210EF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F90B95-588B-FC06-31FE-3637AAFA1890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지형도 ① — 데이터셋 및 평가 벤치마크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0C8AC158-4F1F-8715-546D-DD4F4E6C3CD0}"/>
              </a:ext>
            </a:extLst>
          </p:cNvPr>
          <p:cNvSpPr/>
          <p:nvPr/>
        </p:nvSpPr>
        <p:spPr>
          <a:xfrm>
            <a:off x="5595966" y="1454376"/>
            <a:ext cx="3264349" cy="27449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연구에 사용되는 데이터의 종류와 평가 기준을 분류합니다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시간적 문서 컬렉션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Temporal Document Collections):</a:t>
            </a:r>
            <a:r>
              <a:rPr lang="en" altLang="ko-KR" sz="1000" dirty="0"/>
              <a:t>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통시적 컬렉션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Diachronic):</a:t>
            </a:r>
            <a:r>
              <a:rPr lang="en" altLang="ko-KR" sz="1000" dirty="0"/>
              <a:t> </a:t>
            </a:r>
            <a:r>
              <a:rPr lang="ko-KR" altLang="en-US" sz="1000" dirty="0"/>
              <a:t>뉴스 아카이브처럼 시간에 따라 기록이 쌓이는 데이터</a:t>
            </a:r>
            <a:r>
              <a:rPr lang="en-US" altLang="ko-KR" sz="1000" dirty="0"/>
              <a:t>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공시적 컬렉션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Synchronic):</a:t>
            </a:r>
            <a:r>
              <a:rPr lang="en" altLang="ko-KR" sz="1000" dirty="0"/>
              <a:t> </a:t>
            </a:r>
            <a:r>
              <a:rPr lang="ko-KR" altLang="en-US" sz="1000" dirty="0"/>
              <a:t>위키피디아처럼 지속적으로 업데이트되는 데이터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000" b="1" dirty="0"/>
              <a:t>TQA </a:t>
            </a:r>
            <a:r>
              <a:rPr lang="ko-KR" altLang="en-US" sz="1000" b="1" dirty="0"/>
              <a:t>데이터셋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TQA Datasets):</a:t>
            </a:r>
            <a:r>
              <a:rPr lang="en" altLang="ko-KR" sz="1000" dirty="0"/>
              <a:t> 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000" b="1" dirty="0"/>
              <a:t>Simple QA:</a:t>
            </a:r>
            <a:r>
              <a:rPr lang="en" altLang="ko-KR" sz="1000" dirty="0"/>
              <a:t> </a:t>
            </a:r>
            <a:r>
              <a:rPr lang="ko-KR" altLang="en-US" sz="1000" dirty="0"/>
              <a:t>단순한 시간 정보 확인을 요구하는 질문들</a:t>
            </a:r>
            <a:r>
              <a:rPr lang="en-US" altLang="ko-KR" sz="1000" dirty="0"/>
              <a:t>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R" sz="1000" b="1" dirty="0"/>
              <a:t>Complex QA:</a:t>
            </a:r>
            <a:r>
              <a:rPr lang="en" altLang="ko-KR" sz="1000" dirty="0"/>
              <a:t> </a:t>
            </a:r>
            <a:r>
              <a:rPr lang="ko-KR" altLang="en-US" sz="1000" dirty="0"/>
              <a:t>다단계 추론이나 복잡한 시간 관계 파악이 필요한 질문들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F3D114F-DCEB-4070-D35A-F4C5A7CE0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53312"/>
            <a:ext cx="5096172" cy="338518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74DCC17-B05F-1BB3-B009-A295D1B77EDE}"/>
              </a:ext>
            </a:extLst>
          </p:cNvPr>
          <p:cNvSpPr/>
          <p:nvPr/>
        </p:nvSpPr>
        <p:spPr>
          <a:xfrm>
            <a:off x="457200" y="1454376"/>
            <a:ext cx="4779818" cy="128882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70075-CB58-0171-4751-63AFD7E3731E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679009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204C-F9CD-44E0-2FCE-ADE49007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2875AD6-9E5B-352A-A95D-9C934C42DBA3}"/>
              </a:ext>
            </a:extLst>
          </p:cNvPr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7DDDDF-6A6D-25AA-CBF4-93CDB4F6D7B3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8CA5668-310A-77E5-AF49-5DAEA920382C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13B3F3-9910-5DE3-3839-78259E564049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지형도 ② — 시간적 세부 작업 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AAAFF01E-7BDA-FF8B-160B-59440BE4B42C}"/>
              </a:ext>
            </a:extLst>
          </p:cNvPr>
          <p:cNvSpPr/>
          <p:nvPr/>
        </p:nvSpPr>
        <p:spPr>
          <a:xfrm>
            <a:off x="5651051" y="1454376"/>
            <a:ext cx="3264349" cy="297575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1000" dirty="0"/>
              <a:t>TQA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해결하기 위해 선행되거나 병행되는 세부 기술적 과제들입니다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문서 날짜 추정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Document Dating):</a:t>
            </a:r>
            <a:r>
              <a:rPr lang="en" altLang="ko-KR" sz="1000" dirty="0"/>
              <a:t> </a:t>
            </a:r>
            <a:r>
              <a:rPr lang="ko-KR" altLang="en-US" sz="1000" dirty="0"/>
              <a:t>작성 시점이 불분명한 문서의 발행 연도를 추정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문서 초점 시간 추정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" altLang="ko-KR" sz="1000" b="1" dirty="0">
                <a:solidFill>
                  <a:srgbClr val="C00000"/>
                </a:solidFill>
              </a:rPr>
              <a:t>Document Focus Time Estimation):</a:t>
            </a:r>
            <a:r>
              <a:rPr lang="en" altLang="ko-KR" sz="1000" dirty="0">
                <a:solidFill>
                  <a:srgbClr val="C00000"/>
                </a:solidFill>
              </a:rPr>
              <a:t> </a:t>
            </a:r>
            <a:r>
              <a:rPr lang="ko-KR" altLang="en-US" sz="1000" dirty="0"/>
              <a:t>문서가 발행된 시점이 아닌</a:t>
            </a:r>
            <a:r>
              <a:rPr lang="en-US" altLang="ko-KR" sz="1000" dirty="0"/>
              <a:t>, </a:t>
            </a:r>
            <a:r>
              <a:rPr lang="ko-KR" altLang="en-US" sz="1000" dirty="0"/>
              <a:t>문서 내에서 실제로 다루고 있는 </a:t>
            </a:r>
            <a:r>
              <a:rPr lang="en-US" altLang="ko-KR" sz="1000" dirty="0"/>
              <a:t>'</a:t>
            </a:r>
            <a:r>
              <a:rPr lang="ko-KR" altLang="en-US" sz="1000" dirty="0"/>
              <a:t>사건의 시점</a:t>
            </a:r>
            <a:r>
              <a:rPr lang="en-US" altLang="ko-KR" sz="1000" dirty="0"/>
              <a:t>'</a:t>
            </a:r>
            <a:r>
              <a:rPr lang="ko-KR" altLang="en-US" sz="1000" dirty="0"/>
              <a:t>을 파악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시간적 질의 프로파일링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" altLang="ko-KR" sz="1000" b="1" dirty="0">
                <a:solidFill>
                  <a:srgbClr val="C00000"/>
                </a:solidFill>
              </a:rPr>
              <a:t>Temporal Query Profiling):</a:t>
            </a:r>
            <a:r>
              <a:rPr lang="en" altLang="ko-KR" sz="1000" dirty="0">
                <a:solidFill>
                  <a:srgbClr val="C00000"/>
                </a:solidFill>
              </a:rPr>
              <a:t> </a:t>
            </a:r>
            <a:r>
              <a:rPr lang="ko-KR" altLang="en-US" sz="1000" dirty="0"/>
              <a:t>질문 속에 숨겨진 시간적 의도를 분석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사건 발생 시간 추정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Event Occurrence Time Estimation):</a:t>
            </a:r>
            <a:r>
              <a:rPr lang="en" altLang="ko-KR" sz="1000" dirty="0"/>
              <a:t> </a:t>
            </a:r>
            <a:r>
              <a:rPr lang="ko-KR" altLang="en-US" sz="1000" dirty="0"/>
              <a:t>특정 사건이 정확히 언제 일어났는지 텍스트를 통해 도출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1B58466-6CA1-95B2-74CD-9CC4F1A3E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53312"/>
            <a:ext cx="5096172" cy="338518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70BEB17-50AC-570F-1FC7-84C91E2EDF1D}"/>
              </a:ext>
            </a:extLst>
          </p:cNvPr>
          <p:cNvSpPr/>
          <p:nvPr/>
        </p:nvSpPr>
        <p:spPr>
          <a:xfrm>
            <a:off x="438272" y="2571750"/>
            <a:ext cx="4779818" cy="86417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06BD-6DD1-4D55-7C54-00B1984C95D2}"/>
              </a:ext>
            </a:extLst>
          </p:cNvPr>
          <p:cNvSpPr txBox="1"/>
          <p:nvPr/>
        </p:nvSpPr>
        <p:spPr>
          <a:xfrm>
            <a:off x="6798439" y="437896"/>
            <a:ext cx="21237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https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://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arxiv.org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ko-KR" alt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pdf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/2505.20243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3EBF18-151C-0E7F-BAB4-73B6EE749DDF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4549214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D85B-F8EA-DFD1-9153-96F7712D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B613628B-B6A0-71BD-C4C9-FDAE4444B901}"/>
              </a:ext>
            </a:extLst>
          </p:cNvPr>
          <p:cNvSpPr/>
          <p:nvPr/>
        </p:nvSpPr>
        <p:spPr>
          <a:xfrm>
            <a:off x="292608" y="12700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rgbClr val="1E2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QA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분야</a:t>
            </a:r>
            <a:r>
              <a:rPr lang="en-US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ko-KR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</a:t>
            </a:r>
            <a:r>
              <a:rPr lang="ko-KR" alt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</a:t>
            </a:r>
            <a:endParaRPr lang="ko-KR" altLang="ko-KR" sz="2000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D955529-11BA-9D36-DDCF-4B62C272ED80}"/>
              </a:ext>
            </a:extLst>
          </p:cNvPr>
          <p:cNvSpPr/>
          <p:nvPr/>
        </p:nvSpPr>
        <p:spPr>
          <a:xfrm>
            <a:off x="274320" y="731520"/>
            <a:ext cx="8641080" cy="438912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B2AF661-097F-C932-0546-7661729490B5}"/>
              </a:ext>
            </a:extLst>
          </p:cNvPr>
          <p:cNvSpPr/>
          <p:nvPr/>
        </p:nvSpPr>
        <p:spPr>
          <a:xfrm>
            <a:off x="274320" y="731520"/>
            <a:ext cx="64008" cy="438912"/>
          </a:xfrm>
          <a:prstGeom prst="rect">
            <a:avLst/>
          </a:prstGeom>
          <a:solidFill>
            <a:srgbClr val="4A7E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7D088C-3B09-8515-399D-36A116E7BF52}"/>
              </a:ext>
            </a:extLst>
          </p:cNvPr>
          <p:cNvSpPr/>
          <p:nvPr/>
        </p:nvSpPr>
        <p:spPr>
          <a:xfrm>
            <a:off x="457200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</a:t>
            </a:r>
            <a:r>
              <a:rPr lang="ko-KR" alt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지형도 ③ — 접근 방식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1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r>
              <a:rPr lang="en-US" altLang="ko-KR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altLang="ko-KR" sz="10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96DE565A-F77E-8367-FB36-511AB5088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53312"/>
            <a:ext cx="5096172" cy="3385183"/>
          </a:xfrm>
          <a:prstGeom prst="rect">
            <a:avLst/>
          </a:prstGeom>
        </p:spPr>
      </p:pic>
      <p:sp>
        <p:nvSpPr>
          <p:cNvPr id="51" name="Text 29">
            <a:extLst>
              <a:ext uri="{FF2B5EF4-FFF2-40B4-BE49-F238E27FC236}">
                <a16:creationId xmlns:a16="http://schemas.microsoft.com/office/drawing/2014/main" id="{08641225-C86C-BB24-19F0-D2FA33B230AD}"/>
              </a:ext>
            </a:extLst>
          </p:cNvPr>
          <p:cNvSpPr/>
          <p:nvPr/>
        </p:nvSpPr>
        <p:spPr>
          <a:xfrm>
            <a:off x="5618000" y="1454376"/>
            <a:ext cx="3264349" cy="27449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/>
              <a:t>문제를 해결하기 위해 사용하는 기술적 방법론입니다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규칙 기반 및 통계 모델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Rule-Based &amp; Statistical Models):</a:t>
            </a:r>
            <a:r>
              <a:rPr lang="en" altLang="ko-KR" sz="1000" dirty="0"/>
              <a:t> </a:t>
            </a:r>
            <a:r>
              <a:rPr lang="ko-KR" altLang="en-US" sz="1000" dirty="0"/>
              <a:t>초기의 수작업 규칙이나 통계적 확률을 이용한 방식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/>
              <a:t>시간적 언어 모델 </a:t>
            </a:r>
            <a:r>
              <a:rPr lang="en-US" altLang="ko-KR" sz="1000" b="1" dirty="0"/>
              <a:t>(</a:t>
            </a:r>
            <a:r>
              <a:rPr lang="en" altLang="ko-KR" sz="1000" b="1" dirty="0"/>
              <a:t>Temporal Language Models</a:t>
            </a:r>
            <a:r>
              <a:rPr lang="en-US" altLang="ko-KR" sz="1000" b="1" dirty="0"/>
              <a:t>,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TLMs</a:t>
            </a:r>
            <a:r>
              <a:rPr lang="en" altLang="ko-KR" sz="1000" b="1" dirty="0"/>
              <a:t>):</a:t>
            </a:r>
            <a:r>
              <a:rPr lang="en" altLang="ko-KR" sz="1000" dirty="0"/>
              <a:t> </a:t>
            </a:r>
            <a:r>
              <a:rPr lang="ko-KR" altLang="en-US" sz="1000" dirty="0"/>
              <a:t>모델 학습 단계부터 시간 정보를 이해하도록 설계된 언어 모델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시간적 검색 증강 생성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" altLang="ko-KR" sz="1000" b="1" dirty="0">
                <a:solidFill>
                  <a:srgbClr val="C00000"/>
                </a:solidFill>
              </a:rPr>
              <a:t>Temporal RAG):</a:t>
            </a:r>
            <a:r>
              <a:rPr lang="en" altLang="ko-KR" sz="1000" dirty="0">
                <a:solidFill>
                  <a:srgbClr val="C00000"/>
                </a:solidFill>
              </a:rPr>
              <a:t> </a:t>
            </a:r>
            <a:r>
              <a:rPr lang="ko-KR" altLang="en-US" sz="1000" dirty="0"/>
              <a:t>외부의 최신 정보를 검색하여 답변 생성에 활용하는 기술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rgbClr val="C00000"/>
                </a:solidFill>
              </a:rPr>
              <a:t>시간적 추론 </a:t>
            </a:r>
            <a:r>
              <a:rPr lang="en-US" altLang="ko-KR" sz="1000" b="1" dirty="0">
                <a:solidFill>
                  <a:srgbClr val="C00000"/>
                </a:solidFill>
              </a:rPr>
              <a:t>(</a:t>
            </a:r>
            <a:r>
              <a:rPr lang="en" altLang="ko-KR" sz="1000" b="1" dirty="0">
                <a:solidFill>
                  <a:srgbClr val="C00000"/>
                </a:solidFill>
              </a:rPr>
              <a:t>Temporal Reasoning):</a:t>
            </a:r>
            <a:r>
              <a:rPr lang="en" altLang="ko-KR" sz="1000" dirty="0">
                <a:solidFill>
                  <a:srgbClr val="C00000"/>
                </a:solidFill>
              </a:rPr>
              <a:t> </a:t>
            </a:r>
            <a:r>
              <a:rPr lang="ko-KR" altLang="en-US" sz="1000" dirty="0"/>
              <a:t>여러 정보 간의 선후 관계</a:t>
            </a:r>
            <a:r>
              <a:rPr lang="en-US" altLang="ko-KR" sz="1000" dirty="0"/>
              <a:t>, </a:t>
            </a:r>
            <a:r>
              <a:rPr lang="ko-KR" altLang="en-US" sz="1000" dirty="0"/>
              <a:t>인과 관계를 논리적으로 연결하는 고도의 추론 능력</a:t>
            </a:r>
            <a:r>
              <a:rPr lang="en-US" altLang="ko-KR" sz="1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B05E5-7F4A-265E-18C7-B658E9E8033A}"/>
              </a:ext>
            </a:extLst>
          </p:cNvPr>
          <p:cNvSpPr txBox="1"/>
          <p:nvPr/>
        </p:nvSpPr>
        <p:spPr>
          <a:xfrm>
            <a:off x="7014117" y="4795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49F280-2BA4-2685-2645-8EAB2B27DEA8}"/>
              </a:ext>
            </a:extLst>
          </p:cNvPr>
          <p:cNvSpPr/>
          <p:nvPr/>
        </p:nvSpPr>
        <p:spPr>
          <a:xfrm>
            <a:off x="457200" y="3200058"/>
            <a:ext cx="4779818" cy="128882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7D9C57-4C42-120F-44E7-F99C10FD1B4D}"/>
              </a:ext>
            </a:extLst>
          </p:cNvPr>
          <p:cNvSpPr txBox="1"/>
          <p:nvPr/>
        </p:nvSpPr>
        <p:spPr>
          <a:xfrm>
            <a:off x="7242365" y="4860332"/>
            <a:ext cx="189943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Piryani et al. (2025), arXiv:2505.20243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243128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725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972992735]">
  <a:themeElements>
    <a:clrScheme name="Office">
      <a:dk1>
        <a:srgbClr val="000000"/>
      </a:dk1>
      <a:lt1>
        <a:srgbClr val="F8FAF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F6140F-79F6-C947-8C73-00E145AE0C5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0d887c8-87da-44c8-9086-603a4a25eab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23954</TotalTime>
  <Words>9348</Words>
  <Application>Microsoft Macintosh PowerPoint</Application>
  <PresentationFormat>화면 슬라이드 쇼(16:9)</PresentationFormat>
  <Paragraphs>1193</Paragraphs>
  <Slides>48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4" baseType="lpstr">
      <vt:lpstr>Arial</vt:lpstr>
      <vt:lpstr>Arial Black</vt:lpstr>
      <vt:lpstr>Calibri</vt:lpstr>
      <vt:lpstr>Cambria Math</vt:lpstr>
      <vt:lpstr>Consolas</vt:lpstr>
      <vt:lpstr>Office Theme [1777972992735]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TV-RAG Professor Meeting</dc:title>
  <dc:subject>PptxGenJS Presentation</dc:subject>
  <dc:creator>PptxGenJS</dc:creator>
  <cp:lastModifiedBy>유진</cp:lastModifiedBy>
  <cp:revision>34</cp:revision>
  <dcterms:created xsi:type="dcterms:W3CDTF">2026-05-05T08:54:23Z</dcterms:created>
  <dcterms:modified xsi:type="dcterms:W3CDTF">2026-05-29T00:58:48Z</dcterms:modified>
</cp:coreProperties>
</file>