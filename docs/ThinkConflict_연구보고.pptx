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8016" cy="1828800"/>
          </a:xfrm>
          <a:prstGeom prst="rect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210312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73A52"/>
                </a:solidFill>
                <a:latin typeface="맑은 고딕"/>
              </a:rPr>
              <a:t>Lost in Translation from Thought to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6B7480"/>
                </a:solidFill>
                <a:latin typeface="맑은 고딕"/>
              </a:rPr>
              <a:t>Investigating Reasoning-Answer Inconsistency in RAG Conflicts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47472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2227"/>
                </a:solidFill>
                <a:latin typeface="맑은 고딕"/>
              </a:rPr>
              <a:t>연구 여정 회고 및 연구 계획서 보고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98932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6B7480"/>
                </a:solidFill>
                <a:latin typeface="맑은 고딕"/>
              </a:rPr>
              <a:t>투고 목표: ACL / EMNLP Main, Long Paper (Diagnostic &amp; Interpretability Track)   ·   2026-07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73A52"/>
                </a:solidFill>
                <a:latin typeface="맑은 고딕"/>
              </a:rPr>
              <a:t>연구 여정: V1~V3에서 ThinkConflict로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23544"/>
            <a:ext cx="11094415" cy="0"/>
          </a:xfrm>
          <a:prstGeom prst="line">
            <a:avLst/>
          </a:prstGeom>
          <a:ln w="15875">
            <a:solidFill>
              <a:srgbClr val="27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033272"/>
            <a:ext cx="11094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480"/>
                </a:solidFill>
                <a:latin typeface="맑은 고딕"/>
              </a:rPr>
              <a:t>시간충돌 RAG 세 차례 시도의 성과·한계를 검토하고, 현재 주제로 전환한 배경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35608"/>
          <a:ext cx="11094413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3083"/>
                <a:gridCol w="3144166"/>
                <a:gridCol w="3458582"/>
                <a:gridCol w="3458582"/>
              </a:tblGrid>
              <a:tr h="8961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80" b="1">
                          <a:solidFill>
                            <a:srgbClr val="273A52"/>
                          </a:solidFill>
                          <a:latin typeface="맑은 고딕"/>
                        </a:rPr>
                        <a:t>버전</a:t>
                      </a:r>
                    </a:p>
                  </a:txBody>
                  <a:tcPr marL="82296" marR="82296" marT="45720" marB="45720" anchor="ctr">
                    <a:solidFill>
                      <a:srgbClr val="F4F5F7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80" b="1">
                          <a:solidFill>
                            <a:srgbClr val="273A52"/>
                          </a:solidFill>
                          <a:latin typeface="맑은 고딕"/>
                        </a:rPr>
                        <a:t>시도 내용</a:t>
                      </a:r>
                    </a:p>
                  </a:txBody>
                  <a:tcPr marL="82296" marR="82296" marT="45720" marB="45720" anchor="ctr">
                    <a:solidFill>
                      <a:srgbClr val="F4F5F7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80" b="1">
                          <a:solidFill>
                            <a:srgbClr val="273A52"/>
                          </a:solidFill>
                          <a:latin typeface="맑은 고딕"/>
                        </a:rPr>
                        <a:t>확보한 성과</a:t>
                      </a:r>
                    </a:p>
                  </a:txBody>
                  <a:tcPr marL="82296" marR="82296" marT="45720" marB="45720" anchor="ctr">
                    <a:solidFill>
                      <a:srgbClr val="F4F5F7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80" b="1">
                          <a:solidFill>
                            <a:srgbClr val="273A52"/>
                          </a:solidFill>
                          <a:latin typeface="맑은 고딕"/>
                        </a:rPr>
                        <a:t>직면한 한계 (전환 이유)</a:t>
                      </a:r>
                    </a:p>
                  </a:txBody>
                  <a:tcPr marL="82296" marR="82296" marT="45720" marB="45720" anchor="ctr">
                    <a:solidFill>
                      <a:srgbClr val="F4F5F7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60" b="1">
                          <a:solidFill>
                            <a:srgbClr val="273A52"/>
                          </a:solidFill>
                          <a:latin typeface="맑은 고딕"/>
                        </a:rPr>
                        <a:t>V1  TV-RAG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60" b="1">
                          <a:solidFill>
                            <a:srgbClr val="273A52"/>
                          </a:solidFill>
                          <a:latin typeface="맑은 고딕"/>
                        </a:rPr>
                        <a:t>(해소)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60" b="0">
                          <a:solidFill>
                            <a:srgbClr val="1E2227"/>
                          </a:solidFill>
                          <a:latin typeface="맑은 고딕"/>
                        </a:rPr>
                        <a:t>시간충돌 문서 선택을 곱셈보상 GRPO(R_answer×R_evidence)로 학습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60" b="0">
                          <a:solidFill>
                            <a:srgbClr val="1E2227"/>
                          </a:solidFill>
                          <a:latin typeface="맑은 고딕"/>
                        </a:rPr>
                        <a:t>진위≠시점유효성 문제정의 확립 · 보상설계·통제환경 구축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60" b="0">
                          <a:solidFill>
                            <a:srgbClr val="1E2227"/>
                          </a:solidFill>
                          <a:latin typeface="맑은 고딕"/>
                        </a:rPr>
                        <a:t>동시기 유사 RL 해소 연구 급증(Time Travel 등) → 방법 novelty 부족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60" b="1">
                          <a:solidFill>
                            <a:srgbClr val="273A52"/>
                          </a:solidFill>
                          <a:latin typeface="맑은 고딕"/>
                        </a:rPr>
                        <a:t>V2  평가맹점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60" b="1">
                          <a:solidFill>
                            <a:srgbClr val="273A52"/>
                          </a:solidFill>
                          <a:latin typeface="맑은 고딕"/>
                        </a:rPr>
                        <a:t>(측정 피벗)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60" b="0">
                          <a:solidFill>
                            <a:srgbClr val="1E2227"/>
                          </a:solidFill>
                          <a:latin typeface="맑은 고딕"/>
                        </a:rPr>
                        <a:t>표준 인용지표(CitePrec)가 틀린 시점 인용을 통과시키는 ★맹점 진단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60" b="0">
                          <a:solidFill>
                            <a:srgbClr val="1E2227"/>
                          </a:solidFill>
                          <a:latin typeface="맑은 고딕"/>
                        </a:rPr>
                        <a:t>5모델·n=48 실증으로 맹점 보편성 확인 · 충돌견딤=독립축 발견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60" b="0">
                          <a:solidFill>
                            <a:srgbClr val="1E2227"/>
                          </a:solidFill>
                          <a:latin typeface="맑은 고딕"/>
                        </a:rPr>
                        <a:t>측정+발견만으로는 Findings급 · "open만 취약" 가설이 반증됨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60" b="1">
                          <a:solidFill>
                            <a:srgbClr val="273A52"/>
                          </a:solidFill>
                          <a:latin typeface="맑은 고딕"/>
                        </a:rPr>
                        <a:t>V3  GoldCite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60" b="1">
                          <a:solidFill>
                            <a:srgbClr val="273A52"/>
                          </a:solidFill>
                          <a:latin typeface="맑은 고딕"/>
                        </a:rPr>
                        <a:t>(프레임 정교화)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60" b="0">
                          <a:solidFill>
                            <a:srgbClr val="1E2227"/>
                          </a:solidFill>
                          <a:latin typeface="맑은 고딕"/>
                        </a:rPr>
                        <a:t>인용을 시점-유효 기준으로 채점하는 GoldCite 지표 + 경량 완화 제안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60" b="0">
                          <a:solidFill>
                            <a:srgbClr val="1E2227"/>
                          </a:solidFill>
                          <a:latin typeface="맑은 고딕"/>
                        </a:rPr>
                        <a:t>인용평가 파이프라인 비대칭(인용만 답-기준=순환) 규명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60" b="0">
                          <a:solidFill>
                            <a:srgbClr val="1E2227"/>
                          </a:solidFill>
                          <a:latin typeface="맑은 고딕"/>
                        </a:rPr>
                        <a:t>GoldCite mechanism 기존재(KILT→GaRAGe) · sharp 시간충돌 데이터 실측 6%뿐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239512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273A52"/>
                </a:solidFill>
                <a:latin typeface="맑은 고딕"/>
              </a:rPr>
              <a:t>→ ThinkConflict:  </a:t>
            </a:r>
            <a:r>
              <a:rPr sz="1350" b="0">
                <a:solidFill>
                  <a:srgbClr val="1E2227"/>
                </a:solidFill>
                <a:latin typeface="맑은 고딕"/>
              </a:rPr>
              <a:t>관측대상(인용 → 사고궤적 &lt;think&gt;) · 범위(시간충돌 → 일반 지식충돌) · 기여수준(측정 → 인과개입) 세 축을 전환하여 포화·데이터희소·선점위험을 동시 우회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B7480"/>
                </a:solidFill>
                <a:latin typeface="맑은 고딕"/>
              </a:rPr>
              <a:t>연구 여정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맑은 고딕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73A52"/>
                </a:solidFill>
                <a:latin typeface="맑은 고딕"/>
              </a:rPr>
              <a:t>연구 계획서 목차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23544"/>
            <a:ext cx="11094415" cy="0"/>
          </a:xfrm>
          <a:prstGeom prst="line">
            <a:avLst/>
          </a:prstGeom>
          <a:ln w="15875">
            <a:solidFill>
              <a:srgbClr val="27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61872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1600"/>
              </a:spcBef>
            </a:pPr>
            <a:r>
              <a:rPr sz="1900" b="1">
                <a:solidFill>
                  <a:srgbClr val="273A52"/>
                </a:solidFill>
                <a:latin typeface="맑은 고딕"/>
              </a:rPr>
              <a:t>1   </a:t>
            </a:r>
            <a:r>
              <a:rPr sz="1700" b="1">
                <a:solidFill>
                  <a:srgbClr val="1E2227"/>
                </a:solidFill>
                <a:latin typeface="맑은 고딕"/>
              </a:rPr>
              <a:t>서론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6B7480"/>
                </a:solidFill>
                <a:latin typeface="맑은 고딕"/>
              </a:rPr>
              <a:t>      배경 및 문제 정의 · 핵심 개념 구분 · 연구 질문</a:t>
            </a:r>
          </a:p>
          <a:p>
            <a:pPr>
              <a:lnSpc>
                <a:spcPct val="110000"/>
              </a:lnSpc>
              <a:spcBef>
                <a:spcPts val="1600"/>
              </a:spcBef>
            </a:pPr>
            <a:r>
              <a:rPr sz="1900" b="1">
                <a:solidFill>
                  <a:srgbClr val="273A52"/>
                </a:solidFill>
                <a:latin typeface="맑은 고딕"/>
              </a:rPr>
              <a:t>2   </a:t>
            </a:r>
            <a:r>
              <a:rPr sz="1700" b="1">
                <a:solidFill>
                  <a:srgbClr val="1E2227"/>
                </a:solidFill>
                <a:latin typeface="맑은 고딕"/>
              </a:rPr>
              <a:t>관련 연구 및 카테고리화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6B7480"/>
                </a:solidFill>
                <a:latin typeface="맑은 고딕"/>
              </a:rPr>
              <a:t>      충돌 진단 · 충돌 완화 · 추론 일관성 · 개념 경계와 통제</a:t>
            </a:r>
          </a:p>
          <a:p>
            <a:pPr>
              <a:lnSpc>
                <a:spcPct val="110000"/>
              </a:lnSpc>
              <a:spcBef>
                <a:spcPts val="1600"/>
              </a:spcBef>
            </a:pPr>
            <a:r>
              <a:rPr sz="1900" b="1">
                <a:solidFill>
                  <a:srgbClr val="273A52"/>
                </a:solidFill>
                <a:latin typeface="맑은 고딕"/>
              </a:rPr>
              <a:t>3   </a:t>
            </a:r>
            <a:r>
              <a:rPr sz="1700" b="1">
                <a:solidFill>
                  <a:srgbClr val="1E2227"/>
                </a:solidFill>
                <a:latin typeface="맑은 고딕"/>
              </a:rPr>
              <a:t>연구 방법론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6B7480"/>
                </a:solidFill>
                <a:latin typeface="맑은 고딕"/>
              </a:rPr>
              <a:t>      데이터셋 · 진단 프로토콜(지표) · 3대 실험(진단·귀속통제·인과)</a:t>
            </a:r>
          </a:p>
          <a:p>
            <a:pPr>
              <a:lnSpc>
                <a:spcPct val="110000"/>
              </a:lnSpc>
              <a:spcBef>
                <a:spcPts val="1600"/>
              </a:spcBef>
            </a:pPr>
            <a:r>
              <a:rPr sz="1900" b="1">
                <a:solidFill>
                  <a:srgbClr val="273A52"/>
                </a:solidFill>
                <a:latin typeface="맑은 고딕"/>
              </a:rPr>
              <a:t>4   </a:t>
            </a:r>
            <a:r>
              <a:rPr sz="1700" b="1">
                <a:solidFill>
                  <a:srgbClr val="1E2227"/>
                </a:solidFill>
                <a:latin typeface="맑은 고딕"/>
              </a:rPr>
              <a:t>실험 결과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6B7480"/>
                </a:solidFill>
                <a:latin typeface="맑은 고딕"/>
              </a:rPr>
              <a:t>      실험별 예상 결과(가설) — 실측 후 대체</a:t>
            </a:r>
          </a:p>
          <a:p>
            <a:pPr>
              <a:lnSpc>
                <a:spcPct val="110000"/>
              </a:lnSpc>
              <a:spcBef>
                <a:spcPts val="1600"/>
              </a:spcBef>
            </a:pPr>
            <a:r>
              <a:rPr sz="1900" b="1">
                <a:solidFill>
                  <a:srgbClr val="273A52"/>
                </a:solidFill>
                <a:latin typeface="맑은 고딕"/>
              </a:rPr>
              <a:t>5   </a:t>
            </a:r>
            <a:r>
              <a:rPr sz="1700" b="1">
                <a:solidFill>
                  <a:srgbClr val="1E2227"/>
                </a:solidFill>
                <a:latin typeface="맑은 고딕"/>
              </a:rPr>
              <a:t>한계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6B7480"/>
                </a:solidFill>
                <a:latin typeface="맑은 고딕"/>
              </a:rPr>
              <a:t>      라벨 타당성 · 언어화 갭 · 스코프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B7480"/>
                </a:solidFill>
                <a:latin typeface="맑은 고딕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맑은 고딕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6B7480"/>
                </a:solidFill>
                <a:latin typeface="맑은 고딕"/>
              </a:rPr>
              <a:t>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73A52"/>
                </a:solidFill>
                <a:latin typeface="맑은 고딕"/>
              </a:rPr>
              <a:t>핵심 기여: 사고→답변 실패를 측정하는 진단 프레임워크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06424"/>
            <a:ext cx="11094415" cy="0"/>
          </a:xfrm>
          <a:prstGeom prst="line">
            <a:avLst/>
          </a:prstGeom>
          <a:ln w="15875">
            <a:solidFill>
              <a:srgbClr val="27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71016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</a:pPr>
            <a:r>
              <a:rPr sz="1400" b="0">
                <a:solidFill>
                  <a:srgbClr val="1E2227"/>
                </a:solidFill>
                <a:latin typeface="맑은 고딕"/>
              </a:rPr>
              <a:t>"추론 모델의 </a:t>
            </a:r>
            <a:r>
              <a:rPr sz="1400" b="1">
                <a:solidFill>
                  <a:srgbClr val="1E2227"/>
                </a:solidFill>
                <a:latin typeface="맑은 고딕"/>
              </a:rPr>
              <a:t>사고→답변 과정을 3단계 전환 행렬로 분해·정량화하는 진단 프레임워크</a:t>
            </a:r>
            <a:r>
              <a:rPr sz="1400" b="0">
                <a:solidFill>
                  <a:srgbClr val="1E2227"/>
                </a:solidFill>
                <a:latin typeface="맑은 고딕"/>
              </a:rPr>
              <a:t>를 제안하고, 이를 통해 </a:t>
            </a:r>
            <a:r>
              <a:rPr sz="1400" b="1">
                <a:solidFill>
                  <a:srgbClr val="1E2227"/>
                </a:solidFill>
                <a:latin typeface="맑은 고딕"/>
              </a:rPr>
              <a:t>추론-답변 불일치(AIR)</a:t>
            </a:r>
            <a:r>
              <a:rPr sz="1400" b="0">
                <a:solidFill>
                  <a:srgbClr val="1E2227"/>
                </a:solidFill>
                <a:latin typeface="맑은 고딕"/>
              </a:rPr>
              <a:t>를 비롯한 실패가 어느 단계에서 발생하는지 측정한다"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39696"/>
            <a:ext cx="3545738" cy="265176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273A52"/>
                </a:solidFill>
                <a:latin typeface="맑은 고딕"/>
              </a:rPr>
              <a:t>①  </a:t>
            </a:r>
            <a:r>
              <a:rPr sz="1350" b="1">
                <a:solidFill>
                  <a:srgbClr val="273A52"/>
                </a:solidFill>
                <a:latin typeface="맑은 고딕"/>
              </a:rPr>
              <a:t>진단 프레임워크 (핵심 기여)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200" b="1">
                <a:solidFill>
                  <a:srgbClr val="1E2227"/>
                </a:solidFill>
                <a:latin typeface="맑은 고딕"/>
              </a:rPr>
              <a:t>3단계 전환 행렬</a:t>
            </a:r>
            <a:r>
              <a:rPr sz="1200" b="0">
                <a:solidFill>
                  <a:srgbClr val="1E2227"/>
                </a:solidFill>
                <a:latin typeface="맑은 고딕"/>
              </a:rPr>
              <a:t>로 사고→답변 실패를 단계별 정량화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20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200" b="0">
                <a:solidFill>
                  <a:srgbClr val="1E2227"/>
                </a:solidFill>
                <a:latin typeface="맑은 고딕"/>
              </a:rPr>
              <a:t>그 안의 신규 지표: </a:t>
            </a:r>
            <a:r>
              <a:rPr sz="1200" b="1">
                <a:solidFill>
                  <a:srgbClr val="1E2227"/>
                </a:solidFill>
                <a:latin typeface="맑은 고딕"/>
              </a:rPr>
              <a:t>AIR</a:t>
            </a:r>
            <a:r>
              <a:rPr sz="1200" b="0">
                <a:solidFill>
                  <a:srgbClr val="1E2227"/>
                </a:solidFill>
                <a:latin typeface="맑은 고딕"/>
              </a:rPr>
              <a:t>(추론-답변 불일치율)·Shortcut 등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130" b="1">
                <a:solidFill>
                  <a:srgbClr val="6B7480"/>
                </a:solidFill>
                <a:latin typeface="맑은 고딕"/>
              </a:rPr>
              <a:t>현상 크기와 무관하게 측정 도구 자체가 1차 기여</a:t>
            </a:r>
            <a:r>
              <a:rPr sz="1130" b="0">
                <a:solidFill>
                  <a:srgbClr val="6B7480"/>
                </a:solidFill>
                <a:latin typeface="맑은 고딕"/>
              </a:rPr>
              <a:t> · §3.2 · 실험 1 (RQ1·RQ2)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2978" y="2139696"/>
            <a:ext cx="3545738" cy="265176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273A52"/>
                </a:solidFill>
                <a:latin typeface="맑은 고딕"/>
              </a:rPr>
              <a:t>②  </a:t>
            </a:r>
            <a:r>
              <a:rPr sz="1350" b="1">
                <a:solidFill>
                  <a:srgbClr val="273A52"/>
                </a:solidFill>
                <a:latin typeface="맑은 고딕"/>
              </a:rPr>
              <a:t>충돌 고유성 분리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200" b="1">
                <a:solidFill>
                  <a:srgbClr val="1E2227"/>
                </a:solidFill>
                <a:latin typeface="맑은 고딕"/>
              </a:rPr>
              <a:t>충돌 대조군</a:t>
            </a:r>
            <a:r>
              <a:rPr sz="1200" b="0">
                <a:solidFill>
                  <a:srgbClr val="1E2227"/>
                </a:solidFill>
                <a:latin typeface="맑은 고딕"/>
              </a:rPr>
              <a:t>으로 그 충돌 고유성을 분리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20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200" b="0">
                <a:solidFill>
                  <a:srgbClr val="1E2227"/>
                </a:solidFill>
                <a:latin typeface="맑은 고딕"/>
              </a:rPr>
              <a:t>충돌 vs 비충돌/상보 대조군 비교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20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200" b="0">
                <a:solidFill>
                  <a:srgbClr val="1E2227"/>
                </a:solidFill>
                <a:latin typeface="맑은 고딕"/>
              </a:rPr>
              <a:t>난이도·문서 수 효과와 구분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130" b="0">
                <a:solidFill>
                  <a:srgbClr val="6B7480"/>
                </a:solidFill>
                <a:latin typeface="맑은 고딕"/>
              </a:rPr>
              <a:t>실험 2 귀속 통제 (RQ3)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7316" y="2139696"/>
            <a:ext cx="3545738" cy="265176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273A52"/>
                </a:solidFill>
                <a:latin typeface="맑은 고딕"/>
              </a:rPr>
              <a:t>③  </a:t>
            </a:r>
            <a:r>
              <a:rPr sz="1350" b="1">
                <a:solidFill>
                  <a:srgbClr val="273A52"/>
                </a:solidFill>
                <a:latin typeface="맑은 고딕"/>
              </a:rPr>
              <a:t>인과적 지점 규명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200" b="1">
                <a:solidFill>
                  <a:srgbClr val="1E2227"/>
                </a:solidFill>
                <a:latin typeface="맑은 고딕"/>
              </a:rPr>
              <a:t>인과 개입</a:t>
            </a:r>
            <a:r>
              <a:rPr sz="1200" b="0">
                <a:solidFill>
                  <a:srgbClr val="1E2227"/>
                </a:solidFill>
                <a:latin typeface="맑은 고딕"/>
              </a:rPr>
              <a:t>으로 그 인과적 지점을 규명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20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200" b="0">
                <a:solidFill>
                  <a:srgbClr val="1E2227"/>
                </a:solidFill>
                <a:latin typeface="맑은 고딕"/>
              </a:rPr>
              <a:t>truncation · resampling (생성 조작만으로 구현)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20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200" b="0">
                <a:solidFill>
                  <a:srgbClr val="1E2227"/>
                </a:solidFill>
                <a:latin typeface="맑은 고딕"/>
              </a:rPr>
              <a:t>사고→답변의 실제 인과 사용(L-b) 검증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130" b="0">
                <a:solidFill>
                  <a:srgbClr val="6B7480"/>
                </a:solidFill>
                <a:latin typeface="맑은 고딕"/>
              </a:rPr>
              <a:t>실험 3 인과 개입 (RQ4)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56048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150" b="0">
                <a:solidFill>
                  <a:srgbClr val="1E2227"/>
                </a:solidFill>
                <a:latin typeface="맑은 고딕"/>
              </a:rPr>
              <a:t>프레임워크를 자동화한 오픈소스 툴킷 </a:t>
            </a:r>
            <a:r>
              <a:rPr sz="1150" b="1">
                <a:solidFill>
                  <a:srgbClr val="1E2227"/>
                </a:solidFill>
                <a:latin typeface="맑은 고딕"/>
              </a:rPr>
              <a:t>ThinkConflict-Diagnoser</a:t>
            </a:r>
            <a:r>
              <a:rPr sz="1150" b="0">
                <a:solidFill>
                  <a:srgbClr val="1E2227"/>
                </a:solidFill>
                <a:latin typeface="맑은 고딕"/>
              </a:rPr>
              <a:t> 공개 — 임의의 추론 모델·완화 기법을 동일 프로토콜로 진단(부록 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522976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150" b="0">
                <a:solidFill>
                  <a:srgbClr val="6B7480"/>
                </a:solidFill>
                <a:latin typeface="맑은 고딕"/>
              </a:rPr>
              <a:t>투고 목표: </a:t>
            </a:r>
            <a:r>
              <a:rPr sz="1150" b="1">
                <a:solidFill>
                  <a:srgbClr val="6B7480"/>
                </a:solidFill>
                <a:latin typeface="맑은 고딕"/>
              </a:rPr>
              <a:t>ACL / EMNLP Main (Long Paper)</a:t>
            </a:r>
            <a:r>
              <a:rPr sz="1150" b="0">
                <a:solidFill>
                  <a:srgbClr val="6B7480"/>
                </a:solidFill>
                <a:latin typeface="맑은 고딕"/>
              </a:rPr>
              <a:t> · 진단 및 해석가능성 중심 (Diagnostic &amp; Interpretability Track)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B7480"/>
                </a:solidFill>
                <a:latin typeface="맑은 고딕"/>
              </a:rPr>
              <a:t>연구 개요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맑은 고딕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6B7480"/>
                </a:solidFill>
                <a:latin typeface="맑은 고딕"/>
              </a:rPr>
              <a:t>§1.1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73A52"/>
                </a:solidFill>
                <a:latin typeface="맑은 고딕"/>
              </a:rPr>
              <a:t>배경 및 문제 정의 (1) : 외부 문맥 간 충돌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06424"/>
            <a:ext cx="11094415" cy="0"/>
          </a:xfrm>
          <a:prstGeom prst="line">
            <a:avLst/>
          </a:prstGeom>
          <a:ln w="15875">
            <a:solidFill>
              <a:srgbClr val="27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61872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</a:pPr>
            <a:r>
              <a:rPr sz="1350" b="0">
                <a:solidFill>
                  <a:srgbClr val="1E2227"/>
                </a:solidFill>
                <a:latin typeface="맑은 고딕"/>
              </a:rPr>
              <a:t>검색 증강 생성(RAG)은 외부 지식을 활용해 대형언어모델(LLM)의 신뢰성을 제고하는 핵심 기술이지만, 실제 웹 검색 환경(In-the-wild)에서는 동일한 질의에 대해 상충되는 정보들이 동시에 반환되는 </a:t>
            </a:r>
            <a:r>
              <a:rPr sz="1350" b="1">
                <a:solidFill>
                  <a:srgbClr val="1E2227"/>
                </a:solidFill>
                <a:latin typeface="맑은 고딕"/>
              </a:rPr>
              <a:t>외부 문맥 간 충돌(Inter-Context Conflict)</a:t>
            </a:r>
            <a:r>
              <a:rPr sz="1350" b="0">
                <a:solidFill>
                  <a:srgbClr val="1E2227"/>
                </a:solidFill>
                <a:latin typeface="맑은 고딕"/>
              </a:rPr>
              <a:t>이 빈번히 발생합니다.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410047" cy="192024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/>
            <a:r>
              <a:rPr sz="3400" b="1">
                <a:solidFill>
                  <a:srgbClr val="273A52"/>
                </a:solidFill>
                <a:latin typeface="맑은 고딕"/>
              </a:rPr>
              <a:t>64.8%</a:t>
            </a:r>
            <a:r>
              <a:rPr sz="1400" b="0">
                <a:solidFill>
                  <a:srgbClr val="6B7480"/>
                </a:solidFill>
                <a:latin typeface="맑은 고딕"/>
              </a:rPr>
              <a:t>  (297 / 458건)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250" b="0">
                <a:solidFill>
                  <a:srgbClr val="1E2227"/>
                </a:solidFill>
                <a:latin typeface="맑은 고딕"/>
              </a:rPr>
              <a:t>단일 출처만으로 답할 수 없어 </a:t>
            </a:r>
            <a:r>
              <a:rPr sz="1250" b="1">
                <a:solidFill>
                  <a:srgbClr val="1E2227"/>
                </a:solidFill>
                <a:latin typeface="맑은 고딕"/>
              </a:rPr>
              <a:t>여러 출처를 대조·종합</a:t>
            </a:r>
            <a:r>
              <a:rPr sz="1250" b="0">
                <a:solidFill>
                  <a:srgbClr val="1E2227"/>
                </a:solidFill>
                <a:latin typeface="맑은 고딕"/>
              </a:rPr>
              <a:t>해야 하는 질의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007" y="2148840"/>
            <a:ext cx="5410047" cy="192024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/>
            <a:r>
              <a:rPr sz="3400" b="1">
                <a:solidFill>
                  <a:srgbClr val="273A52"/>
                </a:solidFill>
                <a:latin typeface="맑은 고딕"/>
              </a:rPr>
              <a:t>39.7%</a:t>
            </a:r>
            <a:r>
              <a:rPr sz="1400" b="0">
                <a:solidFill>
                  <a:srgbClr val="6B7480"/>
                </a:solidFill>
                <a:latin typeface="맑은 고딕"/>
              </a:rPr>
              <a:t>  (182 / 458건)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250" b="0">
                <a:solidFill>
                  <a:srgbClr val="1E2227"/>
                </a:solidFill>
                <a:latin typeface="맑은 고딕"/>
              </a:rPr>
              <a:t>사실관계 모순·관점 차이·시간적 불일치 같은 </a:t>
            </a:r>
            <a:r>
              <a:rPr sz="1250" b="1">
                <a:solidFill>
                  <a:srgbClr val="1E2227"/>
                </a:solidFill>
                <a:latin typeface="맑은 고딕"/>
              </a:rPr>
              <a:t>명시적 상충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B7480"/>
                </a:solidFill>
                <a:latin typeface="맑은 고딕"/>
              </a:rPr>
              <a:t>출처: 실제 웹 검색 기반 RAG 충돌 벤치마크 CONFLICTS/DRAGged (Cattan et al., 2025, Table 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</a:pPr>
            <a:r>
              <a:rPr sz="1350" b="0">
                <a:solidFill>
                  <a:srgbClr val="1E2227"/>
                </a:solidFill>
                <a:latin typeface="맑은 고딕"/>
              </a:rPr>
              <a:t>"이러한 복수 문서 간의 모순과 상충은 모델이 신뢰할 수 있는 정보를 분별하지 못하게 하여, </a:t>
            </a:r>
            <a:r>
              <a:rPr sz="1350" b="1">
                <a:solidFill>
                  <a:srgbClr val="1E2227"/>
                </a:solidFill>
                <a:latin typeface="맑은 고딕"/>
              </a:rPr>
              <a:t>RAG 시스템의 답변 오류와 환각을 유발하는 주요 요인</a:t>
            </a:r>
            <a:r>
              <a:rPr sz="1350" b="0">
                <a:solidFill>
                  <a:srgbClr val="1E2227"/>
                </a:solidFill>
                <a:latin typeface="맑은 고딕"/>
              </a:rPr>
              <a:t>으로 작용합니다."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B7480"/>
                </a:solidFill>
                <a:latin typeface="맑은 고딕"/>
              </a:rPr>
              <a:t>§1.1 배경 및 문제 정의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맑은 고딕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6B7480"/>
                </a:solidFill>
                <a:latin typeface="맑은 고딕"/>
              </a:rPr>
              <a:t>§1.1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73A52"/>
                </a:solidFill>
                <a:latin typeface="맑은 고딕"/>
              </a:rPr>
              <a:t>배경 및 문제 정의 (2) : 왜 추론 모델(자발적 사고 채널)인가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06424"/>
            <a:ext cx="11094415" cy="0"/>
          </a:xfrm>
          <a:prstGeom prst="line">
            <a:avLst/>
          </a:prstGeom>
          <a:ln w="15875">
            <a:solidFill>
              <a:srgbClr val="27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353312"/>
            <a:ext cx="3423818" cy="352044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273A52"/>
                </a:solidFill>
                <a:latin typeface="맑은 고딕"/>
              </a:rPr>
              <a:t>기존 학계의 대응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5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150" b="0">
                <a:solidFill>
                  <a:srgbClr val="1E2227"/>
                </a:solidFill>
                <a:latin typeface="맑은 고딕"/>
              </a:rPr>
              <a:t>프롬프트 기반의 단계적 사고(CoT)나 성찰(Self-reflection)을 유도 (Asai 2024; Zhou 2023)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5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150" b="0">
                <a:solidFill>
                  <a:srgbClr val="1E2227"/>
                </a:solidFill>
                <a:latin typeface="맑은 고딕"/>
              </a:rPr>
              <a:t>외부 분류기·다중 에이전트 토론 등 복잡한 파이프라인을 도입하여 답변 성능을 높이려 시도 (MADAM-RAG; ConflictRAG; FaithfulRAG)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27322" y="2976372"/>
            <a:ext cx="310896" cy="274320"/>
          </a:xfrm>
          <a:prstGeom prst="rightArrow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3938" y="1353312"/>
            <a:ext cx="3423818" cy="352044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273A52"/>
                </a:solidFill>
                <a:latin typeface="맑은 고딕"/>
              </a:rPr>
              <a:t>프롬프트 CoT의 한계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50" b="0">
                <a:solidFill>
                  <a:srgbClr val="1E2227"/>
                </a:solidFill>
                <a:latin typeface="맑은 고딕"/>
              </a:rPr>
              <a:t>프롬프트로 강제한 CoT는 모델이 정답을 정당화하기 위해 사후에 설명을 꾸며내는 </a:t>
            </a:r>
            <a:r>
              <a:rPr sz="1150" b="1">
                <a:solidFill>
                  <a:srgbClr val="1E2227"/>
                </a:solidFill>
                <a:latin typeface="맑은 고딕"/>
              </a:rPr>
              <a:t>'사후 합리화(Unfaithful Rationalization)' 오염에 취약</a:t>
            </a:r>
            <a:r>
              <a:rPr sz="1150" b="0">
                <a:solidFill>
                  <a:srgbClr val="1E2227"/>
                </a:solidFill>
                <a:latin typeface="맑은 고딕"/>
              </a:rPr>
              <a:t> (Turpin 2023; Lanham 2023)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5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150" b="0">
                <a:solidFill>
                  <a:srgbClr val="1E2227"/>
                </a:solidFill>
                <a:latin typeface="맑은 고딕"/>
              </a:rPr>
              <a:t>모델의 진짜 정보 처리 과정을 투명하게 보여주지 못함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862620" y="2976372"/>
            <a:ext cx="310896" cy="274320"/>
          </a:xfrm>
          <a:prstGeom prst="rightArrow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19236" y="1353312"/>
            <a:ext cx="3423818" cy="352044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273A52"/>
                </a:solidFill>
                <a:latin typeface="맑은 고딕"/>
              </a:rPr>
              <a:t>본 연구의 선택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50" b="0">
                <a:solidFill>
                  <a:srgbClr val="1E2227"/>
                </a:solidFill>
                <a:latin typeface="맑은 고딕"/>
              </a:rPr>
              <a:t>인위적인 프롬프트 강제 없이도 모델 스스로 지식의 감지·대조·판정 과정을 투명하게 외부화하는 </a:t>
            </a:r>
            <a:r>
              <a:rPr sz="1150" b="1">
                <a:solidFill>
                  <a:srgbClr val="1E2227"/>
                </a:solidFill>
                <a:latin typeface="맑은 고딕"/>
              </a:rPr>
              <a:t>추론 모델(Reasoning LLM)</a:t>
            </a:r>
            <a:r>
              <a:rPr sz="1150" b="0">
                <a:solidFill>
                  <a:srgbClr val="1E2227"/>
                </a:solidFill>
                <a:latin typeface="맑은 고딕"/>
              </a:rPr>
              <a:t>을 핵심 연구 대상으로 선택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080" b="0">
                <a:solidFill>
                  <a:srgbClr val="6B7480"/>
                </a:solidFill>
                <a:latin typeface="맑은 고딕"/>
              </a:rPr>
              <a:t>예: Qwen-Thinking, Olmo-Think 계열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56632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250" b="0">
                <a:solidFill>
                  <a:srgbClr val="1E2227"/>
                </a:solidFill>
                <a:latin typeface="맑은 고딕"/>
              </a:rPr>
              <a:t>"일반 모델이 입력에서 답변으로 곧장 도달하는 </a:t>
            </a:r>
            <a:r>
              <a:rPr sz="1250" b="1">
                <a:solidFill>
                  <a:srgbClr val="1E2227"/>
                </a:solidFill>
                <a:latin typeface="맑은 고딕"/>
              </a:rPr>
              <a:t>블랙박스</a:t>
            </a:r>
            <a:r>
              <a:rPr sz="1250" b="0">
                <a:solidFill>
                  <a:srgbClr val="1E2227"/>
                </a:solidFill>
                <a:latin typeface="맑은 고딕"/>
              </a:rPr>
              <a:t>라면, 명시적인 사고 채널(&lt;think&gt;)을 장착한 추론 모델은 </a:t>
            </a:r>
            <a:r>
              <a:rPr sz="1250" b="1">
                <a:solidFill>
                  <a:srgbClr val="1E2227"/>
                </a:solidFill>
                <a:latin typeface="맑은 고딕"/>
              </a:rPr>
              <a:t>내재적이고 자발적인 사고 과정을 텍스트로</a:t>
            </a:r>
            <a:r>
              <a:rPr sz="1250" b="0">
                <a:solidFill>
                  <a:srgbClr val="1E2227"/>
                </a:solidFill>
                <a:latin typeface="맑은 고딕"/>
              </a:rPr>
              <a:t> 드러냅니다."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7784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150" b="0">
                <a:solidFill>
                  <a:srgbClr val="6B7480"/>
                </a:solidFill>
                <a:latin typeface="맑은 고딕"/>
              </a:rPr>
              <a:t>+ 기존 완화 기법(프롬프트 유도·디코딩 개입 등)을 적용할 때에도, 해당 기법들이 모델의 내부 사고 궤적을 어떤 경로로 변화시켜 최종 답변에 이르게 하는지 </a:t>
            </a:r>
            <a:r>
              <a:rPr sz="1150" b="1">
                <a:solidFill>
                  <a:srgbClr val="6B7480"/>
                </a:solidFill>
                <a:latin typeface="맑은 고딕"/>
              </a:rPr>
              <a:t>동일한 진단 체계 내에서 함께 비교·분석</a:t>
            </a:r>
            <a:r>
              <a:rPr sz="1150" b="0">
                <a:solidFill>
                  <a:srgbClr val="6B7480"/>
                </a:solidFill>
                <a:latin typeface="맑은 고딕"/>
              </a:rPr>
              <a:t> (§3.3)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B7480"/>
                </a:solidFill>
                <a:latin typeface="맑은 고딕"/>
              </a:rPr>
              <a:t>§1.1 배경 및 문제 정의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맑은 고딕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6B7480"/>
                </a:solidFill>
                <a:latin typeface="맑은 고딕"/>
              </a:rPr>
              <a:t>§1.2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73A52"/>
                </a:solidFill>
                <a:latin typeface="맑은 고딕"/>
              </a:rPr>
              <a:t>핵심 개념 구분: 자기일관성 · 인과적 사용 · 충실성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06424"/>
            <a:ext cx="11094415" cy="0"/>
          </a:xfrm>
          <a:prstGeom prst="line">
            <a:avLst/>
          </a:prstGeom>
          <a:ln w="15875">
            <a:solidFill>
              <a:srgbClr val="27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16152"/>
            <a:ext cx="11094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480"/>
                </a:solidFill>
                <a:latin typeface="맑은 고딕"/>
              </a:rPr>
              <a:t>"무엇을 텍스트만으로 측정 가능한 것으로 주장하고, 무엇을 인과 개입으로만 주장 가능한 것으로 남기는지"를 결정 (Parcalabescu &amp; Frank, 2024)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18488"/>
            <a:ext cx="3576218" cy="411480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280" b="1">
                <a:solidFill>
                  <a:srgbClr val="273A52"/>
                </a:solidFill>
                <a:latin typeface="맑은 고딕"/>
              </a:rPr>
              <a:t>(L-a) 추론-답변 자기일관성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80" b="0">
                <a:solidFill>
                  <a:srgbClr val="1E2227"/>
                </a:solidFill>
                <a:latin typeface="맑은 고딕"/>
              </a:rPr>
              <a:t>모델이 &lt;think&gt;에서 내린 결론과 최종 답변(Text)의 내용이 </a:t>
            </a:r>
            <a:r>
              <a:rPr sz="1080" b="1">
                <a:solidFill>
                  <a:srgbClr val="1E2227"/>
                </a:solidFill>
                <a:latin typeface="맑은 고딕"/>
              </a:rPr>
              <a:t>논리적으로 일치하는가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8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80" b="0">
                <a:solidFill>
                  <a:srgbClr val="1E2227"/>
                </a:solidFill>
                <a:latin typeface="맑은 고딕"/>
              </a:rPr>
              <a:t>모델에 개입하지 않고 </a:t>
            </a:r>
            <a:r>
              <a:rPr sz="1080" b="1">
                <a:solidFill>
                  <a:srgbClr val="1E2227"/>
                </a:solidFill>
                <a:latin typeface="맑은 고딕"/>
              </a:rPr>
              <a:t>출력된 텍스트만으로 관측 가능</a:t>
            </a:r>
            <a:r>
              <a:rPr sz="1080" b="0">
                <a:solidFill>
                  <a:srgbClr val="1E2227"/>
                </a:solidFill>
                <a:latin typeface="맑은 고딕"/>
              </a:rPr>
              <a:t>한 속성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8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80" b="0">
                <a:solidFill>
                  <a:srgbClr val="1E2227"/>
                </a:solidFill>
                <a:latin typeface="맑은 고딕"/>
              </a:rPr>
              <a:t>&lt;think&gt;에서는 정답을 맞게 추론했으나 최종 답변에서 오답을 내는 </a:t>
            </a:r>
            <a:r>
              <a:rPr sz="1080" b="1">
                <a:solidFill>
                  <a:srgbClr val="1E2227"/>
                </a:solidFill>
                <a:latin typeface="맑은 고딕"/>
              </a:rPr>
              <a:t>추론-답변 불일치율(AIR)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8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80" b="0">
                <a:solidFill>
                  <a:srgbClr val="1E2227"/>
                </a:solidFill>
                <a:latin typeface="맑은 고딕"/>
              </a:rPr>
              <a:t>명시적 결론 없이 정답에 도달하는 </a:t>
            </a:r>
            <a:r>
              <a:rPr sz="1080" b="1">
                <a:solidFill>
                  <a:srgbClr val="1E2227"/>
                </a:solidFill>
                <a:latin typeface="맑은 고딕"/>
              </a:rPr>
              <a:t>암묵적 도약율(Shortcut)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010" b="0">
                <a:solidFill>
                  <a:srgbClr val="6B7480"/>
                </a:solidFill>
                <a:latin typeface="맑은 고딕"/>
              </a:rPr>
              <a:t>AIR을 출력 수준의 자기일관성 지표로 엄정히 규정 → 본 연구의 주력 측정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7738" y="1618488"/>
            <a:ext cx="3576218" cy="411480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280" b="1">
                <a:solidFill>
                  <a:srgbClr val="273A52"/>
                </a:solidFill>
                <a:latin typeface="맑은 고딕"/>
              </a:rPr>
              <a:t>(L-b) 인과적 사용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80" b="0">
                <a:solidFill>
                  <a:srgbClr val="1E2227"/>
                </a:solidFill>
                <a:latin typeface="맑은 고딕"/>
              </a:rPr>
              <a:t>&lt;think&gt;의 사고 과정이 최종 답변을 도출한 </a:t>
            </a:r>
            <a:r>
              <a:rPr sz="1080" b="1">
                <a:solidFill>
                  <a:srgbClr val="1E2227"/>
                </a:solidFill>
                <a:latin typeface="맑은 고딕"/>
              </a:rPr>
              <a:t>실질적 인과 원동력(Cause)</a:t>
            </a:r>
            <a:r>
              <a:rPr sz="1080" b="0">
                <a:solidFill>
                  <a:srgbClr val="1E2227"/>
                </a:solidFill>
                <a:latin typeface="맑은 고딕"/>
              </a:rPr>
              <a:t>으로 작동했는가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8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80" b="0">
                <a:solidFill>
                  <a:srgbClr val="1E2227"/>
                </a:solidFill>
                <a:latin typeface="맑은 고딕"/>
              </a:rPr>
              <a:t>텍스트 관측만으로는 증명 불가 → 사고 궤적을 강제로 자르거나(Truncation) 판정 이후를 재생성(Resampling)하는 </a:t>
            </a:r>
            <a:r>
              <a:rPr sz="1080" b="1">
                <a:solidFill>
                  <a:srgbClr val="1E2227"/>
                </a:solidFill>
                <a:latin typeface="맑은 고딕"/>
              </a:rPr>
              <a:t>인과 개입 실험으로만 검증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8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80" b="0">
                <a:solidFill>
                  <a:srgbClr val="1E2227"/>
                </a:solidFill>
                <a:latin typeface="맑은 고딕"/>
              </a:rPr>
              <a:t>개입 시 정답률 폭락 폭(</a:t>
            </a:r>
            <a:r>
              <a:rPr sz="1080" b="1">
                <a:solidFill>
                  <a:srgbClr val="1E2227"/>
                </a:solidFill>
                <a:latin typeface="맑은 고딕"/>
              </a:rPr>
              <a:t>ΔAccuracy</a:t>
            </a:r>
            <a:r>
              <a:rPr sz="1080" b="0">
                <a:solidFill>
                  <a:srgbClr val="1E2227"/>
                </a:solidFill>
                <a:latin typeface="맑은 고딕"/>
              </a:rPr>
              <a:t>)과 답변 변화율(</a:t>
            </a:r>
            <a:r>
              <a:rPr sz="1080" b="1">
                <a:solidFill>
                  <a:srgbClr val="1E2227"/>
                </a:solidFill>
                <a:latin typeface="맑은 고딕"/>
              </a:rPr>
              <a:t>ΔAIR</a:t>
            </a:r>
            <a:r>
              <a:rPr sz="1080" b="0">
                <a:solidFill>
                  <a:srgbClr val="1E2227"/>
                </a:solidFill>
                <a:latin typeface="맑은 고딕"/>
              </a:rPr>
              <a:t>) 지표로 측정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010" b="0">
                <a:solidFill>
                  <a:srgbClr val="6B7480"/>
                </a:solidFill>
                <a:latin typeface="맑은 고딕"/>
              </a:rPr>
              <a:t>이에 관한 주장은 §3.3 실험 2(인과 개입)에 한정하여 엄밀하게 제기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8066836" y="1618488"/>
            <a:ext cx="3576218" cy="411480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280" b="1">
                <a:solidFill>
                  <a:srgbClr val="273A52"/>
                </a:solidFill>
                <a:latin typeface="맑은 고딕"/>
              </a:rPr>
              <a:t>(L-c) 내부 연산에 대한 충실성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80" b="0">
                <a:solidFill>
                  <a:srgbClr val="1E2227"/>
                </a:solidFill>
                <a:latin typeface="맑은 고딕"/>
              </a:rPr>
              <a:t>표출한 생각(&lt;think&gt;)이 정답을 고른 </a:t>
            </a:r>
            <a:r>
              <a:rPr sz="1080" b="1">
                <a:solidFill>
                  <a:srgbClr val="1E2227"/>
                </a:solidFill>
                <a:latin typeface="맑은 고딕"/>
              </a:rPr>
              <a:t>'진짜 속마음(내부 연산)'을 정직하게 보여주는가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8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80" b="0">
                <a:solidFill>
                  <a:srgbClr val="1E2227"/>
                </a:solidFill>
                <a:latin typeface="맑은 고딕"/>
              </a:rPr>
              <a:t>Turpin (2023): 편향 힌트 때문에 답을 골랐으면서도, 사고 과정에서는 논리적으로 계산한 것처럼 </a:t>
            </a:r>
            <a:r>
              <a:rPr sz="1080" b="1">
                <a:solidFill>
                  <a:srgbClr val="1E2227"/>
                </a:solidFill>
                <a:latin typeface="맑은 고딕"/>
              </a:rPr>
              <a:t>가짜 변명을 지어냄</a:t>
            </a:r>
            <a:r>
              <a:rPr sz="1080" b="0">
                <a:solidFill>
                  <a:srgbClr val="1E2227"/>
                </a:solidFill>
                <a:latin typeface="맑은 고딕"/>
              </a:rPr>
              <a:t>(충실성 결여)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8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80" b="0">
                <a:solidFill>
                  <a:srgbClr val="1E2227"/>
                </a:solidFill>
                <a:latin typeface="맑은 고딕"/>
              </a:rPr>
              <a:t>'인위적 힌트 편향 실험'은 다루지 않으므로 </a:t>
            </a:r>
            <a:r>
              <a:rPr sz="1080" b="1">
                <a:solidFill>
                  <a:srgbClr val="1E2227"/>
                </a:solidFill>
                <a:latin typeface="맑은 고딕"/>
              </a:rPr>
              <a:t>핵심 연구 대상에서 제외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010" b="0">
                <a:solidFill>
                  <a:srgbClr val="6B7480"/>
                </a:solidFill>
                <a:latin typeface="맑은 고딕"/>
              </a:rPr>
              <a:t>&lt;think&gt;에서 오답 문서를 지지하고도 정답을 맞추는 현상을 불성실 추론율(Unfaithful Rate)로 §3.2 전환 행렬에서 관측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43016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6B7480"/>
                </a:solidFill>
                <a:latin typeface="맑은 고딕"/>
              </a:rPr>
              <a:t>AIR·Shortcut은 사고 채널이 답변과 분리된 </a:t>
            </a:r>
            <a:r>
              <a:rPr sz="1100" b="1">
                <a:solidFill>
                  <a:srgbClr val="6B7480"/>
                </a:solidFill>
                <a:latin typeface="맑은 고딕"/>
              </a:rPr>
              <a:t>Thought→Text 아키텍처에서만 정의</a:t>
            </a:r>
            <a:r>
              <a:rPr sz="1100" b="0">
                <a:solidFill>
                  <a:srgbClr val="6B7480"/>
                </a:solidFill>
                <a:latin typeface="맑은 고딕"/>
              </a:rPr>
              <a:t>되는 고유한 실패 양식 → 사고 채널을 끄고 켜는 </a:t>
            </a:r>
            <a:r>
              <a:rPr sz="1100" b="1">
                <a:solidFill>
                  <a:srgbClr val="6B7480"/>
                </a:solidFill>
                <a:latin typeface="맑은 고딕"/>
              </a:rPr>
              <a:t>thinking on/off 통제(Regime Control)</a:t>
            </a:r>
            <a:r>
              <a:rPr sz="1100" b="0">
                <a:solidFill>
                  <a:srgbClr val="6B7480"/>
                </a:solidFill>
                <a:latin typeface="맑은 고딕"/>
              </a:rPr>
              <a:t>로 귀속 분리 (§3.3)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B7480"/>
                </a:solidFill>
                <a:latin typeface="맑은 고딕"/>
              </a:rPr>
              <a:t>§1.2 개념 구분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맑은 고딕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6B7480"/>
                </a:solidFill>
                <a:latin typeface="맑은 고딕"/>
              </a:rPr>
              <a:t>§1.3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73A52"/>
                </a:solidFill>
                <a:latin typeface="맑은 고딕"/>
              </a:rPr>
              <a:t>연구 질문 (Research Questions)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06424"/>
            <a:ext cx="11094415" cy="0"/>
          </a:xfrm>
          <a:prstGeom prst="line">
            <a:avLst/>
          </a:prstGeom>
          <a:ln w="15875">
            <a:solidFill>
              <a:srgbClr val="27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353312"/>
            <a:ext cx="11094415" cy="1481328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273A52"/>
                </a:solidFill>
                <a:latin typeface="맑은 고딕"/>
              </a:rPr>
              <a:t>RQ1  ·  진단 및 불일치 위치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230" b="0">
                <a:solidFill>
                  <a:srgbClr val="1E2227"/>
                </a:solidFill>
                <a:latin typeface="맑은 고딕"/>
              </a:rPr>
              <a:t>Reasoning 모델은 외부 문맥 간 충돌 환경에서 사고 과정과 최종 답변 간의 </a:t>
            </a:r>
            <a:r>
              <a:rPr sz="1230" b="1">
                <a:solidFill>
                  <a:srgbClr val="1E2227"/>
                </a:solidFill>
                <a:latin typeface="맑은 고딕"/>
              </a:rPr>
              <a:t>자기일관성(L-a)을 유지하는가?</a:t>
            </a:r>
            <a:r>
              <a:rPr sz="1230" b="0">
                <a:solidFill>
                  <a:srgbClr val="1E2227"/>
                </a:solidFill>
                <a:latin typeface="맑은 고딕"/>
              </a:rPr>
              <a:t> 불일치가 관측된다면, 정보 처리의 어느 단계(</a:t>
            </a:r>
            <a:r>
              <a:rPr sz="1230" b="1">
                <a:solidFill>
                  <a:srgbClr val="1E2227"/>
                </a:solidFill>
                <a:latin typeface="맑은 고딕"/>
              </a:rPr>
              <a:t>인지 → 판정 → 최종 표출</a:t>
            </a:r>
            <a:r>
              <a:rPr sz="1230" b="0">
                <a:solidFill>
                  <a:srgbClr val="1E2227"/>
                </a:solidFill>
                <a:latin typeface="맑은 고딕"/>
              </a:rPr>
              <a:t>)에서 주로 단절이 발생하는가?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999232"/>
            <a:ext cx="11094415" cy="178308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273A52"/>
                </a:solidFill>
                <a:latin typeface="맑은 고딕"/>
              </a:rPr>
              <a:t>RQ2  ·  인과 규명 및 완화 기법 해부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23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230" b="0">
                <a:solidFill>
                  <a:srgbClr val="1E2227"/>
                </a:solidFill>
                <a:latin typeface="맑은 고딕"/>
              </a:rPr>
              <a:t>(a) 텍스트로 관측된 사고 결론은 최종 답변을 </a:t>
            </a:r>
            <a:r>
              <a:rPr sz="1230" b="1">
                <a:solidFill>
                  <a:srgbClr val="1E2227"/>
                </a:solidFill>
                <a:latin typeface="맑은 고딕"/>
              </a:rPr>
              <a:t>인과적으로 구동(L-b)</a:t>
            </a:r>
            <a:r>
              <a:rPr sz="1230" b="0">
                <a:solidFill>
                  <a:srgbClr val="1E2227"/>
                </a:solidFill>
                <a:latin typeface="맑은 고딕"/>
              </a:rPr>
              <a:t>하는가, 아니면 답변이 사고와 독립적으로 결정되는가?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23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230" b="0">
                <a:solidFill>
                  <a:srgbClr val="1E2227"/>
                </a:solidFill>
                <a:latin typeface="맑은 고딕"/>
              </a:rPr>
              <a:t>(b) 문헌 기반 RAG 완화 기법(CAD·Recency/Authority-Guided Prompting·Self-Reflection)을 적용할 때, 표면 정답률(EM) 상승분이 </a:t>
            </a:r>
            <a:r>
              <a:rPr sz="1230" b="1">
                <a:solidFill>
                  <a:srgbClr val="1E2227"/>
                </a:solidFill>
                <a:latin typeface="맑은 고딕"/>
              </a:rPr>
              <a:t>진정한 대조 논리</a:t>
            </a:r>
            <a:r>
              <a:rPr sz="1230" b="0">
                <a:solidFill>
                  <a:srgbClr val="1E2227"/>
                </a:solidFill>
                <a:latin typeface="맑은 고딕"/>
              </a:rPr>
              <a:t>에서 오는가, 아니면 </a:t>
            </a:r>
            <a:r>
              <a:rPr sz="1230" b="1">
                <a:solidFill>
                  <a:srgbClr val="1E2227"/>
                </a:solidFill>
                <a:latin typeface="맑은 고딕"/>
              </a:rPr>
              <a:t>암묵적 도약(Shortcut)·사후 합리화(Unfaithful)·맹목 적중(Blind-Hit) 경로</a:t>
            </a:r>
            <a:r>
              <a:rPr sz="1230" b="0">
                <a:solidFill>
                  <a:srgbClr val="1E2227"/>
                </a:solidFill>
                <a:latin typeface="맑은 고딕"/>
              </a:rPr>
              <a:t>에서 오는가?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946904"/>
            <a:ext cx="11094415" cy="1481328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273A52"/>
                </a:solidFill>
                <a:latin typeface="맑은 고딕"/>
              </a:rPr>
              <a:t>RQ3  ·  충돌 고유성 (대조군 분리)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230" b="0">
                <a:solidFill>
                  <a:srgbClr val="1E2227"/>
                </a:solidFill>
                <a:latin typeface="맑은 고딕"/>
              </a:rPr>
              <a:t>관측된 불일치(AIR)와 특이 경로는 </a:t>
            </a:r>
            <a:r>
              <a:rPr sz="1230" b="1">
                <a:solidFill>
                  <a:srgbClr val="1E2227"/>
                </a:solidFill>
                <a:latin typeface="맑은 고딕"/>
              </a:rPr>
              <a:t>충돌 상황에 고유한 실패</a:t>
            </a:r>
            <a:r>
              <a:rPr sz="1230" b="0">
                <a:solidFill>
                  <a:srgbClr val="1E2227"/>
                </a:solidFill>
                <a:latin typeface="맑은 고딕"/>
              </a:rPr>
              <a:t>인가, 아니면 단순히 문항 난이도·문서 개수 증가에 따른 부수 효과인가? 동일 모델·동일 질의에 대해 </a:t>
            </a:r>
            <a:r>
              <a:rPr sz="1230" b="1">
                <a:solidFill>
                  <a:srgbClr val="1E2227"/>
                </a:solidFill>
                <a:latin typeface="맑은 고딕"/>
              </a:rPr>
              <a:t>충돌 vs 비충돌/상보 대조군</a:t>
            </a:r>
            <a:r>
              <a:rPr sz="1230" b="0">
                <a:solidFill>
                  <a:srgbClr val="1E2227"/>
                </a:solidFill>
                <a:latin typeface="맑은 고딕"/>
              </a:rPr>
              <a:t>을 비교하여 충돌 고유 성분을 분리 (Longpre 2021; Xie 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B7480"/>
                </a:solidFill>
                <a:latin typeface="맑은 고딕"/>
              </a:rPr>
              <a:t>§1.3 연구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맑은 고딕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6B7480"/>
                </a:solidFill>
                <a:latin typeface="맑은 고딕"/>
              </a:rPr>
              <a:t>§2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73A52"/>
                </a:solidFill>
                <a:latin typeface="맑은 고딕"/>
              </a:rPr>
              <a:t>관련 연구 지형도와 본 연구의 위치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06424"/>
            <a:ext cx="11094415" cy="0"/>
          </a:xfrm>
          <a:prstGeom prst="line">
            <a:avLst/>
          </a:prstGeom>
          <a:ln w="15875">
            <a:solidFill>
              <a:srgbClr val="27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992727" y="1307592"/>
            <a:ext cx="4206240" cy="475488"/>
          </a:xfrm>
          <a:prstGeom prst="rect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RAG 지식 충돌 및 추론 진단 연구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866861.875" y="1783080"/>
            <a:ext cx="4228985.625" cy="384048"/>
          </a:xfrm>
          <a:prstGeom prst="line">
            <a:avLst/>
          </a:prstGeom>
          <a:ln w="1524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2167128"/>
            <a:ext cx="2636443" cy="214884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230" b="1">
                <a:solidFill>
                  <a:srgbClr val="273A52"/>
                </a:solidFill>
                <a:latin typeface="맑은 고딕"/>
              </a:rPr>
              <a:t>2.1 충돌 진단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19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19" b="0">
                <a:solidFill>
                  <a:srgbClr val="1E2227"/>
                </a:solidFill>
                <a:latin typeface="맑은 고딕"/>
              </a:rPr>
              <a:t>Xu et al. (EMNLP 2024)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19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19" b="0">
                <a:solidFill>
                  <a:srgbClr val="1E2227"/>
                </a:solidFill>
                <a:latin typeface="맑은 고딕"/>
              </a:rPr>
              <a:t>Cattan / DRAGged (2025)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19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19" b="0">
                <a:solidFill>
                  <a:srgbClr val="1E2227"/>
                </a:solidFill>
                <a:latin typeface="맑은 고딕"/>
              </a:rPr>
              <a:t>Wang / RAMDocs (COLM 2025)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4686185.625" y="1783080"/>
            <a:ext cx="1409661.875" cy="384048"/>
          </a:xfrm>
          <a:prstGeom prst="line">
            <a:avLst/>
          </a:prstGeom>
          <a:ln w="1524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367963" y="2167128"/>
            <a:ext cx="2636443" cy="214884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230" b="1">
                <a:solidFill>
                  <a:srgbClr val="273A52"/>
                </a:solidFill>
                <a:latin typeface="맑은 고딕"/>
              </a:rPr>
              <a:t>2.2 충돌 완화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19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19" b="0">
                <a:solidFill>
                  <a:srgbClr val="1E2227"/>
                </a:solidFill>
                <a:latin typeface="맑은 고딕"/>
              </a:rPr>
              <a:t>Self-RAG (ICLR 2024)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19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19" b="0">
                <a:solidFill>
                  <a:srgbClr val="1E2227"/>
                </a:solidFill>
                <a:latin typeface="맑은 고딕"/>
              </a:rPr>
              <a:t>CAD·CD2 (디코딩 개입)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19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19" b="0">
                <a:solidFill>
                  <a:srgbClr val="1E2227"/>
                </a:solidFill>
                <a:latin typeface="맑은 고딕"/>
              </a:rPr>
              <a:t>ConflictRAG · MADAM-RAG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19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19" b="0">
                <a:solidFill>
                  <a:srgbClr val="1E2227"/>
                </a:solidFill>
                <a:latin typeface="맑은 고딕"/>
              </a:rPr>
              <a:t>FaithfulRAG (ACL 2025)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5847.5" y="1783080"/>
            <a:ext cx="1409661.875" cy="384048"/>
          </a:xfrm>
          <a:prstGeom prst="line">
            <a:avLst/>
          </a:prstGeom>
          <a:ln w="1524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187287" y="2167128"/>
            <a:ext cx="2636443" cy="214884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230" b="1">
                <a:solidFill>
                  <a:srgbClr val="273A52"/>
                </a:solidFill>
                <a:latin typeface="맑은 고딕"/>
              </a:rPr>
              <a:t>2.3 추론 일관성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19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19" b="0">
                <a:solidFill>
                  <a:srgbClr val="1E2227"/>
                </a:solidFill>
                <a:latin typeface="맑은 고딕"/>
              </a:rPr>
              <a:t>Turpin · Lanham (2023)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19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19" b="0">
                <a:solidFill>
                  <a:srgbClr val="1E2227"/>
                </a:solidFill>
                <a:latin typeface="맑은 고딕"/>
              </a:rPr>
              <a:t>Li et al. (2026, 동시기)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19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19" b="0">
                <a:solidFill>
                  <a:srgbClr val="1E2227"/>
                </a:solidFill>
                <a:latin typeface="맑은 고딕"/>
              </a:rPr>
              <a:t>Bogdan · Macar (2025)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19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19" b="0">
                <a:solidFill>
                  <a:srgbClr val="1E2227"/>
                </a:solidFill>
                <a:latin typeface="맑은 고딕"/>
              </a:rPr>
              <a:t>Lee &amp; Hockenmaier (2025)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5847.5" y="1783080"/>
            <a:ext cx="4228985.625" cy="384048"/>
          </a:xfrm>
          <a:prstGeom prst="line">
            <a:avLst/>
          </a:prstGeom>
          <a:ln w="1524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06611" y="2167128"/>
            <a:ext cx="2636443" cy="214884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230" b="1">
                <a:solidFill>
                  <a:srgbClr val="273A52"/>
                </a:solidFill>
                <a:latin typeface="맑은 고딕"/>
              </a:rPr>
              <a:t>2.4 개념 경계·통제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19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19" b="0">
                <a:solidFill>
                  <a:srgbClr val="1E2227"/>
                </a:solidFill>
                <a:latin typeface="맑은 고딕"/>
              </a:rPr>
              <a:t>Parcalabescu &amp; Frank (2024)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19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19" b="0">
                <a:solidFill>
                  <a:srgbClr val="1E2227"/>
                </a:solidFill>
                <a:latin typeface="맑은 고딕"/>
              </a:rPr>
              <a:t>Longpre et al. (2021)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19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19" b="0">
                <a:solidFill>
                  <a:srgbClr val="1E2227"/>
                </a:solidFill>
                <a:latin typeface="맑은 고딕"/>
              </a:rPr>
              <a:t>Xie · ClashEval · Tug-of-War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66861.875" y="4315968"/>
            <a:ext cx="4228985.625" cy="384048"/>
          </a:xfrm>
          <a:prstGeom prst="line">
            <a:avLst/>
          </a:prstGeom>
          <a:ln w="1524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686185.625" y="4315968"/>
            <a:ext cx="1409661.875" cy="384048"/>
          </a:xfrm>
          <a:prstGeom prst="line">
            <a:avLst/>
          </a:prstGeom>
          <a:ln w="1524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095847.5" y="4315968"/>
            <a:ext cx="1409661.875" cy="384048"/>
          </a:xfrm>
          <a:prstGeom prst="line">
            <a:avLst/>
          </a:prstGeom>
          <a:ln w="1524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095847.5" y="4315968"/>
            <a:ext cx="4228985.625" cy="384048"/>
          </a:xfrm>
          <a:prstGeom prst="line">
            <a:avLst/>
          </a:prstGeom>
          <a:ln w="15240">
            <a:solidFill>
              <a:srgbClr val="D8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4700016"/>
            <a:ext cx="11094415" cy="1481328"/>
          </a:xfrm>
          <a:prstGeom prst="rect">
            <a:avLst/>
          </a:prstGeom>
          <a:solidFill>
            <a:srgbClr val="F4F5F7"/>
          </a:solidFill>
          <a:ln w="15240">
            <a:solidFill>
              <a:srgbClr val="27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/>
            <a:r>
              <a:rPr sz="1300" b="1">
                <a:solidFill>
                  <a:srgbClr val="273A52"/>
                </a:solidFill>
                <a:latin typeface="맑은 고딕"/>
              </a:rPr>
              <a:t>본 연구: 사고→답변 실패를 단계별 측정하는 진단 프레임워크</a:t>
            </a:r>
          </a:p>
          <a:p>
            <a:pPr>
              <a:lnSpc>
                <a:spcPct val="112000"/>
              </a:lnSpc>
              <a:spcBef>
                <a:spcPts val="400"/>
              </a:spcBef>
            </a:pPr>
            <a:r>
              <a:rPr sz="113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130" b="0">
                <a:solidFill>
                  <a:srgbClr val="1E2227"/>
                </a:solidFill>
                <a:latin typeface="맑은 고딕"/>
              </a:rPr>
              <a:t>3단계 전환 행렬로 사고→답변 실패를 단계별 정량화 (신규 지표 AIR 포함)</a:t>
            </a:r>
          </a:p>
          <a:p>
            <a:pPr>
              <a:lnSpc>
                <a:spcPct val="112000"/>
              </a:lnSpc>
              <a:spcBef>
                <a:spcPts val="400"/>
              </a:spcBef>
            </a:pPr>
            <a:r>
              <a:rPr sz="113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130" b="0">
                <a:solidFill>
                  <a:srgbClr val="1E2227"/>
                </a:solidFill>
                <a:latin typeface="맑은 고딕"/>
              </a:rPr>
              <a:t>충돌 vs 비충돌 대조군으로 충돌 고유성 분리</a:t>
            </a:r>
          </a:p>
          <a:p>
            <a:pPr>
              <a:lnSpc>
                <a:spcPct val="112000"/>
              </a:lnSpc>
              <a:spcBef>
                <a:spcPts val="400"/>
              </a:spcBef>
            </a:pPr>
            <a:r>
              <a:rPr sz="113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130" b="0">
                <a:solidFill>
                  <a:srgbClr val="1E2227"/>
                </a:solidFill>
                <a:latin typeface="맑은 고딕"/>
              </a:rPr>
              <a:t>truncation·resampling 인과 개입(생성 조작만으로 구현)으로 L-b(인과적 사용) 규명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B7480"/>
                </a:solidFill>
                <a:latin typeface="맑은 고딕"/>
              </a:rPr>
              <a:t>§2 관련 연구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맑은 고딕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6B7480"/>
                </a:solidFill>
                <a:latin typeface="맑은 고딕"/>
              </a:rPr>
              <a:t>§2.1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73A52"/>
                </a:solidFill>
                <a:latin typeface="맑은 고딕"/>
              </a:rPr>
              <a:t>RAG에서의 지식 충돌 진단 (Conflict Diagnosis)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06424"/>
            <a:ext cx="11094415" cy="0"/>
          </a:xfrm>
          <a:prstGeom prst="line">
            <a:avLst/>
          </a:prstGeom>
          <a:ln w="15875">
            <a:solidFill>
              <a:srgbClr val="27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353312"/>
            <a:ext cx="1109441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73A52"/>
                </a:solidFill>
                <a:latin typeface="맑은 고딕"/>
              </a:rPr>
              <a:t>▪ </a:t>
            </a:r>
            <a:r>
              <a:rPr sz="1300" b="1">
                <a:solidFill>
                  <a:srgbClr val="1E2227"/>
                </a:solidFill>
                <a:latin typeface="맑은 고딕"/>
              </a:rPr>
              <a:t>Xu et al. (EMNLP 2024)  ·  Knowledge Conflicts for LLMs: A Survey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60" b="0">
                <a:solidFill>
                  <a:srgbClr val="6B7480"/>
                </a:solidFill>
                <a:latin typeface="맑은 고딕"/>
              </a:rPr>
              <a:t>LLM이 직면하는 지식 충돌을 모델 내부 지식과 외부 문서가 상충하는 </a:t>
            </a:r>
            <a:r>
              <a:rPr sz="1160" b="1">
                <a:solidFill>
                  <a:srgbClr val="6B7480"/>
                </a:solidFill>
                <a:latin typeface="맑은 고딕"/>
              </a:rPr>
              <a:t>Context-Memory 충돌</a:t>
            </a:r>
            <a:r>
              <a:rPr sz="1160" b="0">
                <a:solidFill>
                  <a:srgbClr val="6B7480"/>
                </a:solidFill>
                <a:latin typeface="맑은 고딕"/>
              </a:rPr>
              <a:t>, 검색된 외부 문서들 간에 엇갈리는 </a:t>
            </a:r>
            <a:r>
              <a:rPr sz="1160" b="1">
                <a:solidFill>
                  <a:srgbClr val="6B7480"/>
                </a:solidFill>
                <a:latin typeface="맑은 고딕"/>
              </a:rPr>
              <a:t>Inter-Context 충돌</a:t>
            </a:r>
            <a:r>
              <a:rPr sz="1160" b="0">
                <a:solidFill>
                  <a:srgbClr val="6B7480"/>
                </a:solidFill>
                <a:latin typeface="맑은 고딕"/>
              </a:rPr>
              <a:t>, 모델 내부 지식 간 모순인 </a:t>
            </a:r>
            <a:r>
              <a:rPr sz="1160" b="1">
                <a:solidFill>
                  <a:srgbClr val="6B7480"/>
                </a:solidFill>
                <a:latin typeface="맑은 고딕"/>
              </a:rPr>
              <a:t>Intra-Memory 충돌</a:t>
            </a:r>
            <a:r>
              <a:rPr sz="1160" b="0">
                <a:solidFill>
                  <a:srgbClr val="6B7480"/>
                </a:solidFill>
                <a:latin typeface="맑은 고딕"/>
              </a:rPr>
              <a:t>의 3대 분류로 정립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23744"/>
            <a:ext cx="1109441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73A52"/>
                </a:solidFill>
                <a:latin typeface="맑은 고딕"/>
              </a:rPr>
              <a:t>▪ </a:t>
            </a:r>
            <a:r>
              <a:rPr sz="1300" b="1">
                <a:solidFill>
                  <a:srgbClr val="1E2227"/>
                </a:solidFill>
                <a:latin typeface="맑은 고딕"/>
              </a:rPr>
              <a:t>Cattan et al. (2025)  ·  DRAGged into Conflicts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60" b="0">
                <a:solidFill>
                  <a:srgbClr val="6B7480"/>
                </a:solidFill>
                <a:latin typeface="맑은 고딕"/>
              </a:rPr>
              <a:t>실제 구글 검색으로 반환된 웹 문서 기반 RAG 충돌 벤치마크. Table 2 기준 전체 458건을 No conflict(161) · Complementary(115) · Conflicting opinions(115) · Freshness(62) · Misinformation(5)로 라벨링 — 진짜 모순인 </a:t>
            </a:r>
            <a:r>
              <a:rPr sz="1160" b="1">
                <a:solidFill>
                  <a:srgbClr val="6B7480"/>
                </a:solidFill>
                <a:latin typeface="맑은 고딕"/>
              </a:rPr>
              <a:t>명시적 상충은 182건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94176"/>
            <a:ext cx="1109441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73A52"/>
                </a:solidFill>
                <a:latin typeface="맑은 고딕"/>
              </a:rPr>
              <a:t>▪ </a:t>
            </a:r>
            <a:r>
              <a:rPr sz="1300" b="1">
                <a:solidFill>
                  <a:srgbClr val="1E2227"/>
                </a:solidFill>
                <a:latin typeface="맑은 고딕"/>
              </a:rPr>
              <a:t>Wang et al. (COLM 2025)  ·  RAG with Conflicting Evidence (RAMDocs)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60" b="0">
                <a:solidFill>
                  <a:srgbClr val="6B7480"/>
                </a:solidFill>
                <a:latin typeface="맑은 고딕"/>
              </a:rPr>
              <a:t>문항당 평균 5.5개의 문서가 정답(correct)·오정보(misinfo)·노이즈(noise)로 혼재된 대규모 다중 문서 QA 벤치마크(500문항). 모호성·오정보·노이즈 공존 시 RAG의 오류 감지와 답변 거부(Refusal) 한계를 정량화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937760"/>
            <a:ext cx="11094415" cy="123444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273A52"/>
                </a:solidFill>
                <a:latin typeface="맑은 고딕"/>
              </a:rPr>
              <a:t>본 연구의 타겟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230" b="0">
                <a:solidFill>
                  <a:srgbClr val="1E2227"/>
                </a:solidFill>
                <a:latin typeface="맑은 고딕"/>
              </a:rPr>
              <a:t>"우리는 이 분류 중 실제 웹 검색 RAG에서 가장 빈번한 </a:t>
            </a:r>
            <a:r>
              <a:rPr sz="1230" b="1">
                <a:solidFill>
                  <a:srgbClr val="1E2227"/>
                </a:solidFill>
                <a:latin typeface="맑은 고딕"/>
              </a:rPr>
              <a:t>Inter-Context 충돌(외부 문서 간 상충)</a:t>
            </a:r>
            <a:r>
              <a:rPr sz="1230" b="0">
                <a:solidFill>
                  <a:srgbClr val="1E2227"/>
                </a:solidFill>
                <a:latin typeface="맑은 고딕"/>
              </a:rPr>
              <a:t>을 핵심 진단 대상으로 설정하고, DRAGged의 충돌 유형별로 모델의 반응 패턴을 진단합니다."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B7480"/>
                </a:solidFill>
                <a:latin typeface="맑은 고딕"/>
              </a:rPr>
              <a:t>§2.1 충돌 진단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6B7480"/>
                </a:solidFill>
                <a:latin typeface="맑은 고딕"/>
              </a:rPr>
              <a:t>§2.2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73A52"/>
                </a:solidFill>
                <a:latin typeface="맑은 고딕"/>
              </a:rPr>
              <a:t>Inter-Context 충돌 해결 시도와 그 한계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06424"/>
            <a:ext cx="11094415" cy="0"/>
          </a:xfrm>
          <a:prstGeom prst="line">
            <a:avLst/>
          </a:prstGeom>
          <a:ln w="15875">
            <a:solidFill>
              <a:srgbClr val="27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325880"/>
            <a:ext cx="1109441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1">
                <a:solidFill>
                  <a:srgbClr val="273A52"/>
                </a:solidFill>
                <a:latin typeface="맑은 고딕"/>
              </a:rPr>
              <a:t>▪ </a:t>
            </a:r>
            <a:r>
              <a:rPr sz="1180" b="1">
                <a:solidFill>
                  <a:srgbClr val="1E2227"/>
                </a:solidFill>
                <a:latin typeface="맑은 고딕"/>
              </a:rPr>
              <a:t>Self-RAG (Asai, ICLR 2024) : </a:t>
            </a:r>
            <a:r>
              <a:rPr sz="1100" b="0">
                <a:solidFill>
                  <a:srgbClr val="6B7480"/>
                </a:solidFill>
                <a:latin typeface="맑은 고딕"/>
              </a:rPr>
              <a:t>반성 토큰(Reflection tokens)을 학습시켜 검색 문서 관련성과 생성 답변 사실성을 모델 스스로 평가·제어하게 한 성찰 기반 RAG 프레임워크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84248"/>
            <a:ext cx="1109441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1">
                <a:solidFill>
                  <a:srgbClr val="273A52"/>
                </a:solidFill>
                <a:latin typeface="맑은 고딕"/>
              </a:rPr>
              <a:t>▪ </a:t>
            </a:r>
            <a:r>
              <a:rPr sz="1180" b="1">
                <a:solidFill>
                  <a:srgbClr val="1E2227"/>
                </a:solidFill>
                <a:latin typeface="맑은 고딕"/>
              </a:rPr>
              <a:t>디코딩 시점 개입 (CAD · CD2) : </a:t>
            </a:r>
            <a:r>
              <a:rPr sz="1100" b="0">
                <a:solidFill>
                  <a:srgbClr val="6B7480"/>
                </a:solidFill>
                <a:latin typeface="맑은 고딕"/>
              </a:rPr>
              <a:t>문맥 유무 두 분포의 로짓 차이를 대비 증폭하여 생성을 제공 문맥 쪽으로 밀어붙이거나(CAD; Shi 2024, AdaCAD 포함), 문서 간 충돌을 분리해 대비 디코딩(CD2; Jin 2024)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42616"/>
            <a:ext cx="1109441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1">
                <a:solidFill>
                  <a:srgbClr val="273A52"/>
                </a:solidFill>
                <a:latin typeface="맑은 고딕"/>
              </a:rPr>
              <a:t>▪ </a:t>
            </a:r>
            <a:r>
              <a:rPr sz="1180" b="1">
                <a:solidFill>
                  <a:srgbClr val="1E2227"/>
                </a:solidFill>
                <a:latin typeface="맑은 고딕"/>
              </a:rPr>
              <a:t>경량 감지 파이프라인 (ConflictRAG, 2026) : </a:t>
            </a:r>
            <a:r>
              <a:rPr sz="1100" b="0">
                <a:solidFill>
                  <a:srgbClr val="6B7480"/>
                </a:solidFill>
                <a:latin typeface="맑은 고딕"/>
              </a:rPr>
              <a:t>충돌을 임베딩 기반 MLP 분류기로 감지하고 Entropy-TOPSIS 순위 기법으로 출처 신뢰도를 평가해 유형별로 적합한 문서를 맞춤형 선별·해결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00984"/>
            <a:ext cx="1109441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1">
                <a:solidFill>
                  <a:srgbClr val="273A52"/>
                </a:solidFill>
                <a:latin typeface="맑은 고딕"/>
              </a:rPr>
              <a:t>▪ </a:t>
            </a:r>
            <a:r>
              <a:rPr sz="1180" b="1">
                <a:solidFill>
                  <a:srgbClr val="1E2227"/>
                </a:solidFill>
                <a:latin typeface="맑은 고딕"/>
              </a:rPr>
              <a:t>다중 에이전트 토론 (MADAM-RAG; Wang 2025) : </a:t>
            </a:r>
            <a:r>
              <a:rPr sz="1100" b="0">
                <a:solidFill>
                  <a:srgbClr val="6B7480"/>
                </a:solidFill>
                <a:latin typeface="맑은 고딕"/>
              </a:rPr>
              <a:t>상충되는 다중 외부 문서 각각에 대변인 LLM 에이전트를 할당하고 에이전트 간 다중 라운드 토론(Debate) 및 중앙 집계로 모호성·오정보 충돌을 동시 해소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59352"/>
            <a:ext cx="1109441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1">
                <a:solidFill>
                  <a:srgbClr val="273A52"/>
                </a:solidFill>
                <a:latin typeface="맑은 고딕"/>
              </a:rPr>
              <a:t>▪ </a:t>
            </a:r>
            <a:r>
              <a:rPr sz="1180" b="1">
                <a:solidFill>
                  <a:srgbClr val="1E2227"/>
                </a:solidFill>
                <a:latin typeface="맑은 고딕"/>
              </a:rPr>
              <a:t>사실 수준 충돌 모델링 (FaithfulRAG; Zhang, ACL 2025) : </a:t>
            </a:r>
            <a:r>
              <a:rPr sz="1100" b="0">
                <a:solidFill>
                  <a:srgbClr val="6B7480"/>
                </a:solidFill>
                <a:latin typeface="맑은 고딕"/>
              </a:rPr>
              <a:t>검색 문서의 사실 수준 충돌을 명시적으로 모델링하여 문맥 충실 생성을 유도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709160"/>
            <a:ext cx="11094415" cy="169164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273A52"/>
                </a:solidFill>
                <a:latin typeface="맑은 고딕"/>
              </a:rPr>
              <a:t>본 연구의 차별점 ①  자발적 내재 추론의 진단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60" b="0">
                <a:solidFill>
                  <a:srgbClr val="1E2227"/>
                </a:solidFill>
                <a:latin typeface="맑은 고딕"/>
              </a:rPr>
              <a:t>"기존의 외부 충돌 해결 연구들은 주로 외부 복잡한 파이프라인(분류기, 필터링)이나 다중 에이전트 토론, 프롬프트 성찰에 의존했습니다. 그러나 이는 </a:t>
            </a:r>
            <a:r>
              <a:rPr sz="1160" b="1">
                <a:solidFill>
                  <a:srgbClr val="1E2227"/>
                </a:solidFill>
                <a:latin typeface="맑은 고딕"/>
              </a:rPr>
              <a:t>단일 모델 내부가 실제로 충돌을 어떻게 인지하고 해소하는지를 보여주지 못하거나 사후 합리화 오염</a:t>
            </a:r>
            <a:r>
              <a:rPr sz="1160" b="0">
                <a:solidFill>
                  <a:srgbClr val="1E2227"/>
                </a:solidFill>
                <a:latin typeface="맑은 고딕"/>
              </a:rPr>
              <a:t>이 발생할 수 있습니다.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60" b="0">
                <a:solidFill>
                  <a:srgbClr val="1E2227"/>
                </a:solidFill>
                <a:latin typeface="맑은 고딕"/>
              </a:rPr>
              <a:t>본 연구는 인위적 파이프라인이나 프롬프트 유도 없이, </a:t>
            </a:r>
            <a:r>
              <a:rPr sz="1160" b="1">
                <a:solidFill>
                  <a:srgbClr val="1E2227"/>
                </a:solidFill>
                <a:latin typeface="맑은 고딕"/>
              </a:rPr>
              <a:t>추론 모델 스스로 전개하는 자발적 &lt;think&gt; 채널을 직접 진단하고 인과 개입</a:t>
            </a:r>
            <a:r>
              <a:rPr sz="1160" b="0">
                <a:solidFill>
                  <a:srgbClr val="1E2227"/>
                </a:solidFill>
                <a:latin typeface="맑은 고딕"/>
              </a:rPr>
              <a:t>합니다."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B7480"/>
                </a:solidFill>
                <a:latin typeface="맑은 고딕"/>
              </a:rPr>
              <a:t>§2.2 충돌 완화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6B7480"/>
                </a:solidFill>
                <a:latin typeface="맑은 고딕"/>
              </a:rPr>
              <a:t>§2.3 · §2.4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73A52"/>
                </a:solidFill>
                <a:latin typeface="맑은 고딕"/>
              </a:rPr>
              <a:t>추론 일관성 진단 방법론 · 개념 경계와 통제 설계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06424"/>
            <a:ext cx="11094415" cy="0"/>
          </a:xfrm>
          <a:prstGeom prst="line">
            <a:avLst/>
          </a:prstGeom>
          <a:ln w="15875">
            <a:solidFill>
              <a:srgbClr val="27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307592"/>
            <a:ext cx="5410047" cy="301752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273A52"/>
                </a:solidFill>
                <a:latin typeface="맑은 고딕"/>
              </a:rPr>
              <a:t>§2.3  LLM 추론 일관성 및 진단 방법론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7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70" b="1">
                <a:solidFill>
                  <a:srgbClr val="1E2227"/>
                </a:solidFill>
                <a:latin typeface="맑은 고딕"/>
              </a:rPr>
              <a:t>Lee &amp; Hockenmaier (2025)</a:t>
            </a:r>
            <a:r>
              <a:rPr sz="1070" b="0">
                <a:solidFill>
                  <a:srgbClr val="1E2227"/>
                </a:solidFill>
                <a:latin typeface="맑은 고딕"/>
              </a:rPr>
              <a:t>: 추론 궤적을 사실성·타당성·일관성·유용성 4축으로 분해 평가하는 진단 프레임워크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7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70" b="1">
                <a:solidFill>
                  <a:srgbClr val="1E2227"/>
                </a:solidFill>
                <a:latin typeface="맑은 고딕"/>
              </a:rPr>
              <a:t>Li et al. (2026, 동시기 프리프린트)</a:t>
            </a:r>
            <a:r>
              <a:rPr sz="1070" b="0">
                <a:solidFill>
                  <a:srgbClr val="1E2227"/>
                </a:solidFill>
                <a:latin typeface="맑은 고딕"/>
              </a:rPr>
              <a:t>: 사고 궤적은 올바른 판단을 유지하면서 반박 압박 하에서 최종 답변만 오답으로 굴복(unfaithful capitulation)하는 궤적-답변 해리를 보고 → AIR과 가장 가까운 선행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7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70" b="1">
                <a:solidFill>
                  <a:srgbClr val="1E2227"/>
                </a:solidFill>
                <a:latin typeface="맑은 고딕"/>
              </a:rPr>
              <a:t>Bogdan (2025) · Macar (2025)</a:t>
            </a:r>
            <a:r>
              <a:rPr sz="1070" b="0">
                <a:solidFill>
                  <a:srgbClr val="1E2227"/>
                </a:solidFill>
                <a:latin typeface="맑은 고딕"/>
              </a:rPr>
              <a:t>: on-policy resampling과 attention-suppression으로 추론 단계의 인과적 중요도를 측정 → 본 연구가 채택한 개입의 방법론적 근거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007" y="1307592"/>
            <a:ext cx="5410047" cy="301752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273A52"/>
                </a:solidFill>
                <a:latin typeface="맑은 고딕"/>
              </a:rPr>
              <a:t>§2.4  개념 경계 및 통제 설계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7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70" b="1">
                <a:solidFill>
                  <a:srgbClr val="1E2227"/>
                </a:solidFill>
                <a:latin typeface="맑은 고딕"/>
              </a:rPr>
              <a:t>Parcalabescu &amp; Frank (ACL 2024)</a:t>
            </a:r>
            <a:r>
              <a:rPr sz="1070" b="0">
                <a:solidFill>
                  <a:srgbClr val="1E2227"/>
                </a:solidFill>
                <a:latin typeface="맑은 고딕"/>
              </a:rPr>
              <a:t>: 기존 "충실성 테스트"들이 실제로는 출력 수준 자기일관성을 측정함을 논증 → AIR을 자기일관성 지표로 규정하는 근거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7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70" b="1">
                <a:solidFill>
                  <a:srgbClr val="1E2227"/>
                </a:solidFill>
                <a:latin typeface="맑은 고딕"/>
              </a:rPr>
              <a:t>Longpre et al. (EMNLP 2021)</a:t>
            </a:r>
            <a:r>
              <a:rPr sz="1070" b="0">
                <a:solidFill>
                  <a:srgbClr val="1E2227"/>
                </a:solidFill>
                <a:latin typeface="맑은 고딕"/>
              </a:rPr>
              <a:t>: 개체 치환으로 충돌 문항을 파생시키는 치환 프레임워크 — 충돌-비충돌 대조 통제 설계의 정본, RQ3 대조군 설계의 근거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7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70" b="1">
                <a:solidFill>
                  <a:srgbClr val="1E2227"/>
                </a:solidFill>
                <a:latin typeface="맑은 고딕"/>
              </a:rPr>
              <a:t>Xie (ICLR 2024) · Wu/ClashEval (NeurIPS 2024) · Jin (2024)</a:t>
            </a:r>
            <a:r>
              <a:rPr sz="1070" b="0">
                <a:solidFill>
                  <a:srgbClr val="1E2227"/>
                </a:solidFill>
                <a:latin typeface="맑은 고딕"/>
              </a:rPr>
              <a:t>: 증거 정합성·섭동 강도·다중 문서 상충을 통제하여 충돌 고유 행동을 분리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507992"/>
            <a:ext cx="11094415" cy="164592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273A52"/>
                </a:solidFill>
                <a:latin typeface="맑은 고딕"/>
              </a:rPr>
              <a:t>본 연구의 차별점 ②  다단계 진단 + 인과 개입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60" b="0">
                <a:solidFill>
                  <a:srgbClr val="1E2227"/>
                </a:solidFill>
                <a:latin typeface="맑은 고딕"/>
              </a:rPr>
              <a:t>"선행·동시기 일관성 연구는 주로 수학/QA 도메인의 </a:t>
            </a:r>
            <a:r>
              <a:rPr sz="1160" b="1">
                <a:solidFill>
                  <a:srgbClr val="1E2227"/>
                </a:solidFill>
                <a:latin typeface="맑은 고딕"/>
              </a:rPr>
              <a:t>사회적 압박</a:t>
            </a:r>
            <a:r>
              <a:rPr sz="1160" b="0">
                <a:solidFill>
                  <a:srgbClr val="1E2227"/>
                </a:solidFill>
                <a:latin typeface="맑은 고딕"/>
              </a:rPr>
              <a:t>(예: Li et al., 2026) 하에서, 혹은 단일 지표로 단절을 다루었습니다.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60" b="0">
                <a:solidFill>
                  <a:srgbClr val="1E2227"/>
                </a:solidFill>
                <a:latin typeface="맑은 고딕"/>
              </a:rPr>
              <a:t>본 연구는 RAG 검색 환경의 </a:t>
            </a:r>
            <a:r>
              <a:rPr sz="1160" b="1">
                <a:solidFill>
                  <a:srgbClr val="1E2227"/>
                </a:solidFill>
                <a:latin typeface="맑은 고딕"/>
              </a:rPr>
              <a:t>'상충 문서 공존이라는 문맥적 압박(Contextual Pressure)'</a:t>
            </a:r>
            <a:r>
              <a:rPr sz="1160" b="0">
                <a:solidFill>
                  <a:srgbClr val="1E2227"/>
                </a:solidFill>
                <a:latin typeface="맑은 고딕"/>
              </a:rPr>
              <a:t> 속에서 처리 과정을 다단계로 분해하고, 나아가 </a:t>
            </a:r>
            <a:r>
              <a:rPr sz="1160" b="1">
                <a:solidFill>
                  <a:srgbClr val="1E2227"/>
                </a:solidFill>
                <a:latin typeface="맑은 고딕"/>
              </a:rPr>
              <a:t>on-policy 개입으로 사고→답변의 인과적 사용(L-b)까지 규명</a:t>
            </a:r>
            <a:r>
              <a:rPr sz="1160" b="0">
                <a:solidFill>
                  <a:srgbClr val="1E2227"/>
                </a:solidFill>
                <a:latin typeface="맑은 고딕"/>
              </a:rPr>
              <a:t>합니다."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B7480"/>
                </a:solidFill>
                <a:latin typeface="맑은 고딕"/>
              </a:rPr>
              <a:t>§2.3 · §2.4 관련 연구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6B7480"/>
                </a:solidFill>
                <a:latin typeface="맑은 고딕"/>
              </a:rPr>
              <a:t>§3.1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73A52"/>
                </a:solidFill>
                <a:latin typeface="맑은 고딕"/>
              </a:rPr>
              <a:t>데이터셋: DRAGged — 실제 웹 검색 기반 다원인 충돌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06424"/>
            <a:ext cx="11094415" cy="0"/>
          </a:xfrm>
          <a:prstGeom prst="line">
            <a:avLst/>
          </a:prstGeom>
          <a:ln w="15875">
            <a:solidFill>
              <a:srgbClr val="27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5272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</a:pPr>
            <a:r>
              <a:rPr sz="1230" b="0">
                <a:solidFill>
                  <a:srgbClr val="1E2227"/>
                </a:solidFill>
                <a:latin typeface="맑은 고딕"/>
              </a:rPr>
              <a:t>"인위적 단일 토큰 조작 합성 데이터와 달리 </a:t>
            </a:r>
            <a:r>
              <a:rPr sz="1230" b="1">
                <a:solidFill>
                  <a:srgbClr val="1E2227"/>
                </a:solidFill>
                <a:latin typeface="맑은 고딕"/>
              </a:rPr>
              <a:t>실제 구글 검색(Top-10) 웹 문서</a:t>
            </a:r>
            <a:r>
              <a:rPr sz="1230" b="0">
                <a:solidFill>
                  <a:srgbClr val="1E2227"/>
                </a:solidFill>
                <a:latin typeface="맑은 고딕"/>
              </a:rPr>
              <a:t>를 담고 있어 출처·날짜·문맥이 이질적이며, Reasoning LLM이 실제 출처 비교와 속성 대조(Recency, Authority)를 수행하는 </a:t>
            </a:r>
            <a:r>
              <a:rPr sz="1230" b="1">
                <a:solidFill>
                  <a:srgbClr val="1E2227"/>
                </a:solidFill>
                <a:latin typeface="맑은 고딕"/>
              </a:rPr>
              <a:t>풍부한 &lt;think&gt; 트레이스를 유도</a:t>
            </a:r>
            <a:r>
              <a:rPr sz="1230" b="0">
                <a:solidFill>
                  <a:srgbClr val="1E2227"/>
                </a:solidFill>
                <a:latin typeface="맑은 고딕"/>
              </a:rPr>
              <a:t>하므로 본 진단에 적합"  (Cattan et al., 2025)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057400"/>
          <a:ext cx="11094413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5749"/>
                <a:gridCol w="1100272"/>
                <a:gridCol w="6968392"/>
              </a:tblGrid>
              <a:tr h="4754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80" b="1">
                          <a:solidFill>
                            <a:srgbClr val="273A52"/>
                          </a:solidFill>
                          <a:latin typeface="맑은 고딕"/>
                        </a:rPr>
                        <a:t>충돌 유형 (Conflict Taxonomy)</a:t>
                      </a:r>
                    </a:p>
                  </a:txBody>
                  <a:tcPr marL="82296" marR="82296" marT="45720" marB="45720" anchor="ctr">
                    <a:solidFill>
                      <a:srgbClr val="F4F5F7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80" b="1">
                          <a:solidFill>
                            <a:srgbClr val="273A52"/>
                          </a:solidFill>
                          <a:latin typeface="맑은 고딕"/>
                        </a:rPr>
                        <a:t>문항 수</a:t>
                      </a:r>
                    </a:p>
                  </a:txBody>
                  <a:tcPr marL="82296" marR="82296" marT="45720" marB="45720" anchor="ctr">
                    <a:solidFill>
                      <a:srgbClr val="F4F5F7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80" b="1">
                          <a:solidFill>
                            <a:srgbClr val="273A52"/>
                          </a:solidFill>
                          <a:latin typeface="맑은 고딕"/>
                        </a:rPr>
                        <a:t>특성 및 내용</a:t>
                      </a:r>
                    </a:p>
                  </a:txBody>
                  <a:tcPr marL="82296" marR="82296" marT="45720" marB="45720" anchor="ctr">
                    <a:solidFill>
                      <a:srgbClr val="F4F5F7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273A52"/>
                          </a:solidFill>
                          <a:latin typeface="맑은 고딕"/>
                        </a:rPr>
                        <a:t>시간적 충돌 (Freshness/Outdated)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E2227"/>
                          </a:solidFill>
                          <a:latin typeface="맑은 고딕"/>
                        </a:rPr>
                        <a:t>62건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E2227"/>
                          </a:solidFill>
                          <a:latin typeface="맑은 고딕"/>
                        </a:rPr>
                        <a:t>시간 흐름에 따라 과거 지식과 최신 사실이 상충 (예: 2024 vs 2025 일정)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273A52"/>
                          </a:solidFill>
                          <a:latin typeface="맑은 고딕"/>
                        </a:rPr>
                        <a:t>오정보 충돌 (Misinformation)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E2227"/>
                          </a:solidFill>
                          <a:latin typeface="맑은 고딕"/>
                        </a:rPr>
                        <a:t>5건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E2227"/>
                          </a:solidFill>
                          <a:latin typeface="맑은 고딕"/>
                        </a:rPr>
                        <a:t>신뢰할 수 없는 출처의 오정보와 공식 출처의 참 정보가 상충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273A52"/>
                          </a:solidFill>
                          <a:latin typeface="맑은 고딕"/>
                        </a:rPr>
                        <a:t>상충되는 의견 (Conflicting Opinions)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E2227"/>
                          </a:solidFill>
                          <a:latin typeface="맑은 고딕"/>
                        </a:rPr>
                        <a:t>115건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E2227"/>
                          </a:solidFill>
                          <a:latin typeface="맑은 고딕"/>
                        </a:rPr>
                        <a:t>정답이 하나로 정해지지 않고 주장이 엇갈리는 관점 충돌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273A52"/>
                          </a:solidFill>
                          <a:latin typeface="맑은 고딕"/>
                        </a:rPr>
                        <a:t>상보적 정보 (Complementary Information)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E2227"/>
                          </a:solidFill>
                          <a:latin typeface="맑은 고딕"/>
                        </a:rPr>
                        <a:t>115건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E2227"/>
                          </a:solidFill>
                          <a:latin typeface="맑은 고딕"/>
                        </a:rPr>
                        <a:t>충돌하지 않고 상보적 디테일을 제공하는 대조군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273A52"/>
                          </a:solidFill>
                          <a:latin typeface="맑은 고딕"/>
                        </a:rPr>
                        <a:t>비충돌 (No Conflict)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E2227"/>
                          </a:solidFill>
                          <a:latin typeface="맑은 고딕"/>
                        </a:rPr>
                        <a:t>161건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E2227"/>
                          </a:solidFill>
                          <a:latin typeface="맑은 고딕"/>
                        </a:rPr>
                        <a:t>모든 문서가 일관된 정보를 가리키는 일반 RAG 대조군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056632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6B7480"/>
                </a:solidFill>
                <a:latin typeface="맑은 고딕"/>
              </a:rPr>
              <a:t>주의(재현성, 원 논문 Table 2로 확정)</a:t>
            </a:r>
            <a:r>
              <a:rPr sz="1100" b="0">
                <a:solidFill>
                  <a:srgbClr val="6B7480"/>
                </a:solidFill>
                <a:latin typeface="맑은 고딕"/>
              </a:rPr>
              <a:t>: 원 논문의 "conflicting" 297건(64.8%)은 상보적 정보를 포함한 넓은 범주(182+115=297). 본 연구는 </a:t>
            </a:r>
            <a:r>
              <a:rPr sz="1100" b="1">
                <a:solidFill>
                  <a:srgbClr val="6B7480"/>
                </a:solidFill>
                <a:latin typeface="맑은 고딕"/>
              </a:rPr>
              <a:t>명시적 상충 182건</a:t>
            </a:r>
            <a:r>
              <a:rPr sz="1100" b="0">
                <a:solidFill>
                  <a:srgbClr val="6B7480"/>
                </a:solidFill>
                <a:latin typeface="맑은 고딕"/>
              </a:rPr>
              <a:t>(의견 115 + 시간 62 + 오정보 5)과 </a:t>
            </a:r>
            <a:r>
              <a:rPr sz="1100" b="1">
                <a:solidFill>
                  <a:srgbClr val="6B7480"/>
                </a:solidFill>
                <a:latin typeface="맑은 고딕"/>
              </a:rPr>
              <a:t>비상충 대조군 276건</a:t>
            </a:r>
            <a:r>
              <a:rPr sz="1100" b="0">
                <a:solidFill>
                  <a:srgbClr val="6B7480"/>
                </a:solidFill>
                <a:latin typeface="맑은 고딕"/>
              </a:rPr>
              <a:t>(상보 115 + 비충돌 161)을 구분해 재집계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B7480"/>
                </a:solidFill>
                <a:latin typeface="맑은 고딕"/>
              </a:rPr>
              <a:t>§3.1 데이터셋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6B7480"/>
                </a:solidFill>
                <a:latin typeface="맑은 고딕"/>
              </a:rPr>
              <a:t>§3.1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73A52"/>
                </a:solidFill>
                <a:latin typeface="맑은 고딕"/>
              </a:rPr>
              <a:t>DRAGged: 원본 구조와 진단용 전처리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06424"/>
            <a:ext cx="11094415" cy="0"/>
          </a:xfrm>
          <a:prstGeom prst="line">
            <a:avLst/>
          </a:prstGeom>
          <a:ln w="15875">
            <a:solidFill>
              <a:srgbClr val="27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89304"/>
            <a:ext cx="538718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73A52"/>
                </a:solidFill>
                <a:latin typeface="맑은 고딕"/>
              </a:rPr>
              <a:t>원본 데이터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5387187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/>
          <a:lstStyle/>
          <a:p>
            <a:pPr algn="l">
              <a:lnSpc>
                <a:spcPct val="112000"/>
              </a:lnSpc>
            </a:pPr>
            <a:r>
              <a:rPr sz="930" b="0">
                <a:solidFill>
                  <a:srgbClr val="1E2227"/>
                </a:solidFill>
                <a:latin typeface="Consolas"/>
              </a:rPr>
              <a:t>{</a:t>
            </a:r>
          </a:p>
          <a:p>
            <a:pPr algn="l">
              <a:lnSpc>
                <a:spcPct val="112000"/>
              </a:lnSpc>
            </a:pPr>
            <a:r>
              <a:rPr sz="930" b="0">
                <a:solidFill>
                  <a:srgbClr val="1E2227"/>
                </a:solidFill>
                <a:latin typeface="Consolas"/>
              </a:rPr>
              <a:t>  "question": "When does this year's Passover start?",</a:t>
            </a:r>
          </a:p>
          <a:p>
            <a:pPr algn="l">
              <a:lnSpc>
                <a:spcPct val="112000"/>
              </a:lnSpc>
            </a:pPr>
            <a:r>
              <a:rPr sz="930" b="0">
                <a:solidFill>
                  <a:srgbClr val="1E2227"/>
                </a:solidFill>
                <a:latin typeface="Consolas"/>
              </a:rPr>
              <a:t>  "conflict_type": "Conflict due to outdated information",</a:t>
            </a:r>
          </a:p>
          <a:p>
            <a:pPr algn="l">
              <a:lnSpc>
                <a:spcPct val="112000"/>
              </a:lnSpc>
            </a:pPr>
            <a:r>
              <a:rPr sz="930" b="0">
                <a:solidFill>
                  <a:srgbClr val="1E2227"/>
                </a:solidFill>
                <a:latin typeface="Consolas"/>
              </a:rPr>
              <a:t>  "correct_answer": "begins at sundown on Saturday, April 12.",</a:t>
            </a:r>
          </a:p>
          <a:p>
            <a:pPr algn="l">
              <a:lnSpc>
                <a:spcPct val="112000"/>
              </a:lnSpc>
            </a:pPr>
            <a:r>
              <a:rPr sz="930" b="0">
                <a:solidFill>
                  <a:srgbClr val="1E2227"/>
                </a:solidFill>
                <a:latin typeface="Consolas"/>
              </a:rPr>
              <a:t>  "search_results": [</a:t>
            </a:r>
          </a:p>
          <a:p>
            <a:pPr algn="l">
              <a:lnSpc>
                <a:spcPct val="112000"/>
              </a:lnSpc>
            </a:pPr>
            <a:r>
              <a:rPr sz="930" b="0">
                <a:solidFill>
                  <a:srgbClr val="1E2227"/>
                </a:solidFill>
                <a:latin typeface="Consolas"/>
              </a:rPr>
              <a:t>    {"date": "2025-01-01", "title": "When Is Passover in 2025...",</a:t>
            </a:r>
          </a:p>
          <a:p>
            <a:pPr algn="l">
              <a:lnSpc>
                <a:spcPct val="112000"/>
              </a:lnSpc>
            </a:pPr>
            <a:r>
              <a:rPr sz="930" b="0">
                <a:solidFill>
                  <a:srgbClr val="1E2227"/>
                </a:solidFill>
                <a:latin typeface="Consolas"/>
              </a:rPr>
              <a:t>     "url": "...", "text": "Pesach 2025 begins ... April 12, 2025..."},   // 유효</a:t>
            </a:r>
          </a:p>
          <a:p>
            <a:pPr algn="l">
              <a:lnSpc>
                <a:spcPct val="112000"/>
              </a:lnSpc>
            </a:pPr>
            <a:r>
              <a:rPr sz="930" b="0">
                <a:solidFill>
                  <a:srgbClr val="1E2227"/>
                </a:solidFill>
                <a:latin typeface="Consolas"/>
              </a:rPr>
              <a:t>    {"date": "2024-05-01", "title": "When is Passover 2025?...",</a:t>
            </a:r>
          </a:p>
          <a:p>
            <a:pPr algn="l">
              <a:lnSpc>
                <a:spcPct val="112000"/>
              </a:lnSpc>
            </a:pPr>
            <a:r>
              <a:rPr sz="930" b="0">
                <a:solidFill>
                  <a:srgbClr val="1E2227"/>
                </a:solidFill>
                <a:latin typeface="Consolas"/>
              </a:rPr>
              <a:t>     "url": "...", "text": "It starts at dusk on the same day..."},       // 과거</a:t>
            </a:r>
          </a:p>
          <a:p>
            <a:pPr algn="l">
              <a:lnSpc>
                <a:spcPct val="112000"/>
              </a:lnSpc>
            </a:pPr>
            <a:r>
              <a:rPr sz="930" b="0">
                <a:solidFill>
                  <a:srgbClr val="1E2227"/>
                </a:solidFill>
                <a:latin typeface="Consolas"/>
              </a:rPr>
              <a:t>    /* ... 총 10개의 실제 웹 검색 문서 (출처·날짜 이질적) */</a:t>
            </a:r>
          </a:p>
          <a:p>
            <a:pPr algn="l">
              <a:lnSpc>
                <a:spcPct val="112000"/>
              </a:lnSpc>
            </a:pPr>
            <a:r>
              <a:rPr sz="930" b="0">
                <a:solidFill>
                  <a:srgbClr val="1E2227"/>
                </a:solidFill>
                <a:latin typeface="Consolas"/>
              </a:rPr>
              <a:t>  ]</a:t>
            </a:r>
          </a:p>
          <a:p>
            <a:pPr algn="l">
              <a:lnSpc>
                <a:spcPct val="112000"/>
              </a:lnSpc>
            </a:pPr>
            <a:r>
              <a:rPr sz="930" b="0">
                <a:solidFill>
                  <a:srgbClr val="1E2227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5867" y="1289304"/>
            <a:ext cx="538718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73A52"/>
                </a:solidFill>
                <a:latin typeface="맑은 고딕"/>
              </a:rPr>
              <a:t>본 연구의 진단에 맞춘 전처리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6255867" y="1600200"/>
            <a:ext cx="5387187" cy="420624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273A52"/>
                </a:solidFill>
                <a:latin typeface="맑은 고딕"/>
              </a:rPr>
              <a:t>3대 전처리 파이프라인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2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120" b="1">
                <a:solidFill>
                  <a:srgbClr val="1E2227"/>
                </a:solidFill>
                <a:latin typeface="맑은 고딕"/>
              </a:rPr>
              <a:t>정답 문서 자동 식별</a:t>
            </a:r>
            <a:r>
              <a:rPr sz="1120" b="0">
                <a:solidFill>
                  <a:srgbClr val="1E2227"/>
                </a:solidFill>
                <a:latin typeface="맑은 고딕"/>
              </a:rPr>
              <a:t>: 개별 문서에 정답 라벨이 없으므로, correct_answer 텍스트가 10개 문서 중 어느 text에 포함되는지를 </a:t>
            </a:r>
            <a:r>
              <a:rPr sz="1120" b="1">
                <a:solidFill>
                  <a:srgbClr val="1E2227"/>
                </a:solidFill>
                <a:latin typeface="맑은 고딕"/>
              </a:rPr>
              <a:t>문자열 일치 + NLI 기반으로 사전 매핑</a:t>
            </a:r>
            <a:r>
              <a:rPr sz="1120" b="0">
                <a:solidFill>
                  <a:srgbClr val="1E2227"/>
                </a:solidFill>
                <a:latin typeface="맑은 고딕"/>
              </a:rPr>
              <a:t> → 모델이 &lt;think&gt;에서 올바른 문서를 지지했는지 추적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2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120" b="1">
                <a:solidFill>
                  <a:srgbClr val="1E2227"/>
                </a:solidFill>
                <a:latin typeface="맑은 고딕"/>
              </a:rPr>
              <a:t>문서 셔플링 및 표준 렌더링</a:t>
            </a:r>
            <a:r>
              <a:rPr sz="1120" b="0">
                <a:solidFill>
                  <a:srgbClr val="1E2227"/>
                </a:solidFill>
                <a:latin typeface="맑은 고딕"/>
              </a:rPr>
              <a:t>: 위치 편향(Position Bias; Liu 2023)을 통제하기 위해 매 실험마다 10개 문서 순서를 무작위 셔플링하고 [Document 1] ~ [Document 10] 포맷으로 주입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2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120" b="1">
                <a:solidFill>
                  <a:srgbClr val="1E2227"/>
                </a:solidFill>
                <a:latin typeface="맑은 고딕"/>
              </a:rPr>
              <a:t>속성 메타데이터 활성화</a:t>
            </a:r>
            <a:r>
              <a:rPr sz="1120" b="0">
                <a:solidFill>
                  <a:srgbClr val="1E2227"/>
                </a:solidFill>
                <a:latin typeface="맑은 고딕"/>
              </a:rPr>
              <a:t>: 2단계(판정)에서 최신성·권위 대조를 추적하기 위해 원본 date·url을 문서 헤더에 명시적으로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B7480"/>
                </a:solidFill>
                <a:latin typeface="맑은 고딕"/>
              </a:rPr>
              <a:t>§3.1 데이터셋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6B7480"/>
                </a:solidFill>
                <a:latin typeface="맑은 고딕"/>
              </a:rPr>
              <a:t>§3.1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73A52"/>
                </a:solidFill>
                <a:latin typeface="맑은 고딕"/>
              </a:rPr>
              <a:t>데이터셋: RAMDocs — 대규모 다중 문서 모호·오정보 벤치마크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06424"/>
            <a:ext cx="11094415" cy="0"/>
          </a:xfrm>
          <a:prstGeom prst="line">
            <a:avLst/>
          </a:prstGeom>
          <a:ln w="15875">
            <a:solidFill>
              <a:srgbClr val="27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52728"/>
            <a:ext cx="110944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</a:pPr>
            <a:r>
              <a:rPr sz="1230" b="0">
                <a:solidFill>
                  <a:srgbClr val="1E2227"/>
                </a:solidFill>
                <a:latin typeface="맑은 고딕"/>
              </a:rPr>
              <a:t>"DRAGged의 사실 기반 충돌(시간적·오정보) 문항은 </a:t>
            </a:r>
            <a:r>
              <a:rPr sz="1230" b="1">
                <a:solidFill>
                  <a:srgbClr val="1E2227"/>
                </a:solidFill>
                <a:latin typeface="맑은 고딕"/>
              </a:rPr>
              <a:t>67건으로 작으므로</a:t>
            </a:r>
            <a:r>
              <a:rPr sz="1230" b="0">
                <a:solidFill>
                  <a:srgbClr val="1E2227"/>
                </a:solidFill>
                <a:latin typeface="맑은 고딕"/>
              </a:rPr>
              <a:t>, 정답/오답이 명확히 채점 가능한 </a:t>
            </a:r>
            <a:r>
              <a:rPr sz="1230" b="1">
                <a:solidFill>
                  <a:srgbClr val="1E2227"/>
                </a:solidFill>
                <a:latin typeface="맑은 고딕"/>
              </a:rPr>
              <a:t>RAMDocs 500문항으로 정량 표본을 보강</a:t>
            </a:r>
            <a:r>
              <a:rPr sz="1230" b="0">
                <a:solidFill>
                  <a:srgbClr val="1E2227"/>
                </a:solidFill>
                <a:latin typeface="맑은 고딕"/>
              </a:rPr>
              <a:t>"  (Wang et al., COLM 2025 · HanNight/RAMDocs Test set)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02536"/>
            <a:ext cx="5387187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/>
          <a:lstStyle/>
          <a:p>
            <a:pPr algn="l">
              <a:lnSpc>
                <a:spcPct val="112000"/>
              </a:lnSpc>
            </a:pPr>
            <a:r>
              <a:rPr sz="930" b="0">
                <a:solidFill>
                  <a:srgbClr val="1E2227"/>
                </a:solidFill>
                <a:latin typeface="Consolas"/>
              </a:rPr>
              <a:t>{</a:t>
            </a:r>
          </a:p>
          <a:p>
            <a:pPr algn="l">
              <a:lnSpc>
                <a:spcPct val="112000"/>
              </a:lnSpc>
            </a:pPr>
            <a:r>
              <a:rPr sz="930" b="0">
                <a:solidFill>
                  <a:srgbClr val="1E2227"/>
                </a:solidFill>
                <a:latin typeface="Consolas"/>
              </a:rPr>
              <a:t>  "question": "What is the population of Broken Bow?",</a:t>
            </a:r>
          </a:p>
          <a:p>
            <a:pPr algn="l">
              <a:lnSpc>
                <a:spcPct val="112000"/>
              </a:lnSpc>
            </a:pPr>
            <a:r>
              <a:rPr sz="930" b="0">
                <a:solidFill>
                  <a:srgbClr val="1E2227"/>
                </a:solidFill>
                <a:latin typeface="Consolas"/>
              </a:rPr>
              <a:t>  "documents": [</a:t>
            </a:r>
          </a:p>
          <a:p>
            <a:pPr algn="l">
              <a:lnSpc>
                <a:spcPct val="112000"/>
              </a:lnSpc>
            </a:pPr>
            <a:r>
              <a:rPr sz="930" b="0">
                <a:solidFill>
                  <a:srgbClr val="1E2227"/>
                </a:solidFill>
                <a:latin typeface="Consolas"/>
              </a:rPr>
              <a:t>    {"text": "...total area...", "type": "correct",</a:t>
            </a:r>
          </a:p>
          <a:p>
            <a:pPr algn="l">
              <a:lnSpc>
                <a:spcPct val="112000"/>
              </a:lnSpc>
            </a:pPr>
            <a:r>
              <a:rPr sz="930" b="0">
                <a:solidFill>
                  <a:srgbClr val="1E2227"/>
                </a:solidFill>
                <a:latin typeface="Consolas"/>
              </a:rPr>
              <a:t>     "answer": "3,559 people"},</a:t>
            </a:r>
          </a:p>
          <a:p>
            <a:pPr algn="l">
              <a:lnSpc>
                <a:spcPct val="112000"/>
              </a:lnSpc>
            </a:pPr>
            <a:r>
              <a:rPr sz="930" b="0">
                <a:solidFill>
                  <a:srgbClr val="1E2227"/>
                </a:solidFill>
                <a:latin typeface="Consolas"/>
              </a:rPr>
              <a:t>    {"text": "...historical...", "type": "misinfo",</a:t>
            </a:r>
          </a:p>
          <a:p>
            <a:pPr algn="l">
              <a:lnSpc>
                <a:spcPct val="112000"/>
              </a:lnSpc>
            </a:pPr>
            <a:r>
              <a:rPr sz="930" b="0">
                <a:solidFill>
                  <a:srgbClr val="1E2227"/>
                </a:solidFill>
                <a:latin typeface="Consolas"/>
              </a:rPr>
              <a:t>     "answer": "10,000 people"},</a:t>
            </a:r>
          </a:p>
          <a:p>
            <a:pPr algn="l">
              <a:lnSpc>
                <a:spcPct val="112000"/>
              </a:lnSpc>
            </a:pPr>
            <a:r>
              <a:rPr sz="930" b="0">
                <a:solidFill>
                  <a:srgbClr val="1E2227"/>
                </a:solidFill>
                <a:latin typeface="Consolas"/>
              </a:rPr>
              <a:t>    {"text": "...census...",     "type": "noise",</a:t>
            </a:r>
          </a:p>
          <a:p>
            <a:pPr algn="l">
              <a:lnSpc>
                <a:spcPct val="112000"/>
              </a:lnSpc>
            </a:pPr>
            <a:r>
              <a:rPr sz="930" b="0">
                <a:solidFill>
                  <a:srgbClr val="1E2227"/>
                </a:solidFill>
                <a:latin typeface="Consolas"/>
              </a:rPr>
              <a:t>     "answer": "..."}</a:t>
            </a:r>
          </a:p>
          <a:p>
            <a:pPr algn="l">
              <a:lnSpc>
                <a:spcPct val="112000"/>
              </a:lnSpc>
            </a:pPr>
            <a:r>
              <a:rPr sz="930" b="0">
                <a:solidFill>
                  <a:srgbClr val="1E2227"/>
                </a:solidFill>
                <a:latin typeface="Consolas"/>
              </a:rPr>
              <a:t>  ],</a:t>
            </a:r>
          </a:p>
          <a:p>
            <a:pPr algn="l">
              <a:lnSpc>
                <a:spcPct val="112000"/>
              </a:lnSpc>
            </a:pPr>
            <a:r>
              <a:rPr sz="930" b="0">
                <a:solidFill>
                  <a:srgbClr val="1E2227"/>
                </a:solidFill>
                <a:latin typeface="Consolas"/>
              </a:rPr>
              <a:t>  "gold_answers": ["3,559 people"],</a:t>
            </a:r>
          </a:p>
          <a:p>
            <a:pPr algn="l">
              <a:lnSpc>
                <a:spcPct val="112000"/>
              </a:lnSpc>
            </a:pPr>
            <a:r>
              <a:rPr sz="930" b="0">
                <a:solidFill>
                  <a:srgbClr val="1E2227"/>
                </a:solidFill>
                <a:latin typeface="Consolas"/>
              </a:rPr>
              <a:t>  "wrong_answers": ["10,000 people"]</a:t>
            </a:r>
          </a:p>
          <a:p>
            <a:pPr algn="l">
              <a:lnSpc>
                <a:spcPct val="112000"/>
              </a:lnSpc>
            </a:pPr>
            <a:r>
              <a:rPr sz="930" b="0">
                <a:solidFill>
                  <a:srgbClr val="1E2227"/>
                </a:solidFill>
                <a:latin typeface="Consolas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6255867" y="2002536"/>
            <a:ext cx="5387187" cy="329184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273A52"/>
                </a:solidFill>
                <a:latin typeface="맑은 고딕"/>
              </a:rPr>
              <a:t>구성과 전처리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3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130" b="0">
                <a:solidFill>
                  <a:srgbClr val="1E2227"/>
                </a:solidFill>
                <a:latin typeface="맑은 고딕"/>
              </a:rPr>
              <a:t>Test set </a:t>
            </a:r>
            <a:r>
              <a:rPr sz="1130" b="1">
                <a:solidFill>
                  <a:srgbClr val="1E2227"/>
                </a:solidFill>
                <a:latin typeface="맑은 고딕"/>
              </a:rPr>
              <a:t>500문항</a:t>
            </a:r>
            <a:r>
              <a:rPr sz="1130" b="0">
                <a:solidFill>
                  <a:srgbClr val="1E2227"/>
                </a:solidFill>
                <a:latin typeface="맑은 고딕"/>
              </a:rPr>
              <a:t>, 문항당 평균 </a:t>
            </a:r>
            <a:r>
              <a:rPr sz="1130" b="1">
                <a:solidFill>
                  <a:srgbClr val="1E2227"/>
                </a:solidFill>
                <a:latin typeface="맑은 고딕"/>
              </a:rPr>
              <a:t>5.53개</a:t>
            </a:r>
            <a:r>
              <a:rPr sz="1130" b="0">
                <a:solidFill>
                  <a:srgbClr val="1E2227"/>
                </a:solidFill>
                <a:latin typeface="맑은 고딕"/>
              </a:rPr>
              <a:t> 문서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3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130" b="0">
                <a:solidFill>
                  <a:srgbClr val="1E2227"/>
                </a:solidFill>
                <a:latin typeface="맑은 고딕"/>
              </a:rPr>
              <a:t>정답(correct, 평균 3.84) · 오정보(misinfo, 평균 0.61) · 노이즈(noise, 평균 1.08) 혼재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3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130" b="0">
                <a:solidFill>
                  <a:srgbClr val="1E2227"/>
                </a:solidFill>
                <a:latin typeface="맑은 고딕"/>
              </a:rPr>
              <a:t>각 문서가 gold_answers인지 wrong_answers인지 </a:t>
            </a:r>
            <a:r>
              <a:rPr sz="1130" b="1">
                <a:solidFill>
                  <a:srgbClr val="1E2227"/>
                </a:solidFill>
                <a:latin typeface="맑은 고딕"/>
              </a:rPr>
              <a:t>사전 매핑</a:t>
            </a:r>
            <a:r>
              <a:rPr sz="1130" b="0">
                <a:solidFill>
                  <a:srgbClr val="1E2227"/>
                </a:solidFill>
                <a:latin typeface="맑은 고딕"/>
              </a:rPr>
              <a:t> → &lt;think&gt; 내 인용·비교 시 정답/오답 문서를 자동 판정하는 추적 파이프라인 구축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3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130" b="0">
                <a:solidFill>
                  <a:srgbClr val="1E2227"/>
                </a:solidFill>
                <a:latin typeface="맑은 고딕"/>
              </a:rPr>
              <a:t>DRAGged와 동일하게 셔플링·표준 포맷으로 주입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5896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1E2227"/>
                </a:solidFill>
                <a:latin typeface="맑은 고딕"/>
              </a:rPr>
              <a:t>분리 보고 원칙</a:t>
            </a:r>
            <a:r>
              <a:rPr sz="1200" b="0">
                <a:solidFill>
                  <a:srgbClr val="1E2227"/>
                </a:solidFill>
                <a:latin typeface="맑은 고딕"/>
              </a:rPr>
              <a:t>: 두 데이터셋은 충돌 정의와 문서 수가 상이하므로 </a:t>
            </a:r>
            <a:r>
              <a:rPr sz="1200" b="1">
                <a:solidFill>
                  <a:srgbClr val="1E2227"/>
                </a:solidFill>
                <a:latin typeface="맑은 고딕"/>
              </a:rPr>
              <a:t>풀링하지 않고 데이터셋별로 분리 보고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B7480"/>
                </a:solidFill>
                <a:latin typeface="맑은 고딕"/>
              </a:rPr>
              <a:t>§3.1 데이터셋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6B7480"/>
                </a:solidFill>
                <a:latin typeface="맑은 고딕"/>
              </a:rPr>
              <a:t>§3.2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73A52"/>
                </a:solidFill>
                <a:latin typeface="맑은 고딕"/>
              </a:rPr>
              <a:t>다단계 진단 프로토콜: 3단계 궤적 라벨링과 지표 체계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06424"/>
            <a:ext cx="11094415" cy="0"/>
          </a:xfrm>
          <a:prstGeom prst="line">
            <a:avLst/>
          </a:prstGeom>
          <a:ln w="15875">
            <a:solidFill>
              <a:srgbClr val="27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325880"/>
            <a:ext cx="3393338" cy="141732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230" b="1">
                <a:solidFill>
                  <a:srgbClr val="273A52"/>
                </a:solidFill>
                <a:latin typeface="맑은 고딕"/>
              </a:rPr>
              <a:t>Level 1  탐지 (Detection)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50" b="0">
                <a:solidFill>
                  <a:srgbClr val="1E2227"/>
                </a:solidFill>
                <a:latin typeface="맑은 고딕"/>
              </a:rPr>
              <a:t>충돌을 감지했는가? </a:t>
            </a:r>
            <a:r>
              <a:rPr sz="1050" b="1">
                <a:solidFill>
                  <a:srgbClr val="1E2227"/>
                </a:solidFill>
                <a:latin typeface="맑은 고딕"/>
              </a:rPr>
              <a:t>{detected, unrecognized}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980" b="0">
                <a:solidFill>
                  <a:srgbClr val="6B7480"/>
                </a:solidFill>
                <a:latin typeface="맑은 고딕"/>
              </a:rPr>
              <a:t>부가 축(유형 인지): 감지 시 원인 유형(시간/오정보/관점)까지 짚었나 {correct_type, surface_only} → 별도 하위 지표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15130" y="1897380"/>
            <a:ext cx="310896" cy="274320"/>
          </a:xfrm>
          <a:prstGeom prst="rightArrow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99178" y="1325880"/>
            <a:ext cx="3393338" cy="141732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230" b="1">
                <a:solidFill>
                  <a:srgbClr val="273A52"/>
                </a:solidFill>
                <a:latin typeface="맑은 고딕"/>
              </a:rPr>
              <a:t>Level 2  해소 판정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80" b="0">
                <a:solidFill>
                  <a:srgbClr val="1E2227"/>
                </a:solidFill>
                <a:latin typeface="맑은 고딕"/>
              </a:rPr>
              <a:t>정답 지지 문서(Correct Document)를 유효하다고 결론짓는 올바른 추론을 수행했는가?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010" b="0">
                <a:solidFill>
                  <a:srgbClr val="6B7480"/>
                </a:solidFill>
                <a:latin typeface="맑은 고딕"/>
              </a:rPr>
              <a:t>{correct, wrong, unresolved}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865668" y="1897380"/>
            <a:ext cx="310896" cy="274320"/>
          </a:xfrm>
          <a:prstGeom prst="rightArrow">
            <a:avLst/>
          </a:prstGeom>
          <a:solidFill>
            <a:srgbClr val="27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49716" y="1325880"/>
            <a:ext cx="3393338" cy="141732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230" b="1">
                <a:solidFill>
                  <a:srgbClr val="273A52"/>
                </a:solidFill>
                <a:latin typeface="맑은 고딕"/>
              </a:rPr>
              <a:t>Final Action  최종 표출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80" b="0">
                <a:solidFill>
                  <a:srgbClr val="1E2227"/>
                </a:solidFill>
                <a:latin typeface="맑은 고딕"/>
              </a:rPr>
              <a:t>&lt;think&gt; 종료 후 최종 텍스트에서 정답을 정확히 표출했는가 (Exact Match)?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010" b="0">
                <a:solidFill>
                  <a:srgbClr val="6B7480"/>
                </a:solidFill>
                <a:latin typeface="맑은 고딕"/>
              </a:rPr>
              <a:t>{correct, wrong}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44368"/>
            <a:ext cx="5410047" cy="301752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230" b="1">
                <a:solidFill>
                  <a:srgbClr val="273A52"/>
                </a:solidFill>
                <a:latin typeface="맑은 고딕"/>
              </a:rPr>
              <a:t>단계별 오류 분해 (Stage-wise Error Decomposition)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8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80" b="1">
                <a:solidFill>
                  <a:srgbClr val="1E2227"/>
                </a:solidFill>
                <a:latin typeface="맑은 고딕"/>
              </a:rPr>
              <a:t>Loss_L1  인지 실패율</a:t>
            </a:r>
            <a:r>
              <a:rPr sz="1080" b="0">
                <a:solidFill>
                  <a:srgbClr val="1E2227"/>
                </a:solidFill>
                <a:latin typeface="맑은 고딕"/>
              </a:rPr>
              <a:t>:  P(Level1 = unrecognized)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8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80" b="1">
                <a:solidFill>
                  <a:srgbClr val="1E2227"/>
                </a:solidFill>
                <a:latin typeface="맑은 고딕"/>
              </a:rPr>
              <a:t>Loss_L2  판정 오류율</a:t>
            </a:r>
            <a:r>
              <a:rPr sz="1080" b="0">
                <a:solidFill>
                  <a:srgbClr val="1E2227"/>
                </a:solidFill>
                <a:latin typeface="맑은 고딕"/>
              </a:rPr>
              <a:t>:  P(Level2 ≠ correct | Level1 = detected)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8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80" b="1">
                <a:solidFill>
                  <a:srgbClr val="1E2227"/>
                </a:solidFill>
                <a:latin typeface="맑은 고딕"/>
              </a:rPr>
              <a:t>AIR  추론-답변 불일치율 (= Loss_FA)</a:t>
            </a:r>
            <a:r>
              <a:rPr sz="1080" b="0">
                <a:solidFill>
                  <a:srgbClr val="1E2227"/>
                </a:solidFill>
                <a:latin typeface="맑은 고딕"/>
              </a:rPr>
              <a:t>:  P(FinalAction = wrong | Level2 = correct) — 올바른 해소에 도달하고도 답변에서 유실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010" b="0">
                <a:solidFill>
                  <a:srgbClr val="6B7480"/>
                </a:solidFill>
                <a:latin typeface="맑은 고딕"/>
              </a:rPr>
              <a:t>→ 대표 지표(headline). 신뢰성 훼손형 유실 방향, 분해 전체의 스타 결과 (유일 지표 아님)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2944368"/>
            <a:ext cx="5410047" cy="301752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230" b="1">
                <a:solidFill>
                  <a:srgbClr val="273A52"/>
                </a:solidFill>
                <a:latin typeface="맑은 고딕"/>
              </a:rPr>
              <a:t>비순차적 특이 경로 (Non-sequential Pathways)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8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80" b="1">
                <a:solidFill>
                  <a:srgbClr val="1E2227"/>
                </a:solidFill>
                <a:latin typeface="맑은 고딕"/>
              </a:rPr>
              <a:t>Shortcut Rate  암묵적 도약율</a:t>
            </a:r>
            <a:r>
              <a:rPr sz="1080" b="0">
                <a:solidFill>
                  <a:srgbClr val="1E2227"/>
                </a:solidFill>
                <a:latin typeface="맑은 고딕"/>
              </a:rPr>
              <a:t>:  P(FinalAction = correct | Level1 = detected, Level2 = unresolved) — 명시적 해소 없이 정답 도달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8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80" b="1">
                <a:solidFill>
                  <a:srgbClr val="1E2227"/>
                </a:solidFill>
                <a:latin typeface="맑은 고딕"/>
              </a:rPr>
              <a:t>Unfaithful Rate  불성실 추론율</a:t>
            </a:r>
            <a:r>
              <a:rPr sz="1080" b="0">
                <a:solidFill>
                  <a:srgbClr val="1E2227"/>
                </a:solidFill>
                <a:latin typeface="맑은 고딕"/>
              </a:rPr>
              <a:t>:  P(FinalAction = correct | Level2 = wrong) — 오답 지지 후 정답 표출 (AIR과 방향 반대)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8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80" b="1">
                <a:solidFill>
                  <a:srgbClr val="1E2227"/>
                </a:solidFill>
                <a:latin typeface="맑은 고딕"/>
              </a:rPr>
              <a:t>Blind-Hit Rate  맹목 적중률</a:t>
            </a:r>
            <a:r>
              <a:rPr sz="1080" b="0">
                <a:solidFill>
                  <a:srgbClr val="1E2227"/>
                </a:solidFill>
                <a:latin typeface="맑은 고딕"/>
              </a:rPr>
              <a:t>:  P(FinalAction = correct | Level1 = unrecognized) — 충돌 인지 없이 정답 도달 (파라메트릭/우연)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010" b="0">
                <a:solidFill>
                  <a:srgbClr val="6B7480"/>
                </a:solidFill>
                <a:latin typeface="맑은 고딕"/>
              </a:rPr>
              <a:t>→ 정답 경로의 완전 분해: 정상 + Shortcut + Unfaithful + Blind-Hit → EM 상승분 회계(RQ2)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71616"/>
            <a:ext cx="1109441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30" b="1">
                <a:solidFill>
                  <a:srgbClr val="6B7480"/>
                </a:solidFill>
                <a:latin typeface="맑은 고딕"/>
              </a:rPr>
              <a:t>각 지표가 드러내는 것</a:t>
            </a:r>
            <a:r>
              <a:rPr sz="1030" b="0">
                <a:solidFill>
                  <a:srgbClr val="6B7480"/>
                </a:solidFill>
                <a:latin typeface="맑은 고딕"/>
              </a:rPr>
              <a:t>: L1/L2=어느 단계서 깨지나 · AIR=사고→답변 유실(핵심) · Shortcut=근거 없는 도약 · Blind-Hit=충돌 무시한 파라메트릭/우연 · 전환 행렬로 결과의 '출처' 귀속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B7480"/>
                </a:solidFill>
                <a:latin typeface="맑은 고딕"/>
              </a:rPr>
              <a:t>§3.2 진단 프로토콜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6B7480"/>
                </a:solidFill>
                <a:latin typeface="맑은 고딕"/>
              </a:rPr>
              <a:t>§3.2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73A52"/>
                </a:solidFill>
                <a:latin typeface="맑은 고딕"/>
              </a:rPr>
              <a:t>정답이 나오는 네 갈래 길 (겹치지 않고 빠짐없이)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06424"/>
            <a:ext cx="11094415" cy="0"/>
          </a:xfrm>
          <a:prstGeom prst="line">
            <a:avLst/>
          </a:prstGeom>
          <a:ln w="15875">
            <a:solidFill>
              <a:srgbClr val="27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16152"/>
            <a:ext cx="11094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480"/>
                </a:solidFill>
                <a:latin typeface="맑은 고딕"/>
              </a:rPr>
              <a:t>정답을 맞혔다면 아래 네 경로 중 </a:t>
            </a:r>
            <a:r>
              <a:rPr sz="1200" b="1">
                <a:solidFill>
                  <a:srgbClr val="6B7480"/>
                </a:solidFill>
                <a:latin typeface="맑은 고딕"/>
              </a:rPr>
              <a:t>딱 하나</a:t>
            </a:r>
            <a:r>
              <a:rPr sz="1200" b="0">
                <a:solidFill>
                  <a:srgbClr val="6B7480"/>
                </a:solidFill>
                <a:latin typeface="맑은 고딕"/>
              </a:rPr>
              <a:t>를 거쳐 나온 것 — Level 1·Level 2가 이들을 갈라줌. 경로별로 쪼개 두면 완화 기법의 정답률 상승이 어디서 왔는지(진짜 추론 vs 도약·우연) 가려낼 수 있음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82496"/>
          <a:ext cx="1109441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2234"/>
                <a:gridCol w="1054427"/>
                <a:gridCol w="1375340"/>
                <a:gridCol w="3438351"/>
                <a:gridCol w="2934060"/>
              </a:tblGrid>
              <a:tr h="64008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273A52"/>
                          </a:solidFill>
                          <a:latin typeface="맑은 고딕"/>
                        </a:rPr>
                        <a:t>경로 (지표)</a:t>
                      </a:r>
                    </a:p>
                  </a:txBody>
                  <a:tcPr marL="82296" marR="82296" marT="45720" marB="45720" anchor="ctr">
                    <a:solidFill>
                      <a:srgbClr val="F4F5F7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273A52"/>
                          </a:solidFill>
                          <a:latin typeface="맑은 고딕"/>
                        </a:rPr>
                        <a:t>Level 1</a:t>
                      </a:r>
                    </a:p>
                  </a:txBody>
                  <a:tcPr marL="82296" marR="82296" marT="45720" marB="45720" anchor="ctr">
                    <a:solidFill>
                      <a:srgbClr val="F4F5F7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273A52"/>
                          </a:solidFill>
                          <a:latin typeface="맑은 고딕"/>
                        </a:rPr>
                        <a:t>Level 2</a:t>
                      </a:r>
                    </a:p>
                  </a:txBody>
                  <a:tcPr marL="82296" marR="82296" marT="45720" marB="45720" anchor="ctr">
                    <a:solidFill>
                      <a:srgbClr val="F4F5F7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273A52"/>
                          </a:solidFill>
                          <a:latin typeface="맑은 고딕"/>
                        </a:rPr>
                        <a:t>수식</a:t>
                      </a:r>
                    </a:p>
                  </a:txBody>
                  <a:tcPr marL="82296" marR="82296" marT="45720" marB="45720" anchor="ctr">
                    <a:solidFill>
                      <a:srgbClr val="F4F5F7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273A52"/>
                          </a:solidFill>
                          <a:latin typeface="맑은 고딕"/>
                        </a:rPr>
                        <a:t>해석</a:t>
                      </a:r>
                    </a:p>
                  </a:txBody>
                  <a:tcPr marL="82296" marR="82296" marT="45720" marB="45720" anchor="ctr">
                    <a:solidFill>
                      <a:srgbClr val="F4F5F7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30" b="1">
                          <a:solidFill>
                            <a:srgbClr val="273A52"/>
                          </a:solidFill>
                          <a:latin typeface="맑은 고딕"/>
                        </a:rPr>
                        <a:t>정상 경로 (Legitimate)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E2227"/>
                          </a:solidFill>
                          <a:latin typeface="맑은 고딕"/>
                        </a:rPr>
                        <a:t>detected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E2227"/>
                          </a:solidFill>
                          <a:latin typeface="맑은 고딕"/>
                        </a:rPr>
                        <a:t>correct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E2227"/>
                          </a:solidFill>
                          <a:latin typeface="맑은 고딕"/>
                        </a:rPr>
                        <a:t>P(FA=correct | L1=detected, L2=correct)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E2227"/>
                          </a:solidFill>
                          <a:latin typeface="맑은 고딕"/>
                        </a:rPr>
                        <a:t>인지·해소를 제대로 거쳐 정답 표출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30" b="1">
                          <a:solidFill>
                            <a:srgbClr val="273A52"/>
                          </a:solidFill>
                          <a:latin typeface="맑은 고딕"/>
                        </a:rPr>
                        <a:t>Shortcut (암묵적 도약)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E2227"/>
                          </a:solidFill>
                          <a:latin typeface="맑은 고딕"/>
                        </a:rPr>
                        <a:t>detected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E2227"/>
                          </a:solidFill>
                          <a:latin typeface="맑은 고딕"/>
                        </a:rPr>
                        <a:t>unresolved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E2227"/>
                          </a:solidFill>
                          <a:latin typeface="맑은 고딕"/>
                        </a:rPr>
                        <a:t>P(FA=correct | L1=detected, L2=unresolved)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E2227"/>
                          </a:solidFill>
                          <a:latin typeface="맑은 고딕"/>
                        </a:rPr>
                        <a:t>명시적 해소 없이 정답 도달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30" b="1">
                          <a:solidFill>
                            <a:srgbClr val="273A52"/>
                          </a:solidFill>
                          <a:latin typeface="맑은 고딕"/>
                        </a:rPr>
                        <a:t>Unfaithful (불성실 추론)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E2227"/>
                          </a:solidFill>
                          <a:latin typeface="맑은 고딕"/>
                        </a:rPr>
                        <a:t>detected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E2227"/>
                          </a:solidFill>
                          <a:latin typeface="맑은 고딕"/>
                        </a:rPr>
                        <a:t>wrong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E2227"/>
                          </a:solidFill>
                          <a:latin typeface="맑은 고딕"/>
                        </a:rPr>
                        <a:t>P(FA=correct | L2=wrong)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E2227"/>
                          </a:solidFill>
                          <a:latin typeface="맑은 고딕"/>
                        </a:rPr>
                        <a:t>오답 문서 지지 후 정답 표출 (AIR과 방향 반대)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30" b="1">
                          <a:solidFill>
                            <a:srgbClr val="273A52"/>
                          </a:solidFill>
                          <a:latin typeface="맑은 고딕"/>
                        </a:rPr>
                        <a:t>Blind-Hit (맹목 적중)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E2227"/>
                          </a:solidFill>
                          <a:latin typeface="맑은 고딕"/>
                        </a:rPr>
                        <a:t>unrecognized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E2227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E2227"/>
                          </a:solidFill>
                          <a:latin typeface="맑은 고딕"/>
                        </a:rPr>
                        <a:t>P(FA=correct | L1=unrecognized)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30" b="0">
                          <a:solidFill>
                            <a:srgbClr val="1E2227"/>
                          </a:solidFill>
                          <a:latin typeface="맑은 고딕"/>
                        </a:rPr>
                        <a:t>충돌 인지 없이 정답 (파라메트릭·우연)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029200"/>
            <a:ext cx="1109441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130" b="1">
                <a:solidFill>
                  <a:srgbClr val="1E2227"/>
                </a:solidFill>
                <a:latin typeface="맑은 고딕"/>
              </a:rPr>
              <a:t>각 조건이 인접 경로를 잘라냄</a:t>
            </a:r>
            <a:r>
              <a:rPr sz="1130" b="0">
                <a:solidFill>
                  <a:srgbClr val="1E2227"/>
                </a:solidFill>
                <a:latin typeface="맑은 고딕"/>
              </a:rPr>
              <a:t> — Shortcut에서 L1=detected를 빼면 Blind-Hit과, L2=unresolved를 빼면 정상 경로와 병합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31536"/>
            <a:ext cx="1109441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80" b="0">
                <a:solidFill>
                  <a:srgbClr val="1E2227"/>
                </a:solidFill>
                <a:latin typeface="맑은 고딕"/>
              </a:rPr>
              <a:t>표의 </a:t>
            </a:r>
            <a:r>
              <a:rPr sz="1080" b="1">
                <a:solidFill>
                  <a:srgbClr val="1E2227"/>
                </a:solidFill>
                <a:latin typeface="맑은 고딕"/>
              </a:rPr>
              <a:t>detected = correct_type ∪ surface_only</a:t>
            </a:r>
            <a:r>
              <a:rPr sz="1080" b="0">
                <a:solidFill>
                  <a:srgbClr val="1E2227"/>
                </a:solidFill>
                <a:latin typeface="맑은 고딕"/>
              </a:rPr>
              <a:t>(이진화, Loss_L1=P(unrecognized)) · 유형 인지(correct_type vs surface_only)는 별도 하위 지표(Typological Recognition)로 보고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B7480"/>
                </a:solidFill>
                <a:latin typeface="맑은 고딕"/>
              </a:rPr>
              <a:t>§3.2 정답 경로 분해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6B7480"/>
                </a:solidFill>
                <a:latin typeface="맑은 고딕"/>
              </a:rPr>
              <a:t>§3.2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73A52"/>
                </a:solidFill>
                <a:latin typeface="맑은 고딕"/>
              </a:rPr>
              <a:t>라벨 타당성 검증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06424"/>
            <a:ext cx="11094415" cy="0"/>
          </a:xfrm>
          <a:prstGeom prst="line">
            <a:avLst/>
          </a:prstGeom>
          <a:ln w="15875">
            <a:solidFill>
              <a:srgbClr val="27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16152"/>
            <a:ext cx="11094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480"/>
                </a:solidFill>
                <a:latin typeface="맑은 고딕"/>
              </a:rPr>
              <a:t>검증 대상은 </a:t>
            </a:r>
            <a:r>
              <a:rPr sz="1200" b="1">
                <a:solidFill>
                  <a:srgbClr val="6B7480"/>
                </a:solidFill>
                <a:latin typeface="맑은 고딕"/>
              </a:rPr>
              <a:t>판정 라벨이 텍스트를 정확히 읽었는가</a:t>
            </a:r>
            <a:r>
              <a:rPr sz="1200" b="0">
                <a:solidFill>
                  <a:srgbClr val="6B7480"/>
                </a:solidFill>
                <a:latin typeface="맑은 고딕"/>
              </a:rPr>
              <a:t>(측정 도구 신뢰도) — "사고가 답을 실제로 구동했는가"(L-b)는 실험 2 담당 · 상세는 부록 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36776"/>
            <a:ext cx="5410047" cy="306324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260" b="1">
                <a:solidFill>
                  <a:srgbClr val="273A52"/>
                </a:solidFill>
                <a:latin typeface="맑은 고딕"/>
              </a:rPr>
              <a:t>(a) 판정자 편향 통제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50" b="1">
                <a:solidFill>
                  <a:srgbClr val="1E2227"/>
                </a:solidFill>
                <a:latin typeface="맑은 고딕"/>
              </a:rPr>
              <a:t>LLM-as-a-Judge 편향 3종 통제</a:t>
            </a:r>
            <a:r>
              <a:rPr sz="1050" b="0">
                <a:solidFill>
                  <a:srgbClr val="1E2227"/>
                </a:solidFill>
                <a:latin typeface="맑은 고딕"/>
              </a:rPr>
              <a:t> (Zheng 2023; Panickssery 2024)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5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50" b="0">
                <a:solidFill>
                  <a:srgbClr val="1E2227"/>
                </a:solidFill>
                <a:latin typeface="맑은 고딕"/>
              </a:rPr>
              <a:t>판정자는 </a:t>
            </a:r>
            <a:r>
              <a:rPr sz="1050" b="1">
                <a:solidFill>
                  <a:srgbClr val="1E2227"/>
                </a:solidFill>
                <a:latin typeface="맑은 고딕"/>
              </a:rPr>
              <a:t>트레이스 생성 모델과 다른 계열</a:t>
            </a:r>
            <a:r>
              <a:rPr sz="1050" b="0">
                <a:solidFill>
                  <a:srgbClr val="1E2227"/>
                </a:solidFill>
                <a:latin typeface="맑은 고딕"/>
              </a:rPr>
              <a:t>을 사용 (대상 모델 ≠ 판정자)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5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50" b="0">
                <a:solidFill>
                  <a:srgbClr val="1E2227"/>
                </a:solidFill>
                <a:latin typeface="맑은 고딕"/>
              </a:rPr>
              <a:t>옵션 순서를 무작위 스왑 (위치 편향)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5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50" b="0">
                <a:solidFill>
                  <a:srgbClr val="1E2227"/>
                </a:solidFill>
                <a:latin typeface="맑은 고딕"/>
              </a:rPr>
              <a:t>형식-채움(form-filling) 프로토콜 적용 (G-Eval; Liu 2023)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5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50" b="1">
                <a:solidFill>
                  <a:srgbClr val="1E2227"/>
                </a:solidFill>
                <a:latin typeface="맑은 고딕"/>
              </a:rPr>
              <a:t>오픈 1종 + 상용 1종 병행</a:t>
            </a:r>
            <a:r>
              <a:rPr sz="1050" b="0">
                <a:solidFill>
                  <a:srgbClr val="1E2227"/>
                </a:solidFill>
                <a:latin typeface="맑은 고딕"/>
              </a:rPr>
              <a:t>, 동일 계열 판정자는 해당 모델 판정에서 제외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007" y="1636776"/>
            <a:ext cx="5410047" cy="306324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260" b="1">
                <a:solidFill>
                  <a:srgbClr val="273A52"/>
                </a:solidFill>
                <a:latin typeface="맑은 고딕"/>
              </a:rPr>
              <a:t>(b) 인간·교차 판정 일치도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5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50" b="0">
                <a:solidFill>
                  <a:srgbClr val="1E2227"/>
                </a:solidFill>
                <a:latin typeface="맑은 고딕"/>
              </a:rPr>
              <a:t>무작위 </a:t>
            </a:r>
            <a:r>
              <a:rPr sz="1050" b="1">
                <a:solidFill>
                  <a:srgbClr val="1E2227"/>
                </a:solidFill>
                <a:latin typeface="맑은 고딕"/>
              </a:rPr>
              <a:t>200건</a:t>
            </a:r>
            <a:r>
              <a:rPr sz="1050" b="0">
                <a:solidFill>
                  <a:srgbClr val="1E2227"/>
                </a:solidFill>
                <a:latin typeface="맑은 고딕"/>
              </a:rPr>
              <a:t>에 대해 인간 전문가 2인의 </a:t>
            </a:r>
            <a:r>
              <a:rPr sz="1050" b="1">
                <a:solidFill>
                  <a:srgbClr val="1E2227"/>
                </a:solidFill>
                <a:latin typeface="맑은 고딕"/>
              </a:rPr>
              <a:t>Cohen's κ</a:t>
            </a:r>
            <a:r>
              <a:rPr sz="1050" b="0">
                <a:solidFill>
                  <a:srgbClr val="1E2227"/>
                </a:solidFill>
                <a:latin typeface="맑은 고딕"/>
              </a:rPr>
              <a:t> 보고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5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50" b="0">
                <a:solidFill>
                  <a:srgbClr val="1E2227"/>
                </a:solidFill>
                <a:latin typeface="맑은 고딕"/>
              </a:rPr>
              <a:t>서로 다른 두 LLM 판정자 간 </a:t>
            </a:r>
            <a:r>
              <a:rPr sz="1050" b="1">
                <a:solidFill>
                  <a:srgbClr val="1E2227"/>
                </a:solidFill>
                <a:latin typeface="맑은 고딕"/>
              </a:rPr>
              <a:t>교차 일치도</a:t>
            </a:r>
            <a:r>
              <a:rPr sz="1050" b="0">
                <a:solidFill>
                  <a:srgbClr val="1E2227"/>
                </a:solidFill>
                <a:latin typeface="맑은 고딕"/>
              </a:rPr>
              <a:t> 측정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980" b="0">
                <a:solidFill>
                  <a:srgbClr val="6B7480"/>
                </a:solidFill>
                <a:latin typeface="맑은 고딕"/>
              </a:rPr>
              <a:t>단, κ는 판정 신뢰도를 담보할 뿐 — 사고 채널의 행동적 유의미성(게이트)·인과적 사용(실험 2)을 대체하지 않음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864608"/>
            <a:ext cx="11094415" cy="160020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230" b="1">
                <a:solidFill>
                  <a:srgbClr val="273A52"/>
                </a:solidFill>
                <a:latin typeface="맑은 고딕"/>
              </a:rPr>
              <a:t>(c) 부재 조건 지표의 언어화 갭 보강 — "안 적음"과 "못 함"의 분리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19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19" b="1">
                <a:solidFill>
                  <a:srgbClr val="1E2227"/>
                </a:solidFill>
                <a:latin typeface="맑은 고딕"/>
              </a:rPr>
              <a:t>유도 프로브</a:t>
            </a:r>
            <a:r>
              <a:rPr sz="1019" b="0">
                <a:solidFill>
                  <a:srgbClr val="1E2227"/>
                </a:solidFill>
                <a:latin typeface="맑은 고딕"/>
              </a:rPr>
              <a:t>: unresolved/unrecognized 샘플에 직접 질의 → 물으니 맞히면 침묵(알고도 안 적음), 못 하면 진짜 실패 (능력 상한 측정)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19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19" b="1">
                <a:solidFill>
                  <a:srgbClr val="1E2227"/>
                </a:solidFill>
                <a:latin typeface="맑은 고딕"/>
              </a:rPr>
              <a:t>암묵적 기울기 백스톱</a:t>
            </a:r>
            <a:r>
              <a:rPr sz="1019" b="0">
                <a:solidFill>
                  <a:srgbClr val="1E2227"/>
                </a:solidFill>
                <a:latin typeface="맑은 고딕"/>
              </a:rPr>
              <a:t>(부록 B.1 Semantic Shift로 leaning 포착, 판정 recall↑) · </a:t>
            </a:r>
            <a:r>
              <a:rPr sz="1019" b="1">
                <a:solidFill>
                  <a:srgbClr val="1E2227"/>
                </a:solidFill>
                <a:latin typeface="맑은 고딕"/>
              </a:rPr>
              <a:t>다중 시드 3회</a:t>
            </a:r>
            <a:r>
              <a:rPr sz="1019" b="0">
                <a:solidFill>
                  <a:srgbClr val="1E2227"/>
                </a:solidFill>
                <a:latin typeface="맑은 고딕"/>
              </a:rPr>
              <a:t> 빈도로 우연한 1회 미표출 보정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19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19" b="1">
                <a:solidFill>
                  <a:srgbClr val="1E2227"/>
                </a:solidFill>
                <a:latin typeface="맑은 고딕"/>
              </a:rPr>
              <a:t>정직한 명명</a:t>
            </a:r>
            <a:r>
              <a:rPr sz="1019" b="0">
                <a:solidFill>
                  <a:srgbClr val="1E2227"/>
                </a:solidFill>
                <a:latin typeface="맑은 고딕"/>
              </a:rPr>
              <a:t>: Loss_L1 = "언어화된 인지 실패율", 모델별 언어화 습관(Harmony vs `&lt;think&gt;`)은 교란 변인으로 §5 명시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B7480"/>
                </a:solidFill>
                <a:latin typeface="맑은 고딕"/>
              </a:rPr>
              <a:t>§3.2 라벨 타당성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6B7480"/>
                </a:solidFill>
                <a:latin typeface="맑은 고딕"/>
              </a:rPr>
              <a:t>§3.3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73A52"/>
                </a:solidFill>
                <a:latin typeface="맑은 고딕"/>
              </a:rPr>
              <a:t>실험 공통 설정: 대상 모델 및 생성·심사 프로토콜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06424"/>
            <a:ext cx="11094415" cy="0"/>
          </a:xfrm>
          <a:prstGeom prst="line">
            <a:avLst/>
          </a:prstGeom>
          <a:ln w="15875">
            <a:solidFill>
              <a:srgbClr val="27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16152"/>
            <a:ext cx="11094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480"/>
                </a:solidFill>
                <a:latin typeface="맑은 고딕"/>
              </a:rPr>
              <a:t>문헌에서 검증된 </a:t>
            </a:r>
            <a:r>
              <a:rPr sz="1200" b="1">
                <a:solidFill>
                  <a:srgbClr val="6B7480"/>
                </a:solidFill>
                <a:latin typeface="맑은 고딕"/>
              </a:rPr>
              <a:t>추론 모델(Reasoning LLM)</a:t>
            </a:r>
            <a:r>
              <a:rPr sz="1200" b="0">
                <a:solidFill>
                  <a:srgbClr val="6B7480"/>
                </a:solidFill>
                <a:latin typeface="맑은 고딕"/>
              </a:rPr>
              <a:t>을 3개 계열에서 엄선 — SFT 증류만 거친 모델은 자율 탐색 능력이 보존되지 않고 장식적 출력을 낼 위험이 있어 배제, 20~32B 규모에 집중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36776"/>
          <a:ext cx="11094412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4565"/>
                <a:gridCol w="1082381"/>
                <a:gridCol w="1352977"/>
                <a:gridCol w="1533374"/>
                <a:gridCol w="5051115"/>
              </a:tblGrid>
              <a:tr h="53035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80" b="1">
                          <a:solidFill>
                            <a:srgbClr val="273A52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 marL="82296" marR="82296" marT="45720" marB="45720" anchor="ctr">
                    <a:solidFill>
                      <a:srgbClr val="F4F5F7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80" b="1">
                          <a:solidFill>
                            <a:srgbClr val="273A52"/>
                          </a:solidFill>
                          <a:latin typeface="맑은 고딕"/>
                        </a:rPr>
                        <a:t>계열</a:t>
                      </a:r>
                    </a:p>
                  </a:txBody>
                  <a:tcPr marL="82296" marR="82296" marT="45720" marB="45720" anchor="ctr">
                    <a:solidFill>
                      <a:srgbClr val="F4F5F7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80" b="1">
                          <a:solidFill>
                            <a:srgbClr val="273A52"/>
                          </a:solidFill>
                          <a:latin typeface="맑은 고딕"/>
                        </a:rPr>
                        <a:t>구조·규모</a:t>
                      </a:r>
                    </a:p>
                  </a:txBody>
                  <a:tcPr marL="82296" marR="82296" marT="45720" marB="45720" anchor="ctr">
                    <a:solidFill>
                      <a:srgbClr val="F4F5F7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80" b="1">
                          <a:solidFill>
                            <a:srgbClr val="273A52"/>
                          </a:solidFill>
                          <a:latin typeface="맑은 고딕"/>
                        </a:rPr>
                        <a:t>사고 트레이스</a:t>
                      </a:r>
                    </a:p>
                  </a:txBody>
                  <a:tcPr marL="82296" marR="82296" marT="45720" marB="45720" anchor="ctr">
                    <a:solidFill>
                      <a:srgbClr val="F4F5F7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80" b="1">
                          <a:solidFill>
                            <a:srgbClr val="273A52"/>
                          </a:solidFill>
                          <a:latin typeface="맑은 고딕"/>
                        </a:rPr>
                        <a:t>선정 근거 및 역할</a:t>
                      </a:r>
                    </a:p>
                  </a:txBody>
                  <a:tcPr marL="82296" marR="82296" marT="45720" marB="45720" anchor="ctr">
                    <a:solidFill>
                      <a:srgbClr val="F4F5F7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273A52"/>
                          </a:solidFill>
                          <a:latin typeface="맑은 고딕"/>
                        </a:rPr>
                        <a:t>Qwen3.6-27B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E2227"/>
                          </a:solidFill>
                          <a:latin typeface="맑은 고딕"/>
                        </a:rPr>
                        <a:t>Qwen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E2227"/>
                          </a:solidFill>
                          <a:latin typeface="맑은 고딕"/>
                        </a:rPr>
                        <a:t>27B Dense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E2227"/>
                          </a:solidFill>
                          <a:latin typeface="맑은 고딕"/>
                        </a:rPr>
                        <a:t>&lt;think&gt;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E2227"/>
                          </a:solidFill>
                          <a:latin typeface="맑은 고딕"/>
                        </a:rPr>
                        <a:t>주력 분석 모델</a:t>
                      </a:r>
                      <a:r>
                        <a:rPr sz="1100" b="0">
                          <a:solidFill>
                            <a:srgbClr val="1E2227"/>
                          </a:solidFill>
                          <a:latin typeface="맑은 고딕"/>
                        </a:rPr>
                        <a:t> — 현행 오픈소스 밀집형 추론 모델 표준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273A52"/>
                          </a:solidFill>
                          <a:latin typeface="맑은 고딕"/>
                        </a:rPr>
                        <a:t>Olmo-3.1-32B-Think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E2227"/>
                          </a:solidFill>
                          <a:latin typeface="맑은 고딕"/>
                        </a:rPr>
                        <a:t>AllenAI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E2227"/>
                          </a:solidFill>
                          <a:latin typeface="맑은 고딕"/>
                        </a:rPr>
                        <a:t>32B Dense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E2227"/>
                          </a:solidFill>
                          <a:latin typeface="맑은 고딕"/>
                        </a:rPr>
                        <a:t>&lt;think&gt;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E2227"/>
                          </a:solidFill>
                          <a:latin typeface="맑은 고딕"/>
                        </a:rPr>
                        <a:t>완전 개방형 대조군</a:t>
                      </a:r>
                      <a:r>
                        <a:rPr sz="1100" b="0">
                          <a:solidFill>
                            <a:srgbClr val="1E2227"/>
                          </a:solidFill>
                          <a:latin typeface="맑은 고딕"/>
                        </a:rPr>
                        <a:t> — 가중치·데이터·학습 로그 전체 공개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273A52"/>
                          </a:solidFill>
                          <a:latin typeface="맑은 고딕"/>
                        </a:rPr>
                        <a:t>gpt-oss-20b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E2227"/>
                          </a:solidFill>
                          <a:latin typeface="맑은 고딕"/>
                        </a:rPr>
                        <a:t>OpenAI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E2227"/>
                          </a:solidFill>
                          <a:latin typeface="맑은 고딕"/>
                        </a:rPr>
                        <a:t>20B MoE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E2227"/>
                          </a:solidFill>
                          <a:latin typeface="맑은 고딕"/>
                        </a:rPr>
                        <a:t>Harmony¹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E2227"/>
                          </a:solidFill>
                          <a:latin typeface="맑은 고딕"/>
                        </a:rPr>
                        <a:t>교차 계열·MoE 검증</a:t>
                      </a:r>
                      <a:r>
                        <a:rPr sz="1100" b="0">
                          <a:solidFill>
                            <a:srgbClr val="1E2227"/>
                          </a:solidFill>
                          <a:latin typeface="맑은 고딕"/>
                        </a:rPr>
                        <a:t> — OpenAI 개방 MoE 추론 모델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867912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80" b="0">
                <a:solidFill>
                  <a:srgbClr val="6B7480"/>
                </a:solidFill>
                <a:latin typeface="맑은 고딕"/>
              </a:rPr>
              <a:t>¹ gpt-oss-20b는 &lt;think&gt; 대신 </a:t>
            </a:r>
            <a:r>
              <a:rPr sz="1080" b="1">
                <a:solidFill>
                  <a:srgbClr val="6B7480"/>
                </a:solidFill>
                <a:latin typeface="맑은 고딕"/>
              </a:rPr>
              <a:t>Harmony 포맷 Analysis 채널</a:t>
            </a:r>
            <a:r>
              <a:rPr sz="1080" b="0">
                <a:solidFill>
                  <a:srgbClr val="6B7480"/>
                </a:solidFill>
                <a:latin typeface="맑은 고딕"/>
              </a:rPr>
              <a:t>로 사고를 출력 → 전용 파서로 동일 3단계 프로토콜 라벨링. 파싱 규약이 다른 점은 계열 간 비교의 교란 변인으로 명시하고 모델별 분리 보고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425696"/>
            <a:ext cx="5410047" cy="1481328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273A52"/>
                </a:solidFill>
                <a:latin typeface="맑은 고딕"/>
              </a:rPr>
              <a:t>생성 프로토콜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100" b="0">
                <a:solidFill>
                  <a:srgbClr val="1E2227"/>
                </a:solidFill>
                <a:latin typeface="맑은 고딕"/>
              </a:rPr>
              <a:t>모든 모델을 </a:t>
            </a:r>
            <a:r>
              <a:rPr sz="1100" b="1">
                <a:solidFill>
                  <a:srgbClr val="1E2227"/>
                </a:solidFill>
                <a:latin typeface="맑은 고딕"/>
              </a:rPr>
              <a:t>비양자화(bf16)</a:t>
            </a:r>
            <a:r>
              <a:rPr sz="1100" b="0">
                <a:solidFill>
                  <a:srgbClr val="1E2227"/>
                </a:solidFill>
                <a:latin typeface="맑은 고딕"/>
              </a:rPr>
              <a:t>로 구동해 로짓·궤적 왜곡을 방지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100" b="0">
                <a:solidFill>
                  <a:srgbClr val="1E2227"/>
                </a:solidFill>
                <a:latin typeface="맑은 고딕"/>
              </a:rPr>
              <a:t>권장 디코딩(예: temp=0.6, top_p=0.95) · 무작위 시드 3회 반복 · </a:t>
            </a:r>
            <a:r>
              <a:rPr sz="1100" b="1">
                <a:solidFill>
                  <a:srgbClr val="1E2227"/>
                </a:solidFill>
                <a:latin typeface="맑은 고딕"/>
              </a:rPr>
              <a:t>Paired Bootstrap 95% CI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4425696"/>
            <a:ext cx="5410047" cy="1481328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273A52"/>
                </a:solidFill>
                <a:latin typeface="맑은 고딕"/>
              </a:rPr>
              <a:t>심사(라벨링) 프로토콜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100" b="0">
                <a:solidFill>
                  <a:srgbClr val="1E2227"/>
                </a:solidFill>
                <a:latin typeface="맑은 고딕"/>
              </a:rPr>
              <a:t>규칙 기반(문서 인덱스·날짜/URL 키워드) + </a:t>
            </a:r>
            <a:r>
              <a:rPr sz="1100" b="1">
                <a:solidFill>
                  <a:srgbClr val="1E2227"/>
                </a:solidFill>
                <a:latin typeface="맑은 고딕"/>
              </a:rPr>
              <a:t>LLM-as-a-Judge 하이브리드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100" b="0">
                <a:solidFill>
                  <a:srgbClr val="1E2227"/>
                </a:solidFill>
                <a:latin typeface="맑은 고딕"/>
              </a:rPr>
              <a:t>라벨 타당성 검증(판정자 편향·κ·언어화 갭; 부록 A)을 </a:t>
            </a:r>
            <a:r>
              <a:rPr sz="1100" b="1">
                <a:solidFill>
                  <a:srgbClr val="1E2227"/>
                </a:solidFill>
                <a:latin typeface="맑은 고딕"/>
              </a:rPr>
              <a:t>필수 병행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B7480"/>
                </a:solidFill>
                <a:latin typeface="맑은 고딕"/>
              </a:rPr>
              <a:t>§3.3 대상 모델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6B7480"/>
                </a:solidFill>
                <a:latin typeface="맑은 고딕"/>
              </a:rPr>
              <a:t>§3.3 실험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73A52"/>
                </a:solidFill>
                <a:latin typeface="맑은 고딕"/>
              </a:rPr>
              <a:t>전환 경로 진단 및 완화 기법 해부  (RQ1·RQ2)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06424"/>
            <a:ext cx="11094415" cy="0"/>
          </a:xfrm>
          <a:prstGeom prst="line">
            <a:avLst/>
          </a:prstGeom>
          <a:ln w="15875">
            <a:solidFill>
              <a:srgbClr val="27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16152"/>
            <a:ext cx="11094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480"/>
                </a:solidFill>
                <a:latin typeface="맑은 고딕"/>
              </a:rPr>
              <a:t>목적: 어느 전환 단계에 병목(Loss_L1 · Loss_L2 · AIR)과 특이 경로(Shortcut · Unfaithful)를 겪는지 규명 + 완화 기법 적용 시 전환 행렬 변화를 대조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18488"/>
          <a:ext cx="11094412" cy="3182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0010"/>
                <a:gridCol w="1727818"/>
                <a:gridCol w="4819704"/>
                <a:gridCol w="1636880"/>
              </a:tblGrid>
              <a:tr h="53035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273A52"/>
                          </a:solidFill>
                          <a:latin typeface="맑은 고딕"/>
                        </a:rPr>
                        <a:t>평가 환경</a:t>
                      </a:r>
                    </a:p>
                  </a:txBody>
                  <a:tcPr marL="82296" marR="82296" marT="45720" marB="45720" anchor="ctr">
                    <a:solidFill>
                      <a:srgbClr val="F4F5F7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273A52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 marL="82296" marR="82296" marT="45720" marB="45720" anchor="ctr">
                    <a:solidFill>
                      <a:srgbClr val="F4F5F7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273A52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82296" marR="82296" marT="45720" marB="45720" anchor="ctr">
                    <a:solidFill>
                      <a:srgbClr val="F4F5F7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273A52"/>
                          </a:solidFill>
                          <a:latin typeface="맑은 고딕"/>
                        </a:rPr>
                        <a:t>검증 목표</a:t>
                      </a:r>
                    </a:p>
                  </a:txBody>
                  <a:tcPr marL="82296" marR="82296" marT="45720" marB="45720" anchor="ctr">
                    <a:solidFill>
                      <a:srgbClr val="F4F5F7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</a:tr>
              <a:tr h="530351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273A52"/>
                          </a:solidFill>
                          <a:latin typeface="맑은 고딕"/>
                        </a:rPr>
                        <a:t>① Standard RAG (Zero-shot)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E2227"/>
                          </a:solidFill>
                          <a:latin typeface="맑은 고딕"/>
                        </a:rPr>
                        <a:t>대조군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E2227"/>
                          </a:solidFill>
                          <a:latin typeface="맑은 고딕"/>
                        </a:rPr>
                        <a:t>기본 검색 문서 주입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E2227"/>
                          </a:solidFill>
                          <a:latin typeface="맑은 고딕"/>
                        </a:rPr>
                        <a:t>기저 성능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</a:tr>
              <a:tr h="530351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273A52"/>
                          </a:solidFill>
                          <a:latin typeface="맑은 고딕"/>
                        </a:rPr>
                        <a:t>② CAD (+AdaCAD)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273A52"/>
                          </a:solidFill>
                          <a:latin typeface="맑은 고딕"/>
                        </a:rPr>
                        <a:t>(Shi 2024)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E2227"/>
                          </a:solidFill>
                          <a:latin typeface="맑은 고딕"/>
                        </a:rPr>
                        <a:t>디코딩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E2227"/>
                          </a:solidFill>
                          <a:latin typeface="맑은 고딕"/>
                        </a:rPr>
                        <a:t>(아키텍처 무관)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E2227"/>
                          </a:solidFill>
                          <a:latin typeface="맑은 고딕"/>
                        </a:rPr>
                        <a:t>문맥 유무 로짓 차이를 대비 증폭해 문맥 쪽으로 미는 기법 (전 구간 vs 답변 구간 한정 적용을 절제 비교)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E2227"/>
                          </a:solidFill>
                          <a:latin typeface="맑은 고딕"/>
                        </a:rPr>
                        <a:t>Loss_L1/L2 개선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</a:tr>
              <a:tr h="530351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273A52"/>
                          </a:solidFill>
                          <a:latin typeface="맑은 고딕"/>
                        </a:rPr>
                        <a:t>③ CD2 (Jin 2024)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E2227"/>
                          </a:solidFill>
                          <a:latin typeface="맑은 고딕"/>
                        </a:rPr>
                        <a:t>디코딩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E2227"/>
                          </a:solidFill>
                          <a:latin typeface="맑은 고딕"/>
                        </a:rPr>
                        <a:t>(아키텍처 무관)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E2227"/>
                          </a:solidFill>
                          <a:latin typeface="맑은 고딕"/>
                        </a:rPr>
                        <a:t>상충 문서 지식을 분리해 대비 디코딩 — CAD의 문맥vs파라메트릭과 달리 </a:t>
                      </a:r>
                      <a:r>
                        <a:rPr sz="1000" b="1">
                          <a:solidFill>
                            <a:srgbClr val="1E2227"/>
                          </a:solidFill>
                          <a:latin typeface="맑은 고딕"/>
                        </a:rPr>
                        <a:t>문서 간 충돌 자체</a:t>
                      </a:r>
                      <a:r>
                        <a:rPr sz="1000" b="0">
                          <a:solidFill>
                            <a:srgbClr val="1E2227"/>
                          </a:solidFill>
                          <a:latin typeface="맑은 고딕"/>
                        </a:rPr>
                        <a:t>를 겨냥(본 진단과 직접 맞물림)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E2227"/>
                          </a:solidFill>
                          <a:latin typeface="맑은 고딕"/>
                        </a:rPr>
                        <a:t>Loss_L2 개선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</a:tr>
              <a:tr h="530351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273A52"/>
                          </a:solidFill>
                          <a:latin typeface="맑은 고딕"/>
                        </a:rPr>
                        <a:t>④ Recency/Authority Prompting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E2227"/>
                          </a:solidFill>
                          <a:latin typeface="맑은 고딕"/>
                        </a:rPr>
                        <a:t>프롬프트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E2227"/>
                          </a:solidFill>
                          <a:latin typeface="맑은 고딕"/>
                        </a:rPr>
                        <a:t>(전략 이식)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E2227"/>
                          </a:solidFill>
                          <a:latin typeface="맑은 고딕"/>
                        </a:rPr>
                        <a:t>충돌 시 날짜 최신성·출처 권위를 우선 대조하도록 유도하는 프롬프트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E2227"/>
                          </a:solidFill>
                          <a:latin typeface="맑은 고딕"/>
                        </a:rPr>
                        <a:t>Loss_L2 개선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</a:tr>
              <a:tr h="53035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273A52"/>
                          </a:solidFill>
                          <a:latin typeface="맑은 고딕"/>
                        </a:rPr>
                        <a:t>⑤ Reflection Prompting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273A52"/>
                          </a:solidFill>
                          <a:latin typeface="맑은 고딕"/>
                        </a:rPr>
                        <a:t>(Self-RAG 반추 전략 차용)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E2227"/>
                          </a:solidFill>
                          <a:latin typeface="맑은 고딕"/>
                        </a:rPr>
                        <a:t>프롬프트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E2227"/>
                          </a:solidFill>
                          <a:latin typeface="맑은 고딕"/>
                        </a:rPr>
                        <a:t>(전략 이식)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E2227"/>
                          </a:solidFill>
                          <a:latin typeface="맑은 고딕"/>
                        </a:rPr>
                        <a:t>반추(reflection) 전략을 프롬프트로 차용해 결론과 문서의 부합·충돌 해소를 재검토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E2227"/>
                          </a:solidFill>
                          <a:latin typeface="맑은 고딕"/>
                        </a:rPr>
                        <a:t>AIR 완화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910327"/>
            <a:ext cx="1109441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80" b="0">
                <a:solidFill>
                  <a:srgbClr val="6B7480"/>
                </a:solidFill>
                <a:latin typeface="맑은 고딕"/>
              </a:rPr>
              <a:t>완화 기법은 §1.1·§2.2에서 정리한 것 중 </a:t>
            </a:r>
            <a:r>
              <a:rPr sz="1080" b="1">
                <a:solidFill>
                  <a:srgbClr val="6B7480"/>
                </a:solidFill>
                <a:latin typeface="맑은 고딕"/>
              </a:rPr>
              <a:t>단일 추론 모델에 이식 가능한 경량 기법(디코딩·프롬프트)</a:t>
            </a:r>
            <a:r>
              <a:rPr sz="1080" b="0">
                <a:solidFill>
                  <a:srgbClr val="6B7480"/>
                </a:solidFill>
                <a:latin typeface="맑은 고딕"/>
              </a:rPr>
              <a:t>만 대상 — 사고 모델로 </a:t>
            </a:r>
            <a:r>
              <a:rPr sz="1080" b="1">
                <a:solidFill>
                  <a:srgbClr val="6B7480"/>
                </a:solidFill>
                <a:latin typeface="맑은 고딕"/>
              </a:rPr>
              <a:t>이식(transplant) 시 거동을 해부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30951"/>
            <a:ext cx="1109441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80" b="1">
                <a:solidFill>
                  <a:srgbClr val="6B7480"/>
                </a:solidFill>
                <a:latin typeface="맑은 고딕"/>
              </a:rPr>
              <a:t>스코프 밖</a:t>
            </a:r>
            <a:r>
              <a:rPr sz="1080" b="0">
                <a:solidFill>
                  <a:srgbClr val="6B7480"/>
                </a:solidFill>
                <a:latin typeface="맑은 고딕"/>
              </a:rPr>
              <a:t>: ConflictRAG(외부 MLP+Entropy-TOPSIS)·MADAM-RAG(다중 에이전트)는 단일 모델을 외부 시스템으로 대체 → 본 연구 목표와 층위가 달라 제외(향후 과제)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51575"/>
            <a:ext cx="1109441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80" b="1">
                <a:solidFill>
                  <a:srgbClr val="1E2227"/>
                </a:solidFill>
                <a:latin typeface="맑은 고딕"/>
              </a:rPr>
              <a:t>절차</a:t>
            </a:r>
            <a:r>
              <a:rPr sz="1080" b="0">
                <a:solidFill>
                  <a:srgbClr val="1E2227"/>
                </a:solidFill>
                <a:latin typeface="맑은 고딕"/>
              </a:rPr>
              <a:t>: 5개 환경 × DRAGged·RAMDocs(순서 셔플) → 규칙 정규식 + LLM-Judge 하이브리드로 3단계 마킹 → 환경별 </a:t>
            </a:r>
            <a:r>
              <a:rPr sz="1080" b="1">
                <a:solidFill>
                  <a:srgbClr val="1E2227"/>
                </a:solidFill>
                <a:latin typeface="맑은 고딕"/>
              </a:rPr>
              <a:t>전체 전환 행렬</a:t>
            </a:r>
            <a:r>
              <a:rPr sz="1080" b="0">
                <a:solidFill>
                  <a:srgbClr val="1E2227"/>
                </a:solidFill>
                <a:latin typeface="맑은 고딕"/>
              </a:rPr>
              <a:t> 도출·대조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B7480"/>
                </a:solidFill>
                <a:latin typeface="맑은 고딕"/>
              </a:rPr>
              <a:t>§3.3 실험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6B7480"/>
                </a:solidFill>
                <a:latin typeface="맑은 고딕"/>
              </a:rPr>
              <a:t>§3.3 실험 2 (a)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73A52"/>
                </a:solidFill>
                <a:latin typeface="맑은 고딕"/>
              </a:rPr>
              <a:t>귀속 통제 — 충돌 고유성  (RQ3)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06424"/>
            <a:ext cx="11094415" cy="0"/>
          </a:xfrm>
          <a:prstGeom prst="line">
            <a:avLst/>
          </a:prstGeom>
          <a:ln w="15875">
            <a:solidFill>
              <a:srgbClr val="27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16152"/>
            <a:ext cx="11094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480"/>
                </a:solidFill>
                <a:latin typeface="맑은 고딕"/>
              </a:rPr>
              <a:t>목적: AIR·Shortcut·Unfaithful이 </a:t>
            </a:r>
            <a:r>
              <a:rPr sz="1200" b="1">
                <a:solidFill>
                  <a:srgbClr val="6B7480"/>
                </a:solidFill>
                <a:latin typeface="맑은 고딕"/>
              </a:rPr>
              <a:t>충돌 고유 현상</a:t>
            </a:r>
            <a:r>
              <a:rPr sz="1200" b="0">
                <a:solidFill>
                  <a:srgbClr val="6B7480"/>
                </a:solidFill>
                <a:latin typeface="맑은 고딕"/>
              </a:rPr>
              <a:t>인지, 난이도·문서 수의 부수 효과인지 분리 (Longpre 2021 · Xie 2024의 통제 패러다임 적용)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55064"/>
            <a:ext cx="5410047" cy="306324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273A52"/>
                </a:solidFill>
                <a:latin typeface="맑은 고딕"/>
              </a:rPr>
              <a:t>DRAGged 내부 대조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20" b="0">
                <a:solidFill>
                  <a:srgbClr val="1E2227"/>
                </a:solidFill>
                <a:latin typeface="맑은 고딕"/>
              </a:rPr>
              <a:t>채점 가능한 </a:t>
            </a:r>
            <a:r>
              <a:rPr sz="1120" b="1">
                <a:solidFill>
                  <a:srgbClr val="1E2227"/>
                </a:solidFill>
                <a:latin typeface="맑은 고딕"/>
              </a:rPr>
              <a:t>사실 기반 충돌군</a:t>
            </a:r>
            <a:r>
              <a:rPr sz="1120" b="0">
                <a:solidFill>
                  <a:srgbClr val="1E2227"/>
                </a:solidFill>
                <a:latin typeface="맑은 고딕"/>
              </a:rPr>
              <a:t>(시간적 62 + 오정보 5 = </a:t>
            </a:r>
            <a:r>
              <a:rPr sz="1120" b="1">
                <a:solidFill>
                  <a:srgbClr val="1E2227"/>
                </a:solidFill>
                <a:latin typeface="맑은 고딕"/>
              </a:rPr>
              <a:t>67건</a:t>
            </a:r>
            <a:r>
              <a:rPr sz="1120" b="0">
                <a:solidFill>
                  <a:srgbClr val="1E2227"/>
                </a:solidFill>
                <a:latin typeface="맑은 고딕"/>
              </a:rPr>
              <a:t>)  vs  </a:t>
            </a:r>
            <a:r>
              <a:rPr sz="1120" b="1">
                <a:solidFill>
                  <a:srgbClr val="1E2227"/>
                </a:solidFill>
                <a:latin typeface="맑은 고딕"/>
              </a:rPr>
              <a:t>비충돌 대조군</a:t>
            </a:r>
            <a:r>
              <a:rPr sz="1120" b="0">
                <a:solidFill>
                  <a:srgbClr val="1E2227"/>
                </a:solidFill>
                <a:latin typeface="맑은 고딕"/>
              </a:rPr>
              <a:t>(상보적 115 + 비충돌 161 = </a:t>
            </a:r>
            <a:r>
              <a:rPr sz="1120" b="1">
                <a:solidFill>
                  <a:srgbClr val="1E2227"/>
                </a:solidFill>
                <a:latin typeface="맑은 고딕"/>
              </a:rPr>
              <a:t>276건</a:t>
            </a:r>
            <a:r>
              <a:rPr sz="1120" b="0">
                <a:solidFill>
                  <a:srgbClr val="1E2227"/>
                </a:solidFill>
                <a:latin typeface="맑은 고딕"/>
              </a:rPr>
              <a:t>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2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120" b="0">
                <a:solidFill>
                  <a:srgbClr val="1E2227"/>
                </a:solidFill>
                <a:latin typeface="맑은 고딕"/>
              </a:rPr>
              <a:t>AIR·특이 경로율의 차이(Δ)를 측정하여 충돌 성분만 분리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2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120" b="0">
                <a:solidFill>
                  <a:srgbClr val="1E2227"/>
                </a:solidFill>
                <a:latin typeface="맑은 고딕"/>
              </a:rPr>
              <a:t>의견 충돌은 정답 채점이 불가하므로 AIR 비교에서 제외, </a:t>
            </a:r>
            <a:r>
              <a:rPr sz="1120" b="1">
                <a:solidFill>
                  <a:srgbClr val="1E2227"/>
                </a:solidFill>
                <a:latin typeface="맑은 고딕"/>
              </a:rPr>
              <a:t>Level 1 인지·대조 패턴 비교에만 사용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050" b="0">
                <a:solidFill>
                  <a:srgbClr val="6B7480"/>
                </a:solidFill>
                <a:latin typeface="맑은 고딕"/>
              </a:rPr>
              <a:t>사실 충돌 표본이 작은 점(67건)은 RAMDocs 대조로 보강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007" y="1655064"/>
            <a:ext cx="5410047" cy="306324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273A52"/>
                </a:solidFill>
                <a:latin typeface="맑은 고딕"/>
              </a:rPr>
              <a:t>RAMDocs 문서 구성 대조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20" b="1">
                <a:solidFill>
                  <a:srgbClr val="1E2227"/>
                </a:solidFill>
                <a:latin typeface="맑은 고딕"/>
              </a:rPr>
              <a:t>오정보 문서 포함(충돌)</a:t>
            </a:r>
            <a:r>
              <a:rPr sz="1120" b="0">
                <a:solidFill>
                  <a:srgbClr val="1E2227"/>
                </a:solidFill>
                <a:latin typeface="맑은 고딕"/>
              </a:rPr>
              <a:t>  vs  </a:t>
            </a:r>
            <a:r>
              <a:rPr sz="1120" b="1">
                <a:solidFill>
                  <a:srgbClr val="1E2227"/>
                </a:solidFill>
                <a:latin typeface="맑은 고딕"/>
              </a:rPr>
              <a:t>노이즈만 포함(비충돌·동일 문서 수)</a:t>
            </a:r>
            <a:r>
              <a:rPr sz="1120" b="0">
                <a:solidFill>
                  <a:srgbClr val="1E2227"/>
                </a:solidFill>
                <a:latin typeface="맑은 고딕"/>
              </a:rPr>
              <a:t> 서브셋을 매칭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2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120" b="0">
                <a:solidFill>
                  <a:srgbClr val="1E2227"/>
                </a:solidFill>
                <a:latin typeface="맑은 고딕"/>
              </a:rPr>
              <a:t>문서 개수를 통제한 채 </a:t>
            </a:r>
            <a:r>
              <a:rPr sz="1120" b="1">
                <a:solidFill>
                  <a:srgbClr val="1E2227"/>
                </a:solidFill>
                <a:latin typeface="맑은 고딕"/>
              </a:rPr>
              <a:t>충돌 유무의 순효과</a:t>
            </a:r>
            <a:r>
              <a:rPr sz="1120" b="0">
                <a:solidFill>
                  <a:srgbClr val="1E2227"/>
                </a:solidFill>
                <a:latin typeface="맑은 고딕"/>
              </a:rPr>
              <a:t>를 추정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901184"/>
            <a:ext cx="11094415" cy="105156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273A52"/>
                </a:solidFill>
                <a:latin typeface="맑은 고딕"/>
              </a:rPr>
              <a:t>통계 검정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200" b="0">
                <a:solidFill>
                  <a:srgbClr val="1E2227"/>
                </a:solidFill>
                <a:latin typeface="맑은 고딕"/>
              </a:rPr>
              <a:t>문서 수·질의 유형을 공변량으로 하는 </a:t>
            </a:r>
            <a:r>
              <a:rPr sz="1200" b="1">
                <a:solidFill>
                  <a:srgbClr val="1E2227"/>
                </a:solidFill>
                <a:latin typeface="맑은 고딕"/>
              </a:rPr>
              <a:t>혼합효과 로지스틱 회귀</a:t>
            </a:r>
            <a:r>
              <a:rPr sz="1200" b="0">
                <a:solidFill>
                  <a:srgbClr val="1E2227"/>
                </a:solidFill>
                <a:latin typeface="맑은 고딕"/>
              </a:rPr>
              <a:t>로 "충돌" 항의 유의성을 검정 (Paired Bootstrap 95% CI 병행)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B7480"/>
                </a:solidFill>
                <a:latin typeface="맑은 고딕"/>
              </a:rPr>
              <a:t>§3.3 실험 2 귀속 통제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6B7480"/>
                </a:solidFill>
                <a:latin typeface="맑은 고딕"/>
              </a:rPr>
              <a:t>§3.3 실험 2 (b)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73A52"/>
                </a:solidFill>
                <a:latin typeface="맑은 고딕"/>
              </a:rPr>
              <a:t>귀속 통제 — 사고 채널 (Thinking vs Non-thinking)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06424"/>
            <a:ext cx="11094415" cy="0"/>
          </a:xfrm>
          <a:prstGeom prst="line">
            <a:avLst/>
          </a:prstGeom>
          <a:ln w="15875">
            <a:solidFill>
              <a:srgbClr val="27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16152"/>
            <a:ext cx="11094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480"/>
                </a:solidFill>
                <a:latin typeface="맑은 고딕"/>
              </a:rPr>
              <a:t>관측 취약성이 </a:t>
            </a:r>
            <a:r>
              <a:rPr sz="1200" b="1">
                <a:solidFill>
                  <a:srgbClr val="6B7480"/>
                </a:solidFill>
                <a:latin typeface="맑은 고딕"/>
              </a:rPr>
              <a:t>사고 채널 고유</a:t>
            </a:r>
            <a:r>
              <a:rPr sz="1200" b="0">
                <a:solidFill>
                  <a:srgbClr val="6B7480"/>
                </a:solidFill>
                <a:latin typeface="맑은 고딕"/>
              </a:rPr>
              <a:t>인지 </a:t>
            </a:r>
            <a:r>
              <a:rPr sz="1200" b="1">
                <a:solidFill>
                  <a:srgbClr val="6B7480"/>
                </a:solidFill>
                <a:latin typeface="맑은 고딕"/>
              </a:rPr>
              <a:t>기저 모델서 온 것</a:t>
            </a:r>
            <a:r>
              <a:rPr sz="1200" b="0">
                <a:solidFill>
                  <a:srgbClr val="6B7480"/>
                </a:solidFill>
                <a:latin typeface="맑은 고딕"/>
              </a:rPr>
              <a:t>인지 통제 — 정확도(EM)·완화 EM 이득은 두 레짐서 공통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91056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</a:pPr>
            <a:r>
              <a:rPr sz="1250" b="0">
                <a:solidFill>
                  <a:srgbClr val="1E2227"/>
                </a:solidFill>
                <a:latin typeface="맑은 고딕"/>
              </a:rPr>
              <a:t>AIR·Shortcut은 분리된 사고 결론을 전제하므로 비-thinking 모델에서는 정의되지 않지만, </a:t>
            </a:r>
            <a:r>
              <a:rPr sz="1250" b="1">
                <a:solidFill>
                  <a:srgbClr val="1E2227"/>
                </a:solidFill>
                <a:latin typeface="맑은 고딕"/>
              </a:rPr>
              <a:t>충돌 해소 정확도(EM)와 완화 기법의 EM 이득</a:t>
            </a:r>
            <a:r>
              <a:rPr sz="1250" b="0">
                <a:solidFill>
                  <a:srgbClr val="1E2227"/>
                </a:solidFill>
                <a:latin typeface="맑은 고딕"/>
              </a:rPr>
              <a:t>은 두 레짐에서 공통으로 비교 가능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31136"/>
            <a:ext cx="5410047" cy="214884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273A52"/>
                </a:solidFill>
                <a:latin typeface="맑은 고딕"/>
              </a:rPr>
              <a:t>방법 1 (주력)  동일 가중치 토글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1E2227"/>
                </a:solidFill>
                <a:latin typeface="맑은 고딕"/>
              </a:rPr>
              <a:t>가중치를 고정한 채 </a:t>
            </a:r>
            <a:r>
              <a:rPr sz="1100" b="1">
                <a:solidFill>
                  <a:srgbClr val="1E2227"/>
                </a:solidFill>
                <a:latin typeface="맑은 고딕"/>
              </a:rPr>
              <a:t>사고 채널만 켜고 끔</a:t>
            </a:r>
            <a:r>
              <a:rPr sz="1100" b="0">
                <a:solidFill>
                  <a:srgbClr val="1E2227"/>
                </a:solidFill>
                <a:latin typeface="맑은 고딕"/>
              </a:rPr>
              <a:t> — 하이브리드 추론 모델의 thinking on/off 플래그, gpt-oss의 reasoning effort 레벨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030" b="0">
                <a:solidFill>
                  <a:srgbClr val="6B7480"/>
                </a:solidFill>
                <a:latin typeface="맑은 고딕"/>
              </a:rPr>
              <a:t>아키텍처·데이터를 완전히 통제한 가장 깨끗한 대조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0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100" b="1">
                <a:solidFill>
                  <a:srgbClr val="1E2227"/>
                </a:solidFill>
                <a:latin typeface="맑은 고딕"/>
              </a:rPr>
              <a:t>극단(go/no-go)</a:t>
            </a:r>
            <a:r>
              <a:rPr sz="1100" b="0">
                <a:solidFill>
                  <a:srgbClr val="1E2227"/>
                </a:solidFill>
                <a:latin typeface="맑은 고딕"/>
              </a:rPr>
              <a:t>: &lt;think&gt; 전체 마스킹 후 답만 생성 → 답 분포가 안 달라지면 사고 채널이 장식 = 진단 성립 안 함 (실험 3 truncation의 극단)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2231136"/>
            <a:ext cx="5410047" cy="214884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273A52"/>
                </a:solidFill>
                <a:latin typeface="맑은 고딕"/>
              </a:rPr>
              <a:t>방법 2 (보강)  Matched 비-thinking 형제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50" b="0">
                <a:solidFill>
                  <a:srgbClr val="1E2227"/>
                </a:solidFill>
                <a:latin typeface="맑은 고딕"/>
              </a:rPr>
              <a:t>가능한 경우 </a:t>
            </a:r>
            <a:r>
              <a:rPr sz="1150" b="1">
                <a:solidFill>
                  <a:srgbClr val="1E2227"/>
                </a:solidFill>
                <a:latin typeface="맑은 고딕"/>
              </a:rPr>
              <a:t>동일 베이스의 instruct(비-thinking) 형제 모델</a:t>
            </a:r>
            <a:r>
              <a:rPr sz="1150" b="0">
                <a:solidFill>
                  <a:srgbClr val="1E2227"/>
                </a:solidFill>
                <a:latin typeface="맑은 고딕"/>
              </a:rPr>
              <a:t>을 병행하여 토글 미지원 계열을 보완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562856"/>
            <a:ext cx="11094415" cy="160020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273A52"/>
                </a:solidFill>
                <a:latin typeface="맑은 고딕"/>
              </a:rPr>
              <a:t>귀속 판정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200" b="0">
                <a:solidFill>
                  <a:srgbClr val="1E2227"/>
                </a:solidFill>
                <a:latin typeface="맑은 고딕"/>
              </a:rPr>
              <a:t>사고 채널 도입이 (i) </a:t>
            </a:r>
            <a:r>
              <a:rPr sz="1200" b="1">
                <a:solidFill>
                  <a:srgbClr val="1E2227"/>
                </a:solidFill>
                <a:latin typeface="맑은 고딕"/>
              </a:rPr>
              <a:t>충돌 해소 정확도를 순증</a:t>
            </a:r>
            <a:r>
              <a:rPr sz="1200" b="0">
                <a:solidFill>
                  <a:srgbClr val="1E2227"/>
                </a:solidFill>
                <a:latin typeface="맑은 고딕"/>
              </a:rPr>
              <a:t>시키는지, (ii) 그럼에도 비-thinking에 없던 </a:t>
            </a:r>
            <a:r>
              <a:rPr sz="1200" b="1">
                <a:solidFill>
                  <a:srgbClr val="1E2227"/>
                </a:solidFill>
                <a:latin typeface="맑은 고딕"/>
              </a:rPr>
              <a:t>새로운 실패 양식(AIR·Shortcut·굴복)을 발생</a:t>
            </a:r>
            <a:r>
              <a:rPr sz="1200" b="0">
                <a:solidFill>
                  <a:srgbClr val="1E2227"/>
                </a:solidFill>
                <a:latin typeface="맑은 고딕"/>
              </a:rPr>
              <a:t>시키는지를 대조하여, 관측 현상을 사고 채널에 귀속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130" b="0">
                <a:solidFill>
                  <a:srgbClr val="6B7480"/>
                </a:solidFill>
                <a:latin typeface="맑은 고딕"/>
              </a:rPr>
              <a:t>이 설계는 동시기 연구의 think/no-think 매칭 통제(Li et al., 2026)와 정합적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B7480"/>
                </a:solidFill>
                <a:latin typeface="맑은 고딕"/>
              </a:rPr>
              <a:t>§3.3 실험 2 귀속 통제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6B7480"/>
                </a:solidFill>
                <a:latin typeface="맑은 고딕"/>
              </a:rPr>
              <a:t>§3.3 실험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73A52"/>
                </a:solidFill>
                <a:latin typeface="맑은 고딕"/>
              </a:rPr>
              <a:t>인과 개입: 사고→답변의 인과적 사용 규명  (RQ4)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06424"/>
            <a:ext cx="11094415" cy="0"/>
          </a:xfrm>
          <a:prstGeom prst="line">
            <a:avLst/>
          </a:prstGeom>
          <a:ln w="15875">
            <a:solidFill>
              <a:srgbClr val="27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16152"/>
            <a:ext cx="11094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480"/>
                </a:solidFill>
                <a:latin typeface="맑은 고딕"/>
              </a:rPr>
              <a:t>텍스트 상관을 넘어 </a:t>
            </a:r>
            <a:r>
              <a:rPr sz="1200" b="1">
                <a:solidFill>
                  <a:srgbClr val="6B7480"/>
                </a:solidFill>
                <a:latin typeface="맑은 고딕"/>
              </a:rPr>
              <a:t>사고 결론이 최종 답변을 실제로 구동하는지(L-b)</a:t>
            </a:r>
            <a:r>
              <a:rPr sz="1200" b="0">
                <a:solidFill>
                  <a:srgbClr val="6B7480"/>
                </a:solidFill>
                <a:latin typeface="맑은 고딕"/>
              </a:rPr>
              <a:t>를 개입으로 검증 — 두 개입 모두 </a:t>
            </a:r>
            <a:r>
              <a:rPr sz="1200" b="1">
                <a:solidFill>
                  <a:srgbClr val="6B7480"/>
                </a:solidFill>
                <a:latin typeface="맑은 고딕"/>
              </a:rPr>
              <a:t>내부 접근 없이 생성 조작만으로 구현</a:t>
            </a:r>
            <a:r>
              <a:rPr sz="1200" b="0">
                <a:solidFill>
                  <a:srgbClr val="6B7480"/>
                </a:solidFill>
                <a:latin typeface="맑은 고딕"/>
              </a:rPr>
              <a:t>, 절단 vs 재생성으로 삼각 검증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36776"/>
          <a:ext cx="11094414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3074"/>
                <a:gridCol w="1073653"/>
                <a:gridCol w="7157687"/>
              </a:tblGrid>
              <a:tr h="841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80" b="1">
                          <a:solidFill>
                            <a:srgbClr val="273A52"/>
                          </a:solidFill>
                          <a:latin typeface="맑은 고딕"/>
                        </a:rPr>
                        <a:t>개입 방법</a:t>
                      </a:r>
                    </a:p>
                  </a:txBody>
                  <a:tcPr marL="82296" marR="82296" marT="45720" marB="45720" anchor="ctr">
                    <a:solidFill>
                      <a:srgbClr val="F4F5F7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80" b="1">
                          <a:solidFill>
                            <a:srgbClr val="273A52"/>
                          </a:solidFill>
                          <a:latin typeface="맑은 고딕"/>
                        </a:rPr>
                        <a:t>위상</a:t>
                      </a:r>
                    </a:p>
                  </a:txBody>
                  <a:tcPr marL="82296" marR="82296" marT="45720" marB="45720" anchor="ctr">
                    <a:solidFill>
                      <a:srgbClr val="F4F5F7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80" b="1">
                          <a:solidFill>
                            <a:srgbClr val="273A52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82296" marR="82296" marT="45720" marB="45720" anchor="ctr">
                    <a:solidFill>
                      <a:srgbClr val="F4F5F7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273A52"/>
                          </a:solidFill>
                          <a:latin typeface="맑은 고딕"/>
                        </a:rPr>
                        <a:t>① Truncation /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273A52"/>
                          </a:solidFill>
                          <a:latin typeface="맑은 고딕"/>
                        </a:rPr>
                        <a:t>Early-Answering (Lanham 2023)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E2227"/>
                          </a:solidFill>
                          <a:latin typeface="맑은 고딕"/>
                        </a:rPr>
                        <a:t>1차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E2227"/>
                          </a:solidFill>
                          <a:latin typeface="맑은 고딕"/>
                        </a:rPr>
                        <a:t>&lt;/think&gt; 직전 등 여러 절단 지점에서 사고를 끊고 즉시 답변을 강제 생성 → 어느 지점부터 답변이 정답으로 고정되는지(= 사고 후반부가 답변에 인과적으로 기여하는지) 측정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273A52"/>
                          </a:solidFill>
                          <a:latin typeface="맑은 고딕"/>
                        </a:rPr>
                        <a:t>② On-policy Resampling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273A52"/>
                          </a:solidFill>
                          <a:latin typeface="맑은 고딕"/>
                        </a:rPr>
                        <a:t>(Bogdan 2025; Macar 2025)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E2227"/>
                          </a:solidFill>
                          <a:latin typeface="맑은 고딕"/>
                        </a:rPr>
                        <a:t>1차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E2227"/>
                          </a:solidFill>
                          <a:latin typeface="맑은 고딕"/>
                        </a:rPr>
                        <a:t>해소 판정 문장(Level 2) 직후 지점에서 이후 궤적을 K회 재생성 → 해당 판정이 최종 답변 분포를 얼마나 좌우하는지 인과 기여도를 추정. 이론적 배경: 인과 매개 분석(FRODO; Paul 2024)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325112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180" b="1">
                <a:solidFill>
                  <a:srgbClr val="1E2227"/>
                </a:solidFill>
                <a:latin typeface="맑은 고딕"/>
              </a:rPr>
              <a:t>판정</a:t>
            </a:r>
            <a:r>
              <a:rPr sz="1180" b="0">
                <a:solidFill>
                  <a:srgbClr val="1E2227"/>
                </a:solidFill>
                <a:latin typeface="맑은 고딕"/>
              </a:rPr>
              <a:t>: AIR 샘플에서 해소 판정의 인과 기여도가 낮다면 → "사고 결론이 답변에 인과적으로 반영되지 않는 </a:t>
            </a:r>
            <a:r>
              <a:rPr sz="1180" b="1">
                <a:solidFill>
                  <a:srgbClr val="1E2227"/>
                </a:solidFill>
                <a:latin typeface="맑은 고딕"/>
              </a:rPr>
              <a:t>진짜 유실</a:t>
            </a:r>
            <a:r>
              <a:rPr sz="1180" b="0">
                <a:solidFill>
                  <a:srgbClr val="1E2227"/>
                </a:solidFill>
                <a:latin typeface="맑은 고딕"/>
              </a:rPr>
              <a:t>"임을 실증 (단순 표기 오류가 아님)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B7480"/>
                </a:solidFill>
                <a:latin typeface="맑은 고딕"/>
              </a:rPr>
              <a:t>§3.3 실험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6B7480"/>
                </a:solidFill>
                <a:latin typeface="맑은 고딕"/>
              </a:rPr>
              <a:t>§4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73A52"/>
                </a:solidFill>
                <a:latin typeface="맑은 고딕"/>
              </a:rPr>
              <a:t>실험 결과: 실험별 예상 결과 (가설)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06424"/>
            <a:ext cx="11094415" cy="0"/>
          </a:xfrm>
          <a:prstGeom prst="line">
            <a:avLst/>
          </a:prstGeom>
          <a:ln w="15875">
            <a:solidFill>
              <a:srgbClr val="27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325880"/>
            <a:ext cx="5410047" cy="224028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273A52"/>
                </a:solidFill>
                <a:latin typeface="맑은 고딕"/>
              </a:rPr>
              <a:t>가설 1  위치·경로 병목  (RQ1)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30" b="0">
                <a:solidFill>
                  <a:srgbClr val="1E2227"/>
                </a:solidFill>
                <a:latin typeface="맑은 고딕"/>
              </a:rPr>
              <a:t>추론 모델은 높은 비율로 충돌을 인지하고 올바른 해소 판단(L2)을 내리지만, </a:t>
            </a:r>
            <a:r>
              <a:rPr sz="1130" b="1">
                <a:solidFill>
                  <a:srgbClr val="1E2227"/>
                </a:solidFill>
                <a:latin typeface="맑은 고딕"/>
              </a:rPr>
              <a:t>최종 답변에서 이를 유실하는 AIR이 유의하게 존재</a:t>
            </a:r>
            <a:r>
              <a:rPr sz="1130" b="0">
                <a:solidFill>
                  <a:srgbClr val="1E2227"/>
                </a:solidFill>
                <a:latin typeface="맑은 고딕"/>
              </a:rPr>
              <a:t>하며, 초기 문서 위치 고착(Shortcut)·과잉 추론에 의한 굴복이 관찰될 것이다.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007" y="1325880"/>
            <a:ext cx="5410047" cy="224028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273A52"/>
                </a:solidFill>
                <a:latin typeface="맑은 고딕"/>
              </a:rPr>
              <a:t>가설 2  인과적 유실  (RQ4)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30" b="0">
                <a:solidFill>
                  <a:srgbClr val="1E2227"/>
                </a:solidFill>
                <a:latin typeface="맑은 고딕"/>
              </a:rPr>
              <a:t>AIR 샘플에서 해소 판정 문장의 on-policy 인과 기여도가 비-AIR 대비 낮아, 사고 결론이 답변에 인과적으로 반영되지 않는 </a:t>
            </a:r>
            <a:r>
              <a:rPr sz="1130" b="1">
                <a:solidFill>
                  <a:srgbClr val="1E2227"/>
                </a:solidFill>
                <a:latin typeface="맑은 고딕"/>
              </a:rPr>
              <a:t>진짜 유실</a:t>
            </a:r>
            <a:r>
              <a:rPr sz="1130" b="0">
                <a:solidFill>
                  <a:srgbClr val="1E2227"/>
                </a:solidFill>
                <a:latin typeface="맑은 고딕"/>
              </a:rPr>
              <a:t>임이 실증될 것이다 (단순 표기 오류가 아님).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749040"/>
            <a:ext cx="5410047" cy="224028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273A52"/>
                </a:solidFill>
                <a:latin typeface="맑은 고딕"/>
              </a:rPr>
              <a:t>가설 3  완화 기법의 착시  (RQ2)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30" b="0">
                <a:solidFill>
                  <a:srgbClr val="1E2227"/>
                </a:solidFill>
                <a:latin typeface="맑은 고딕"/>
              </a:rPr>
              <a:t>기존 완화 기법 적용 시 EM은 상승하나 그 상당분이 </a:t>
            </a:r>
            <a:r>
              <a:rPr sz="1130" b="1">
                <a:solidFill>
                  <a:srgbClr val="1E2227"/>
                </a:solidFill>
                <a:latin typeface="맑은 고딕"/>
              </a:rPr>
              <a:t>Shortcut·Unfaithful·Blind-Hit 경로에 기인</a:t>
            </a:r>
            <a:r>
              <a:rPr sz="1130" b="0">
                <a:solidFill>
                  <a:srgbClr val="1E2227"/>
                </a:solidFill>
                <a:latin typeface="맑은 고딕"/>
              </a:rPr>
              <a:t>하여, 표면 정답률 상승이 반드시 진정한 대조 논리에서 오는 것은 아닐 것이다.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3749040"/>
            <a:ext cx="5410047" cy="224028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273A52"/>
                </a:solidFill>
                <a:latin typeface="맑은 고딕"/>
              </a:rPr>
              <a:t>가설 4  충돌 고유성  (RQ3)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130" b="0">
                <a:solidFill>
                  <a:srgbClr val="1E2227"/>
                </a:solidFill>
                <a:latin typeface="맑은 고딕"/>
              </a:rPr>
              <a:t>AIR·특이 경로율은 비충돌/상보 대조군 대비 충돌군에서 유의하게 높아, </a:t>
            </a:r>
            <a:r>
              <a:rPr sz="1130" b="1">
                <a:solidFill>
                  <a:srgbClr val="1E2227"/>
                </a:solidFill>
                <a:latin typeface="맑은 고딕"/>
              </a:rPr>
              <a:t>문서 수·난이도로 환원되지 않는 충돌 고유 성분</a:t>
            </a:r>
            <a:r>
              <a:rPr sz="1130" b="0">
                <a:solidFill>
                  <a:srgbClr val="1E2227"/>
                </a:solidFill>
                <a:latin typeface="맑은 고딕"/>
              </a:rPr>
              <a:t>이 존재할 것이다.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B7480"/>
                </a:solidFill>
                <a:latin typeface="맑은 고딕"/>
              </a:rPr>
              <a:t>§4 실험 결과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6B7480"/>
                </a:solidFill>
                <a:latin typeface="맑은 고딕"/>
              </a:rPr>
              <a:t>§5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73A52"/>
                </a:solidFill>
                <a:latin typeface="맑은 고딕"/>
              </a:rPr>
              <a:t>한계 (Limitations)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06424"/>
            <a:ext cx="11094415" cy="0"/>
          </a:xfrm>
          <a:prstGeom prst="line">
            <a:avLst/>
          </a:prstGeom>
          <a:ln w="15875">
            <a:solidFill>
              <a:srgbClr val="27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325880"/>
            <a:ext cx="1109441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73A52"/>
                </a:solidFill>
                <a:latin typeface="맑은 고딕"/>
              </a:rPr>
              <a:t>▪ </a:t>
            </a:r>
            <a:r>
              <a:rPr sz="1200" b="1">
                <a:solidFill>
                  <a:srgbClr val="273A52"/>
                </a:solidFill>
                <a:latin typeface="맑은 고딕"/>
              </a:rPr>
              <a:t>평가 범위 : </a:t>
            </a:r>
            <a:r>
              <a:rPr sz="1130" b="0">
                <a:solidFill>
                  <a:srgbClr val="1E2227"/>
                </a:solidFill>
                <a:latin typeface="맑은 고딕"/>
              </a:rPr>
              <a:t>행동(정확도) 평가는 사실 기반 충돌에 국한되며, 주관적 의견 충돌은 인지·대조 패턴으로만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39112"/>
            <a:ext cx="1109441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73A52"/>
                </a:solidFill>
                <a:latin typeface="맑은 고딕"/>
              </a:rPr>
              <a:t>▪ </a:t>
            </a:r>
            <a:r>
              <a:rPr sz="1200" b="1">
                <a:solidFill>
                  <a:srgbClr val="273A52"/>
                </a:solidFill>
                <a:latin typeface="맑은 고딕"/>
              </a:rPr>
              <a:t>표본 : </a:t>
            </a:r>
            <a:r>
              <a:rPr sz="1130" b="0">
                <a:solidFill>
                  <a:srgbClr val="1E2227"/>
                </a:solidFill>
                <a:latin typeface="맑은 고딕"/>
              </a:rPr>
              <a:t>원인별 통계는 사실충돌·의견충돌 두 묶음 수준까지만 주장 — DRAGged 단독 오정보(5건)는 정성 사례로만 제시하고, 정량 근거는 RAMDocs로 보강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52344"/>
            <a:ext cx="1109441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73A52"/>
                </a:solidFill>
                <a:latin typeface="맑은 고딕"/>
              </a:rPr>
              <a:t>▪ </a:t>
            </a:r>
            <a:r>
              <a:rPr sz="1200" b="1">
                <a:solidFill>
                  <a:srgbClr val="273A52"/>
                </a:solidFill>
                <a:latin typeface="맑은 고딕"/>
              </a:rPr>
              <a:t>라벨 타당성 : </a:t>
            </a:r>
            <a:r>
              <a:rPr sz="1130" b="0">
                <a:solidFill>
                  <a:srgbClr val="1E2227"/>
                </a:solidFill>
                <a:latin typeface="맑은 고딕"/>
              </a:rPr>
              <a:t>Level 2 라벨은 텍스트로부터의 추론이므로, 판정자 편향 통제·인간 κ로 판정 신뢰도를 확보하되 </a:t>
            </a:r>
            <a:r>
              <a:rPr sz="1130" b="1">
                <a:solidFill>
                  <a:srgbClr val="1E2227"/>
                </a:solidFill>
                <a:latin typeface="맑은 고딕"/>
              </a:rPr>
              <a:t>잔여 불확실성을 명시</a:t>
            </a:r>
            <a:r>
              <a:rPr sz="1130" b="0">
                <a:solidFill>
                  <a:srgbClr val="1E2227"/>
                </a:solidFill>
                <a:latin typeface="맑은 고딕"/>
              </a:rPr>
              <a:t>(상세는 부록 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65576"/>
            <a:ext cx="1109441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73A52"/>
                </a:solidFill>
                <a:latin typeface="맑은 고딕"/>
              </a:rPr>
              <a:t>▪ </a:t>
            </a:r>
            <a:r>
              <a:rPr sz="1200" b="1">
                <a:solidFill>
                  <a:srgbClr val="273A52"/>
                </a:solidFill>
                <a:latin typeface="맑은 고딕"/>
              </a:rPr>
              <a:t>인과 개입 범위 : </a:t>
            </a:r>
            <a:r>
              <a:rPr sz="1130" b="0">
                <a:solidFill>
                  <a:srgbClr val="1E2227"/>
                </a:solidFill>
                <a:latin typeface="맑은 고딕"/>
              </a:rPr>
              <a:t>인과 개입은 내부 접근 없이 생성 조작만으로 되는 truncation·resampling 2개로 한정 — 어텐션 마스킹·steering 등 내부 개입은 범위 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78808"/>
            <a:ext cx="1109441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73A52"/>
                </a:solidFill>
                <a:latin typeface="맑은 고딕"/>
              </a:rPr>
              <a:t>▪ </a:t>
            </a:r>
            <a:r>
              <a:rPr sz="1200" b="1">
                <a:solidFill>
                  <a:srgbClr val="273A52"/>
                </a:solidFill>
                <a:latin typeface="맑은 고딕"/>
              </a:rPr>
              <a:t>모델 스코프 : </a:t>
            </a:r>
            <a:r>
              <a:rPr sz="1130" b="0">
                <a:solidFill>
                  <a:srgbClr val="1E2227"/>
                </a:solidFill>
                <a:latin typeface="맑은 고딕"/>
              </a:rPr>
              <a:t>추론 모델 3계열 중심 — 증류 모델과 내부 trace 접근이 불가한 폐쇄형 상용 모델은 제외, gpt-oss의 Harmony 파싱 상이는 교란 변인으로 명시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92040"/>
            <a:ext cx="1109441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73A52"/>
                </a:solidFill>
                <a:latin typeface="맑은 고딕"/>
              </a:rPr>
              <a:t>▪ </a:t>
            </a:r>
            <a:r>
              <a:rPr sz="1200" b="1">
                <a:solidFill>
                  <a:srgbClr val="273A52"/>
                </a:solidFill>
                <a:latin typeface="맑은 고딕"/>
              </a:rPr>
              <a:t>스코프와 귀속 : </a:t>
            </a:r>
            <a:r>
              <a:rPr sz="1130" b="0">
                <a:solidFill>
                  <a:srgbClr val="1E2227"/>
                </a:solidFill>
                <a:latin typeface="맑은 고딕"/>
              </a:rPr>
              <a:t>AIR·Shortcut은 Thought→Text 아키텍처에서만 정의되는 실패 양식 → "thinking 모델 고유"는 결함이 아닌 명시적 스코프. 귀속은 thinking on/off 통제로 분리하며, </a:t>
            </a:r>
            <a:r>
              <a:rPr sz="1130" b="1">
                <a:solidFill>
                  <a:srgbClr val="1E2227"/>
                </a:solidFill>
                <a:latin typeface="맑은 고딕"/>
              </a:rPr>
              <a:t>비-thinking 모델에 대한 AIR 일반화는 주장하지 않음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05272"/>
            <a:ext cx="1109441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73A52"/>
                </a:solidFill>
                <a:latin typeface="맑은 고딕"/>
              </a:rPr>
              <a:t>▪ </a:t>
            </a:r>
            <a:r>
              <a:rPr sz="1200" b="1">
                <a:solidFill>
                  <a:srgbClr val="273A52"/>
                </a:solidFill>
                <a:latin typeface="맑은 고딕"/>
              </a:rPr>
              <a:t>인용 등급 : </a:t>
            </a:r>
            <a:r>
              <a:rPr sz="1130" b="0">
                <a:solidFill>
                  <a:srgbClr val="1E2227"/>
                </a:solidFill>
                <a:latin typeface="맑은 고딕"/>
              </a:rPr>
              <a:t>하중 근거는 모두 게재 확정 문헌으로 지탱 — 유지한 프리프린트는 직접 사용하는 데이터셋(DRAGged, RAMDocs로 이중화)과 resampling 방법 출처(Thought Anchors/Branches, 게재 백본으로 대체 가능)로 한정, 제출 시점에 재확인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B7480"/>
                </a:solidFill>
                <a:latin typeface="맑은 고딕"/>
              </a:rPr>
              <a:t>§5 한계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6B7480"/>
                </a:solidFill>
                <a:latin typeface="맑은 고딕"/>
              </a:rPr>
              <a:t>부록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73A52"/>
                </a:solidFill>
                <a:latin typeface="맑은 고딕"/>
              </a:rPr>
              <a:t>궤적 분석층: 지표를 설명하는 상관 분석 (부록)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06424"/>
            <a:ext cx="11094415" cy="0"/>
          </a:xfrm>
          <a:prstGeom prst="line">
            <a:avLst/>
          </a:prstGeom>
          <a:ln w="15875">
            <a:solidFill>
              <a:srgbClr val="27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16152"/>
            <a:ext cx="11094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480"/>
                </a:solidFill>
                <a:latin typeface="맑은 고딕"/>
              </a:rPr>
              <a:t>§3.2 지표가 '무슨 일이 X% 일어났나'라면, 본 분석층은 그 샘플의 </a:t>
            </a:r>
            <a:r>
              <a:rPr sz="1200" b="1">
                <a:solidFill>
                  <a:srgbClr val="6B7480"/>
                </a:solidFill>
                <a:latin typeface="맑은 고딕"/>
              </a:rPr>
              <a:t>'왜·어디서'</a:t>
            </a:r>
            <a:r>
              <a:rPr sz="1200" b="0">
                <a:solidFill>
                  <a:srgbClr val="6B7480"/>
                </a:solidFill>
                <a:latin typeface="맑은 고딕"/>
              </a:rPr>
              <a:t>를 봄 — 새 지표 아님(지표에 종속) · 상관 관측 · 개입 지점(실험 2)·트리거(실험 3) 특정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55064"/>
          <a:ext cx="11094414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2777"/>
                <a:gridCol w="3016902"/>
                <a:gridCol w="1070513"/>
                <a:gridCol w="3114222"/>
              </a:tblGrid>
              <a:tr h="841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80" b="1">
                          <a:solidFill>
                            <a:srgbClr val="273A52"/>
                          </a:solidFill>
                          <a:latin typeface="맑은 고딕"/>
                        </a:rPr>
                        <a:t>진단 목적 (3단계 병목)</a:t>
                      </a:r>
                    </a:p>
                  </a:txBody>
                  <a:tcPr marL="82296" marR="82296" marT="45720" marB="45720" anchor="ctr">
                    <a:solidFill>
                      <a:srgbClr val="F4F5F7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80" b="1">
                          <a:solidFill>
                            <a:srgbClr val="273A52"/>
                          </a:solidFill>
                          <a:latin typeface="맑은 고딕"/>
                        </a:rPr>
                        <a:t>담당 기법</a:t>
                      </a:r>
                    </a:p>
                  </a:txBody>
                  <a:tcPr marL="82296" marR="82296" marT="45720" marB="45720" anchor="ctr">
                    <a:solidFill>
                      <a:srgbClr val="F4F5F7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80" b="1">
                          <a:solidFill>
                            <a:srgbClr val="273A52"/>
                          </a:solidFill>
                          <a:latin typeface="맑은 고딕"/>
                        </a:rPr>
                        <a:t>성격</a:t>
                      </a:r>
                    </a:p>
                  </a:txBody>
                  <a:tcPr marL="82296" marR="82296" marT="45720" marB="45720" anchor="ctr">
                    <a:solidFill>
                      <a:srgbClr val="F4F5F7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80" b="1">
                          <a:solidFill>
                            <a:srgbClr val="273A52"/>
                          </a:solidFill>
                          <a:latin typeface="맑은 고딕"/>
                        </a:rPr>
                        <a:t>문헌 근거</a:t>
                      </a:r>
                    </a:p>
                  </a:txBody>
                  <a:tcPr marL="82296" marR="82296" marT="45720" marB="45720" anchor="ctr">
                    <a:solidFill>
                      <a:srgbClr val="F4F5F7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80" b="1">
                          <a:solidFill>
                            <a:srgbClr val="273A52"/>
                          </a:solidFill>
                          <a:latin typeface="맑은 고딕"/>
                        </a:rPr>
                        <a:t>① L1→L2 병목: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80" b="1">
                          <a:solidFill>
                            <a:srgbClr val="273A52"/>
                          </a:solidFill>
                          <a:latin typeface="맑은 고딕"/>
                        </a:rPr>
                        <a:t>명시적 대조 없이 도약(Shortcut)·초기 문서 고착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E2227"/>
                          </a:solidFill>
                          <a:latin typeface="맑은 고딕"/>
                        </a:rPr>
                        <a:t>B.2 Lock-in / RCPD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E2227"/>
                          </a:solidFill>
                          <a:latin typeface="맑은 고딕"/>
                        </a:rPr>
                        <a:t>상관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E2227"/>
                          </a:solidFill>
                          <a:latin typeface="맑은 고딕"/>
                        </a:rPr>
                        <a:t>Liu 2023;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E2227"/>
                          </a:solidFill>
                          <a:latin typeface="맑은 고딕"/>
                        </a:rPr>
                        <a:t>Bogdan 2025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80" b="1">
                          <a:solidFill>
                            <a:srgbClr val="273A52"/>
                          </a:solidFill>
                          <a:latin typeface="맑은 고딕"/>
                        </a:rPr>
                        <a:t>② L2 판정 오염: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80" b="1">
                          <a:solidFill>
                            <a:srgbClr val="273A52"/>
                          </a:solidFill>
                          <a:latin typeface="맑은 고딕"/>
                        </a:rPr>
                        <a:t>신념 흔들림·오답 지지(Loss_L2)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E2227"/>
                          </a:solidFill>
                          <a:latin typeface="맑은 고딕"/>
                        </a:rPr>
                        <a:t>B.1 Trajectory Semantic Shift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E2227"/>
                          </a:solidFill>
                          <a:latin typeface="맑은 고딕"/>
                        </a:rPr>
                        <a:t>상관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E2227"/>
                          </a:solidFill>
                          <a:latin typeface="맑은 고딕"/>
                        </a:rPr>
                        <a:t>Lanham 2023;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E2227"/>
                          </a:solidFill>
                          <a:latin typeface="맑은 고딕"/>
                        </a:rPr>
                        <a:t>Lee &amp; Hockenmaier 2025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80" b="1">
                          <a:solidFill>
                            <a:srgbClr val="273A52"/>
                          </a:solidFill>
                          <a:latin typeface="맑은 고딕"/>
                        </a:rPr>
                        <a:t>③ L2→FA 단절: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80" b="1">
                          <a:solidFill>
                            <a:srgbClr val="273A52"/>
                          </a:solidFill>
                          <a:latin typeface="맑은 고딕"/>
                        </a:rPr>
                        <a:t>올바른 판단 후 굴복(AIR)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E2227"/>
                          </a:solidFill>
                          <a:latin typeface="맑은 고딕"/>
                        </a:rPr>
                        <a:t>B.2 Overthinking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E2227"/>
                          </a:solidFill>
                          <a:latin typeface="맑은 고딕"/>
                        </a:rPr>
                        <a:t>+ B.3 Entropy Spike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E2227"/>
                          </a:solidFill>
                          <a:latin typeface="맑은 고딕"/>
                        </a:rPr>
                        <a:t>상관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E2227"/>
                          </a:solidFill>
                          <a:latin typeface="맑은 고딕"/>
                        </a:rPr>
                        <a:t>Kuhn 2023;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E2227"/>
                          </a:solidFill>
                          <a:latin typeface="맑은 고딕"/>
                        </a:rPr>
                        <a:t>Li 2026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80" b="1">
                          <a:solidFill>
                            <a:srgbClr val="273A52"/>
                          </a:solidFill>
                          <a:latin typeface="맑은 고딕"/>
                        </a:rPr>
                        <a:t>①~③ 인과 검증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E2227"/>
                          </a:solidFill>
                          <a:latin typeface="맑은 고딕"/>
                        </a:rPr>
                        <a:t>§3.3 실험 3 개입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E2227"/>
                          </a:solidFill>
                          <a:latin typeface="맑은 고딕"/>
                        </a:rPr>
                        <a:t>(truncation·resampling)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80" b="1">
                          <a:solidFill>
                            <a:srgbClr val="1E2227"/>
                          </a:solidFill>
                          <a:latin typeface="맑은 고딕"/>
                        </a:rPr>
                        <a:t>인과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E2227"/>
                          </a:solidFill>
                          <a:latin typeface="맑은 고딕"/>
                        </a:rPr>
                        <a:t>Lanham 2023; Bogdan 2025;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80" b="0">
                          <a:solidFill>
                            <a:srgbClr val="1E2227"/>
                          </a:solidFill>
                          <a:latin typeface="맑은 고딕"/>
                        </a:rPr>
                        <a:t>Macar 2025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  <a:lnL w="6350" cap="flat">
                      <a:solidFill>
                        <a:srgbClr val="D8DCE2"/>
                      </a:solidFill>
                    </a:lnL>
                    <a:lnR w="6350" cap="flat">
                      <a:solidFill>
                        <a:srgbClr val="D8DCE2"/>
                      </a:solidFill>
                    </a:lnR>
                    <a:lnT w="6350" cap="flat">
                      <a:solidFill>
                        <a:srgbClr val="D8DCE2"/>
                      </a:solidFill>
                    </a:lnT>
                    <a:lnB w="6350" cap="flat">
                      <a:solidFill>
                        <a:srgbClr val="D8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025896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150" b="0">
                <a:solidFill>
                  <a:srgbClr val="6B7480"/>
                </a:solidFill>
                <a:latin typeface="맑은 고딕"/>
              </a:rPr>
              <a:t>B.1~B.3은 모두 상관 관측이며 인과 주장은 안 함(인과는 실험 3 전담) · AIR·특이 경로가 예비 실측에서 유의할 때 선택 적용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B7480"/>
                </a:solidFill>
                <a:latin typeface="맑은 고딕"/>
              </a:rPr>
              <a:t>부록 B 궤적 분석층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6B7480"/>
                </a:solidFill>
                <a:latin typeface="맑은 고딕"/>
              </a:rPr>
              <a:t>부록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73A52"/>
                </a:solidFill>
                <a:latin typeface="맑은 고딕"/>
              </a:rPr>
              <a:t>궤적 분석층: 세부 방법 (B.1 ~ B.4)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06424"/>
            <a:ext cx="11094415" cy="0"/>
          </a:xfrm>
          <a:prstGeom prst="line">
            <a:avLst/>
          </a:prstGeom>
          <a:ln w="15875">
            <a:solidFill>
              <a:srgbClr val="27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325880"/>
            <a:ext cx="5410047" cy="237744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273A52"/>
                </a:solidFill>
                <a:latin typeface="맑은 고딕"/>
              </a:rPr>
              <a:t>B.1  Trajectory Semantic Shift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70" b="0">
                <a:solidFill>
                  <a:srgbClr val="1E2227"/>
                </a:solidFill>
                <a:latin typeface="맑은 고딕"/>
              </a:rPr>
              <a:t>CoT를 문장 단위로 분할하고 각 문장 임베딩과 </a:t>
            </a:r>
            <a:r>
              <a:rPr sz="1070" b="1">
                <a:solidFill>
                  <a:srgbClr val="1E2227"/>
                </a:solidFill>
                <a:latin typeface="맑은 고딕"/>
              </a:rPr>
              <a:t>모든 검색 문서</a:t>
            </a:r>
            <a:r>
              <a:rPr sz="1070" b="0">
                <a:solidFill>
                  <a:srgbClr val="1E2227"/>
                </a:solidFill>
                <a:latin typeface="맑은 고딕"/>
              </a:rPr>
              <a:t>의 코사인 유사도를 계산 → 정답 문서군 vs 충돌 문서군 중심과의 </a:t>
            </a:r>
            <a:r>
              <a:rPr sz="1070" b="1">
                <a:solidFill>
                  <a:srgbClr val="1E2227"/>
                </a:solidFill>
                <a:latin typeface="맑은 고딕"/>
              </a:rPr>
              <a:t>유사도 궤적을 시계열로 추적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7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70" b="0">
                <a:solidFill>
                  <a:srgbClr val="1E2227"/>
                </a:solidFill>
                <a:latin typeface="맑은 고딕"/>
              </a:rPr>
              <a:t>AIR 샘플에서 마지막 문장까지 정답 군에 가깝다가 &lt;think&gt; 종료 임계 영역에서 급격히 충돌 군으로 기우는 </a:t>
            </a:r>
            <a:r>
              <a:rPr sz="1070" b="1">
                <a:solidFill>
                  <a:srgbClr val="1E2227"/>
                </a:solidFill>
                <a:latin typeface="맑은 고딕"/>
              </a:rPr>
              <a:t>Late Shift</a:t>
            </a:r>
            <a:r>
              <a:rPr sz="1070" b="0">
                <a:solidFill>
                  <a:srgbClr val="1E2227"/>
                </a:solidFill>
                <a:latin typeface="맑은 고딕"/>
              </a:rPr>
              <a:t>를 관측 → 실험 2의 개입 대상으로 지정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007" y="1325880"/>
            <a:ext cx="5410047" cy="237744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273A52"/>
                </a:solidFill>
                <a:latin typeface="맑은 고딕"/>
              </a:rPr>
              <a:t>B.2  RCPD: Lock-in · Overthinking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70" b="0">
                <a:solidFill>
                  <a:srgbClr val="1E2227"/>
                </a:solidFill>
                <a:latin typeface="맑은 고딕"/>
              </a:rPr>
              <a:t>충돌 감지(L1)와 해소 확정(L2)이 전체 사고 길이 중 </a:t>
            </a:r>
            <a:r>
              <a:rPr sz="1070" b="1">
                <a:solidFill>
                  <a:srgbClr val="1E2227"/>
                </a:solidFill>
                <a:latin typeface="맑은 고딕"/>
              </a:rPr>
              <a:t>어느 토큰 인덱스에서 발생하는지</a:t>
            </a:r>
            <a:r>
              <a:rPr sz="1070" b="0">
                <a:solidFill>
                  <a:srgbClr val="1E2227"/>
                </a:solidFill>
                <a:latin typeface="맑은 고딕"/>
              </a:rPr>
              <a:t> 측정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7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70" b="1">
                <a:solidFill>
                  <a:srgbClr val="1E2227"/>
                </a:solidFill>
                <a:latin typeface="맑은 고딕"/>
              </a:rPr>
              <a:t>Lock-in Effect</a:t>
            </a:r>
            <a:r>
              <a:rPr sz="1070" b="0">
                <a:solidFill>
                  <a:srgbClr val="1E2227"/>
                </a:solidFill>
                <a:latin typeface="맑은 고딕"/>
              </a:rPr>
              <a:t>: 입력 초기(Top-1) 문서가 앞쪽 10% 토큰을 지배하고 이 초기 판단이 최종까지 이어지는지 → Shortcut의 상관 원인 (근거: Lost in the Middle)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7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70" b="1">
                <a:solidFill>
                  <a:srgbClr val="1E2227"/>
                </a:solidFill>
                <a:latin typeface="맑은 고딕"/>
              </a:rPr>
              <a:t>Overthinking</a:t>
            </a:r>
            <a:r>
              <a:rPr sz="1070" b="0">
                <a:solidFill>
                  <a:srgbClr val="1E2227"/>
                </a:solidFill>
                <a:latin typeface="맑은 고딕"/>
              </a:rPr>
              <a:t>: L2 결론 이후 불필요한 사고 토큰이 길게 이어질 때 굴복(Capitulation)이 늘어나는지 (근거: Stop Overthinking, TMLR 2025)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886200"/>
            <a:ext cx="5410047" cy="237744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273A52"/>
                </a:solidFill>
                <a:latin typeface="맑은 고딕"/>
              </a:rPr>
              <a:t>B.3  Token-level Entropy &amp; Perplexity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70" b="0">
                <a:solidFill>
                  <a:srgbClr val="1E2227"/>
                </a:solidFill>
                <a:latin typeface="맑은 고딕"/>
              </a:rPr>
              <a:t>CoT 전반 및 답변 첫 토큰 시점의 </a:t>
            </a:r>
            <a:r>
              <a:rPr sz="1070" b="1">
                <a:solidFill>
                  <a:srgbClr val="1E2227"/>
                </a:solidFill>
                <a:latin typeface="맑은 고딕"/>
              </a:rPr>
              <a:t>샤논 엔트로피와 Perplexity</a:t>
            </a:r>
            <a:r>
              <a:rPr sz="1070" b="0">
                <a:solidFill>
                  <a:srgbClr val="1E2227"/>
                </a:solidFill>
                <a:latin typeface="맑은 고딕"/>
              </a:rPr>
              <a:t>를 측정 (Kuhn 2023)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7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70" b="1">
                <a:solidFill>
                  <a:srgbClr val="1E2227"/>
                </a:solidFill>
                <a:latin typeface="맑은 고딕"/>
              </a:rPr>
              <a:t>가설</a:t>
            </a:r>
            <a:r>
              <a:rPr sz="1070" b="0">
                <a:solidFill>
                  <a:srgbClr val="1E2227"/>
                </a:solidFill>
                <a:latin typeface="맑은 고딕"/>
              </a:rPr>
              <a:t>: AIR 샘플은 L2에서 올바른 결론을 적었더라도 해당 토큰 엔트로피가 유의하게 높고(Internal Hesitation), 특히 </a:t>
            </a:r>
            <a:r>
              <a:rPr sz="1070" b="1">
                <a:solidFill>
                  <a:srgbClr val="1E2227"/>
                </a:solidFill>
                <a:latin typeface="맑은 고딕"/>
              </a:rPr>
              <a:t>&lt;/think&gt;→답변 첫 토큰 전환 임계 지점에서 엔트로피가 스파이크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000" b="0">
                <a:solidFill>
                  <a:srgbClr val="6B7480"/>
                </a:solidFill>
                <a:latin typeface="맑은 고딕"/>
              </a:rPr>
              <a:t>→ 향후 처방 설계 시 트리거 신호 후보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3886200"/>
            <a:ext cx="5410047" cy="237744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91440"/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273A52"/>
                </a:solidFill>
                <a:latin typeface="맑은 고딕"/>
              </a:rPr>
              <a:t>B.4  오픈소스 통합 진단 프레임워크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70" b="1">
                <a:solidFill>
                  <a:srgbClr val="1E2227"/>
                </a:solidFill>
                <a:latin typeface="맑은 고딕"/>
              </a:rPr>
              <a:t>ThinkConflict-Diagnoser</a:t>
            </a:r>
            <a:r>
              <a:rPr sz="1070" b="0">
                <a:solidFill>
                  <a:srgbClr val="1E2227"/>
                </a:solidFill>
                <a:latin typeface="맑은 고딕"/>
              </a:rPr>
              <a:t>: ① 3-Stage Audit Engine(전환 행렬 도출) ② Trajectory Profiler(상관 진단 시각화) ③ Causal Prober(개입 자동 실행·인과 기여도 리포트)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070" b="0">
                <a:solidFill>
                  <a:srgbClr val="273A52"/>
                </a:solidFill>
                <a:latin typeface="맑은 고딕"/>
              </a:rPr>
              <a:t>•  </a:t>
            </a:r>
            <a:r>
              <a:rPr sz="1070" b="0">
                <a:solidFill>
                  <a:srgbClr val="1E2227"/>
                </a:solidFill>
                <a:latin typeface="맑은 고딕"/>
              </a:rPr>
              <a:t>후속 연구자가 임의의 추론 모델·완화 기법을 </a:t>
            </a:r>
            <a:r>
              <a:rPr sz="1070" b="1">
                <a:solidFill>
                  <a:srgbClr val="1E2227"/>
                </a:solidFill>
                <a:latin typeface="맑은 고딕"/>
              </a:rPr>
              <a:t>플러그인하여 AIR·Shortcut을 감사(Audit)</a:t>
            </a:r>
            <a:r>
              <a:rPr sz="1070" b="0">
                <a:solidFill>
                  <a:srgbClr val="1E2227"/>
                </a:solidFill>
                <a:latin typeface="맑은 고딕"/>
              </a:rPr>
              <a:t>하고, 상관 관측을 인과 개입으로 즉시 검증하는 표준 툴킷 제공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B7480"/>
                </a:solidFill>
                <a:latin typeface="맑은 고딕"/>
              </a:rPr>
              <a:t>부록 B 궤적 분석층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맑은 고딕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