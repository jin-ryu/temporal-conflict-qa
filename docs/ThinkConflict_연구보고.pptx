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40280"/>
            <a:ext cx="82296" cy="192024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214884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3300" b="1">
                <a:solidFill>
                  <a:srgbClr val="273A52"/>
                </a:solidFill>
                <a:latin typeface="맑은 고딕"/>
                <a:ea typeface="맑은 고딕"/>
              </a:rPr>
              <a:t>Lost in Translation from Thought to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7889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700" b="0">
                <a:solidFill>
                  <a:srgbClr val="6B7480"/>
                </a:solidFill>
                <a:latin typeface="맑은 고딕"/>
                <a:ea typeface="맑은 고딕"/>
              </a:rPr>
              <a:t>Investigating Reasoning-Answer Inconsistency in RAG Conflicts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5204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600" b="1">
                <a:solidFill>
                  <a:srgbClr val="1E2227"/>
                </a:solidFill>
                <a:latin typeface="맑은 고딕"/>
                <a:ea typeface="맑은 고딕"/>
              </a:rPr>
              <a:t>연구 여정과 연구 계획 보고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3977639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300" b="0">
                <a:solidFill>
                  <a:srgbClr val="6B7480"/>
                </a:solidFill>
                <a:latin typeface="맑은 고딕"/>
                <a:ea typeface="맑은 고딕"/>
              </a:rPr>
              <a:t>세 차례의 시도가 남긴 질문 — "정답을 맞혀도, 그 정답은 어디서 왔는가" — 를 진단하는 계획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5897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150" b="0">
                <a:solidFill>
                  <a:srgbClr val="6B7480"/>
                </a:solidFill>
                <a:latin typeface="맑은 고딕"/>
                <a:ea typeface="맑은 고딕"/>
              </a:rPr>
              <a:t>투고 목표: ACL / EMNLP Main (Long) · 진단·해석가능성 트랙      |      데이터사이언스융합학과  유진      |      2026. 07.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250" b="1">
                <a:solidFill>
                  <a:srgbClr val="6B7480"/>
                </a:solidFill>
                <a:latin typeface="맑은 고딕"/>
                <a:ea typeface="맑은 고딕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목차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950" b="0">
                <a:solidFill>
                  <a:srgbClr val="6B7480"/>
                </a:solidFill>
                <a:latin typeface="맑은 고딕"/>
                <a:ea typeface="맑은 고딕"/>
              </a:rPr>
              <a:t>목차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r>
              <a:rPr sz="950" b="0">
                <a:solidFill>
                  <a:srgbClr val="6B7480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81328"/>
            <a:ext cx="685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700" b="1">
                <a:solidFill>
                  <a:srgbClr val="273A52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481328"/>
            <a:ext cx="8778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450" b="1">
                <a:solidFill>
                  <a:srgbClr val="1E2227"/>
                </a:solidFill>
                <a:latin typeface="맑은 고딕"/>
                <a:ea typeface="맑은 고딕"/>
              </a:rPr>
              <a:t>연구 여정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792224"/>
            <a:ext cx="8778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080" b="0">
                <a:solidFill>
                  <a:srgbClr val="6B7480"/>
                </a:solidFill>
                <a:latin typeface="맑은 고딕"/>
                <a:ea typeface="맑은 고딕"/>
              </a:rPr>
              <a:t>선행 시도 V1-V3의 성과·한계  ·  ThinkConflict 전환의 근거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1527048"/>
            <a:ext cx="139903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r>
              <a:rPr sz="1200" b="0">
                <a:solidFill>
                  <a:srgbClr val="6B7480"/>
                </a:solidFill>
                <a:latin typeface="맑은 고딕"/>
                <a:ea typeface="맑은 고딕"/>
              </a:rPr>
              <a:t>03 - 04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084832"/>
            <a:ext cx="11091672" cy="1016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139696"/>
            <a:ext cx="685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700" b="1">
                <a:solidFill>
                  <a:srgbClr val="273A52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2139696"/>
            <a:ext cx="8778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450" b="1">
                <a:solidFill>
                  <a:srgbClr val="1E2227"/>
                </a:solidFill>
                <a:latin typeface="맑은 고딕"/>
                <a:ea typeface="맑은 고딕"/>
              </a:rPr>
              <a:t>서론  (§1)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450591"/>
            <a:ext cx="8778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080" b="0">
                <a:solidFill>
                  <a:srgbClr val="6B7480"/>
                </a:solidFill>
                <a:latin typeface="맑은 고딕"/>
                <a:ea typeface="맑은 고딕"/>
              </a:rPr>
              <a:t>배경 및 문제 정의  ·  연구 동기  ·  기여  ·  개념 구분(L-a·L-b·L-c)  ·  연구 질문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2185415"/>
            <a:ext cx="139903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r>
              <a:rPr sz="1200" b="0">
                <a:solidFill>
                  <a:srgbClr val="6B7480"/>
                </a:solidFill>
                <a:latin typeface="맑은 고딕"/>
                <a:ea typeface="맑은 고딕"/>
              </a:rPr>
              <a:t>05 - 09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743200"/>
            <a:ext cx="11091672" cy="1016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798063"/>
            <a:ext cx="685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700" b="1">
                <a:solidFill>
                  <a:srgbClr val="273A52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2798063"/>
            <a:ext cx="8778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450" b="1">
                <a:solidFill>
                  <a:srgbClr val="1E2227"/>
                </a:solidFill>
                <a:latin typeface="맑은 고딕"/>
                <a:ea typeface="맑은 고딕"/>
              </a:rPr>
              <a:t>관련 연구  (§2)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108959"/>
            <a:ext cx="8778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080" b="0">
                <a:solidFill>
                  <a:srgbClr val="6B7480"/>
                </a:solidFill>
                <a:latin typeface="맑은 고딕"/>
                <a:ea typeface="맑은 고딕"/>
              </a:rPr>
              <a:t>충돌 진단 · 충돌 완화 · 진단·통제 방법론 - 본 연구의 위치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0" y="2843783"/>
            <a:ext cx="139903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r>
              <a:rPr sz="1200" b="0">
                <a:solidFill>
                  <a:srgbClr val="6B7480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401568"/>
            <a:ext cx="11091672" cy="1016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3456431"/>
            <a:ext cx="685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700" b="1">
                <a:solidFill>
                  <a:srgbClr val="273A52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3456431"/>
            <a:ext cx="8778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450" b="1">
                <a:solidFill>
                  <a:srgbClr val="1E2227"/>
                </a:solidFill>
                <a:latin typeface="맑은 고딕"/>
                <a:ea typeface="맑은 고딕"/>
              </a:rPr>
              <a:t>방법론 - 데이터  (§3.1)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767327"/>
            <a:ext cx="8778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080" b="0">
                <a:solidFill>
                  <a:srgbClr val="6B7480"/>
                </a:solidFill>
                <a:latin typeface="맑은 고딕"/>
                <a:ea typeface="맑은 고딕"/>
              </a:rPr>
              <a:t>DRAGged · RAMDocs · QACC 구조와 가공  ·  치환 증강  ·  검정력 계획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3502151"/>
            <a:ext cx="139903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r>
              <a:rPr sz="1200" b="0">
                <a:solidFill>
                  <a:srgbClr val="6B7480"/>
                </a:solidFill>
                <a:latin typeface="맑은 고딕"/>
                <a:ea typeface="맑은 고딕"/>
              </a:rPr>
              <a:t>11 - 16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059935"/>
            <a:ext cx="11091672" cy="1016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4114799"/>
            <a:ext cx="685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700" b="1">
                <a:solidFill>
                  <a:srgbClr val="273A52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4114799"/>
            <a:ext cx="8778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450" b="1">
                <a:solidFill>
                  <a:srgbClr val="1E2227"/>
                </a:solidFill>
                <a:latin typeface="맑은 고딕"/>
                <a:ea typeface="맑은 고딕"/>
              </a:rPr>
              <a:t>방법론 - 진단·실험  (§3.2-3.3)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4425695"/>
            <a:ext cx="8778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080" b="0">
                <a:solidFill>
                  <a:srgbClr val="6B7480"/>
                </a:solidFill>
                <a:latin typeface="맑은 고딕"/>
                <a:ea typeface="맑은 고딕"/>
              </a:rPr>
              <a:t>3단계 라벨링 · 지표 체계 · 라벨 타당성  ·  실험 1-3 설계 · 자원 계획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0" y="4160519"/>
            <a:ext cx="139903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r>
              <a:rPr sz="1200" b="0">
                <a:solidFill>
                  <a:srgbClr val="6B7480"/>
                </a:solidFill>
                <a:latin typeface="맑은 고딕"/>
                <a:ea typeface="맑은 고딕"/>
              </a:rPr>
              <a:t>17 - 26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4718303"/>
            <a:ext cx="11091672" cy="1016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4773167"/>
            <a:ext cx="685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700" b="1">
                <a:solidFill>
                  <a:srgbClr val="273A52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25880" y="4773167"/>
            <a:ext cx="8778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450" b="1">
                <a:solidFill>
                  <a:srgbClr val="1E2227"/>
                </a:solidFill>
                <a:latin typeface="맑은 고딕"/>
                <a:ea typeface="맑은 고딕"/>
              </a:rPr>
              <a:t>결과 계획 · 한계 · 향후 연구  (§4-6)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25880" y="5084063"/>
            <a:ext cx="8778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080" b="0">
                <a:solidFill>
                  <a:srgbClr val="6B7480"/>
                </a:solidFill>
                <a:latin typeface="맑은 고딕"/>
                <a:ea typeface="맑은 고딕"/>
              </a:rPr>
              <a:t>예상 결과와 보고 계층  ·  한계  ·  진단 결과에 따른 분기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0" y="4818887"/>
            <a:ext cx="139903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r>
              <a:rPr sz="1200" b="0">
                <a:solidFill>
                  <a:srgbClr val="6B7480"/>
                </a:solidFill>
                <a:latin typeface="맑은 고딕"/>
                <a:ea typeface="맑은 고딕"/>
              </a:rPr>
              <a:t>27 - 29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5376671"/>
            <a:ext cx="11091672" cy="1016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5431535"/>
            <a:ext cx="685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700" b="1">
                <a:solidFill>
                  <a:srgbClr val="273A52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25880" y="5431535"/>
            <a:ext cx="8778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450" b="1">
                <a:solidFill>
                  <a:srgbClr val="1E2227"/>
                </a:solidFill>
                <a:latin typeface="맑은 고딕"/>
                <a:ea typeface="맑은 고딕"/>
              </a:rPr>
              <a:t>부록 · 정리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25880" y="5742431"/>
            <a:ext cx="8778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080" b="0">
                <a:solidFill>
                  <a:srgbClr val="6B7480"/>
                </a:solidFill>
                <a:latin typeface="맑은 고딕"/>
                <a:ea typeface="맑은 고딕"/>
              </a:rPr>
              <a:t>궤적 분석층(부록 B)  ·  요약 및 논의 사항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41280" y="5477255"/>
            <a:ext cx="139903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r>
              <a:rPr sz="1200" b="0">
                <a:solidFill>
                  <a:srgbClr val="6B7480"/>
                </a:solidFill>
                <a:latin typeface="맑은 고딕"/>
                <a:ea typeface="맑은 고딕"/>
              </a:rPr>
              <a:t>30 - 31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250" b="1">
                <a:solidFill>
                  <a:srgbClr val="6B7480"/>
                </a:solidFill>
                <a:latin typeface="맑은 고딕"/>
                <a:ea typeface="맑은 고딕"/>
              </a:rPr>
              <a:t>연구 여정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선행 시도 V1–V3: 목표 · 성과 · 한계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950" b="0">
                <a:solidFill>
                  <a:srgbClr val="6B7480"/>
                </a:solidFill>
                <a:latin typeface="맑은 고딕"/>
                <a:ea typeface="맑은 고딕"/>
              </a:rPr>
              <a:t>연구 여정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r>
              <a:rPr sz="950" b="0">
                <a:solidFill>
                  <a:srgbClr val="6B748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61872"/>
            <a:ext cx="1109167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230" b="0">
                <a:solidFill>
                  <a:srgbClr val="6B7480"/>
                </a:solidFill>
                <a:latin typeface="맑은 고딕"/>
                <a:ea typeface="맑은 고딕"/>
              </a:rPr>
              <a:t>시간충돌 RAG 하나의 문제를 논문 타입을 바꿔가며 세 차례 공략 — 각 시도의 자산은 계승하고, 한계는 다음 전환의 이유가 되었습니다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700784"/>
          <a:ext cx="11091672" cy="3255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246120"/>
                <a:gridCol w="2871216"/>
                <a:gridCol w="3236976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버전 · 타입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시도했나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얻었나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왜 멈췄나 (전환 이유)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V1 · TV-RAG</a:t>
                      </a:r>
                    </a:p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040" b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해결 (Mitigation)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올바른 시점 문서를 선택할 때만 보상하는 </a:t>
                      </a: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강화학습(GRPO) 보상 모델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설계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"진위와 </a:t>
                      </a: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시간적 유효성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은 다르다"는 문제 정의 · 통제 실험 환경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독창성 상실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— 동시기 유사 RL 충돌해소 연구 급증(Time Travel 등)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V2 · 평가 맹점</a:t>
                      </a:r>
                    </a:p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040" b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진단 (Diagnosis)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기존 인용 지표가 </a:t>
                      </a: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틀린 시점 문서 인용도 통과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시키는 맹점을 실증(5모델 · 48실험)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맹점의 보편성 입증 · </a:t>
                      </a: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충돌 견고성 = 독립 능력 축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발견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기여도 한계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— 현상 보고만으로는 Main Track 미달(Findings 수준)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V3 · GoldCite</a:t>
                      </a:r>
                    </a:p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040" b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지표 제안 (Metric)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올바른 시점 기준 문서만 인정하는 </a:t>
                      </a: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시점-유효 인용 지표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+ 오류 진단 프레임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파이프라인 비대칭(근거 해리)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관찰 — 정답인데 근거는 엉뚱한 곳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선점·데이터 희소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— 유사 지표(GaRAGe, ACL'25) 발표 + 시간충돌 데이터 희소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016752"/>
            <a:ext cx="45720" cy="384048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6016752"/>
            <a:ext cx="11045952" cy="384048"/>
          </a:xfrm>
          <a:prstGeom prst="rect">
            <a:avLst/>
          </a:prstGeom>
          <a:solidFill>
            <a:srgbClr val="ED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tIns="0" bIns="0"/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1">
                <a:solidFill>
                  <a:srgbClr val="273A52"/>
                </a:solidFill>
                <a:latin typeface="맑은 고딕"/>
                <a:ea typeface="맑은 고딕"/>
              </a:rPr>
              <a:t>핵심   </a:t>
            </a:r>
            <a:r>
              <a:rPr sz="1150" b="0">
                <a:solidFill>
                  <a:srgbClr val="1E2227"/>
                </a:solidFill>
                <a:latin typeface="맑은 고딕"/>
                <a:ea typeface="맑은 고딕"/>
              </a:rPr>
              <a:t>세 시도를 관통하며 남은 문제의식 — </a:t>
            </a:r>
            <a:r>
              <a:rPr sz="1150" b="1">
                <a:solidFill>
                  <a:srgbClr val="1E2227"/>
                </a:solidFill>
                <a:latin typeface="맑은 고딕"/>
                <a:ea typeface="맑은 고딕"/>
              </a:rPr>
              <a:t>"모델은 정답을 맞히면서도 근거와 내부 판단은 엉뚱한 곳에 기댄다(해리)"</a:t>
            </a:r>
            <a:r>
              <a:rPr sz="1150" b="0">
                <a:solidFill>
                  <a:srgbClr val="1E2227"/>
                </a:solidFill>
                <a:latin typeface="맑은 고딕"/>
                <a:ea typeface="맑은 고딕"/>
              </a:rPr>
              <a:t> — 이것이 다음 연구의 씨앗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250" b="1">
                <a:solidFill>
                  <a:srgbClr val="6B7480"/>
                </a:solidFill>
                <a:latin typeface="맑은 고딕"/>
                <a:ea typeface="맑은 고딕"/>
              </a:rPr>
              <a:t>연구 여정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ThinkConflict 전환의 근거: 세 가지 사전 검증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950" b="0">
                <a:solidFill>
                  <a:srgbClr val="6B7480"/>
                </a:solidFill>
                <a:latin typeface="맑은 고딕"/>
                <a:ea typeface="맑은 고딕"/>
              </a:rPr>
              <a:t>연구 여정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r>
              <a:rPr sz="950" b="0">
                <a:solidFill>
                  <a:srgbClr val="6B7480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98448"/>
            <a:ext cx="545896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331468"/>
            <a:ext cx="5458968" cy="9271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28000"/>
              </a:lnSpc>
              <a:spcAft>
                <a:spcPts val="450"/>
              </a:spcAft>
            </a:pPr>
            <a:r>
              <a:rPr sz="1250" b="1">
                <a:solidFill>
                  <a:srgbClr val="273A52"/>
                </a:solidFill>
                <a:latin typeface="맑은 고딕"/>
                <a:ea typeface="맑은 고딕"/>
              </a:rPr>
              <a:t>계승한 문제의식</a:t>
            </a:r>
          </a:p>
          <a:p>
            <a:pPr algn="l">
              <a:lnSpc>
                <a:spcPct val="128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V2·V3의 '해리' 현상을 그대로 가져오되, 관측 창을 표면적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인용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에서 추론 모델의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사고 궤적(&lt;think&gt;) ↔ 답변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으로 옮김</a:t>
            </a:r>
          </a:p>
        </p:txBody>
      </p:sp>
      <p:sp>
        <p:nvSpPr>
          <p:cNvPr id="9" name="Rectangle 8"/>
          <p:cNvSpPr/>
          <p:nvPr/>
        </p:nvSpPr>
        <p:spPr>
          <a:xfrm>
            <a:off x="6181344" y="1298448"/>
            <a:ext cx="545896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1344" y="1331468"/>
            <a:ext cx="5458968" cy="9271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28000"/>
              </a:lnSpc>
              <a:spcAft>
                <a:spcPts val="450"/>
              </a:spcAft>
            </a:pPr>
            <a:r>
              <a:rPr sz="1250" b="1">
                <a:solidFill>
                  <a:srgbClr val="273A52"/>
                </a:solidFill>
                <a:latin typeface="맑은 고딕"/>
                <a:ea typeface="맑은 고딕"/>
              </a:rPr>
              <a:t>시대 조건</a:t>
            </a:r>
          </a:p>
          <a:p>
            <a:pPr algn="l">
              <a:lnSpc>
                <a:spcPct val="128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2025~26년 추론 모델 보편화로 사고 채널이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자발적으로 외부화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 — 강제 CoT의 사후 합리화 오염 없이 진단 가능해짐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2432304"/>
          <a:ext cx="11091672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148840"/>
                <a:gridCol w="3291840"/>
                <a:gridCol w="4233672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전환 축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기존 (V1~V3)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ThinkConflict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전환을 뒷받침한 검증 (실측)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충돌 범위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시간 충돌만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일반 지식 충돌 전체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(시간·오정보·의견)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TimeQA·TQA 실측: sharp 시간충돌 </a:t>
                      </a:r>
                      <a:r>
                        <a:rPr sz="1120" b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전체의 ~6%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— 희소성 확인 후 확장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관측 대상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인용 지표 (포화)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사고 궤적 ↔ 답변 일관성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인용 평가 선점 조사(GaRAGe 등) → </a:t>
                      </a:r>
                      <a:r>
                        <a:rPr sz="1120" b="1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미점유 공간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으로 이동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기여 수준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측정·현상 보고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귀속·회계 + 인과 개입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예비 게이트: 충돌 미인지 정답(Blind-Hit) </a:t>
                      </a:r>
                      <a:r>
                        <a:rPr sz="1120" b="1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29% 실재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확인 후 착수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5230368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180" b="1">
                <a:solidFill>
                  <a:srgbClr val="273A52"/>
                </a:solidFill>
                <a:latin typeface="맑은 고딕"/>
                <a:ea typeface="맑은 고딕"/>
              </a:rPr>
              <a:t>세 검증의 의미   </a:t>
            </a:r>
            <a:r>
              <a:rPr sz="1180" b="0">
                <a:solidFill>
                  <a:srgbClr val="1E2227"/>
                </a:solidFill>
                <a:latin typeface="맑은 고딕"/>
                <a:ea typeface="맑은 고딕"/>
              </a:rPr>
              <a:t>① 데이터가 희소하지 않은가(6% → 전체 충돌로 확장)  ② 이미 포화된 주제인가(인용 → 사고 궤적)  ③ 진단할 현상이 실재하는가(29% 게이트 통과) — 모두 확인한 뒤에 이 주제를 선택했습니다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016752"/>
            <a:ext cx="45720" cy="384048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4360" y="6016752"/>
            <a:ext cx="11045952" cy="384048"/>
          </a:xfrm>
          <a:prstGeom prst="rect">
            <a:avLst/>
          </a:prstGeom>
          <a:solidFill>
            <a:srgbClr val="ED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tIns="0" bIns="0"/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1">
                <a:solidFill>
                  <a:srgbClr val="273A52"/>
                </a:solidFill>
                <a:latin typeface="맑은 고딕"/>
                <a:ea typeface="맑은 고딕"/>
              </a:rPr>
              <a:t>핵심   </a:t>
            </a:r>
            <a:r>
              <a:rPr sz="1150" b="0">
                <a:solidFill>
                  <a:srgbClr val="1E2227"/>
                </a:solidFill>
                <a:latin typeface="맑은 고딕"/>
                <a:ea typeface="맑은 고딕"/>
              </a:rPr>
              <a:t>희소성(6%) · 포화(인용 지표) · 현상 실재(29%) — </a:t>
            </a:r>
            <a:r>
              <a:rPr sz="1150" b="1">
                <a:solidFill>
                  <a:srgbClr val="1E2227"/>
                </a:solidFill>
                <a:latin typeface="맑은 고딕"/>
                <a:ea typeface="맑은 고딕"/>
              </a:rPr>
              <a:t>세 검증을 통과한 뒤 선택한 주제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250" b="1">
                <a:solidFill>
                  <a:srgbClr val="6B7480"/>
                </a:solidFill>
                <a:latin typeface="맑은 고딕"/>
                <a:ea typeface="맑은 고딕"/>
              </a:rPr>
              <a:t>§1.1 배경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배경 및 문제 정의: 외부 문맥 간 충돌과 정답률 지표의 한계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950" b="0">
                <a:solidFill>
                  <a:srgbClr val="6B7480"/>
                </a:solidFill>
                <a:latin typeface="맑은 고딕"/>
                <a:ea typeface="맑은 고딕"/>
              </a:rPr>
              <a:t>§1 서론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r>
              <a:rPr sz="950" b="0">
                <a:solidFill>
                  <a:srgbClr val="6B7480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3584448" cy="12984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0" rIns="128016"/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2800" b="1">
                <a:solidFill>
                  <a:srgbClr val="273A52"/>
                </a:solidFill>
                <a:latin typeface="맑은 고딕"/>
                <a:ea typeface="맑은 고딕"/>
              </a:rPr>
              <a:t>64.8%</a:t>
            </a:r>
            <a:r>
              <a:rPr sz="1200" b="0">
                <a:solidFill>
                  <a:srgbClr val="6B7480"/>
                </a:solidFill>
                <a:latin typeface="맑은 고딕"/>
                <a:ea typeface="맑은 고딕"/>
              </a:rPr>
              <a:t>  (297/458 · DRAGged)</a:t>
            </a:r>
          </a:p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50" b="0">
                <a:solidFill>
                  <a:srgbClr val="1E2227"/>
                </a:solidFill>
                <a:latin typeface="맑은 고딕"/>
                <a:ea typeface="맑은 고딕"/>
              </a:rPr>
              <a:t>실제 구글 검색 질의 중 여러 출처의 대조·종합이 필요한 비율 — 그중 명시적 상충 182건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316736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316736"/>
            <a:ext cx="3584448" cy="12984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0" rIns="128016"/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2800" b="1">
                <a:solidFill>
                  <a:srgbClr val="273A52"/>
                </a:solidFill>
                <a:latin typeface="맑은 고딕"/>
                <a:ea typeface="맑은 고딕"/>
              </a:rPr>
              <a:t>25%</a:t>
            </a:r>
            <a:r>
              <a:rPr sz="1200" b="0">
                <a:solidFill>
                  <a:srgbClr val="6B7480"/>
                </a:solidFill>
                <a:latin typeface="맑은 고딕"/>
                <a:ea typeface="맑은 고딕"/>
              </a:rPr>
              <a:t>  (381/1,617 · QACC)</a:t>
            </a:r>
          </a:p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50" b="0">
                <a:solidFill>
                  <a:srgbClr val="1E2227"/>
                </a:solidFill>
                <a:latin typeface="맑은 고딕"/>
                <a:ea typeface="맑은 고딕"/>
              </a:rPr>
              <a:t>모호하지 않은 사실 질문조차 top-10 검색에서 충돌 문맥을 만나는 비율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316736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1316736"/>
            <a:ext cx="3584448" cy="12984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0" rIns="128016"/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2800" b="1">
                <a:solidFill>
                  <a:srgbClr val="273A52"/>
                </a:solidFill>
                <a:latin typeface="맑은 고딕"/>
                <a:ea typeface="맑은 고딕"/>
              </a:rPr>
              <a:t>실재</a:t>
            </a:r>
            <a:r>
              <a:rPr sz="1200" b="0">
                <a:solidFill>
                  <a:srgbClr val="6B7480"/>
                </a:solidFill>
                <a:latin typeface="맑은 고딕"/>
                <a:ea typeface="맑은 고딕"/>
              </a:rPr>
              <a:t>  (위키 · 기업 KB)</a:t>
            </a:r>
          </a:p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50" b="0">
                <a:solidFill>
                  <a:srgbClr val="1E2227"/>
                </a:solidFill>
                <a:latin typeface="맑은 고딕"/>
                <a:ea typeface="맑은 고딕"/>
              </a:rPr>
              <a:t>충돌은 웹만의 문제가 아님 — 큐레이션 코퍼스·내부 지식베이스에도 문서 간 모순 실재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1316736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852928"/>
            <a:ext cx="1109167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250" b="1">
                <a:solidFill>
                  <a:srgbClr val="1E2227"/>
                </a:solidFill>
                <a:latin typeface="맑은 고딕"/>
                <a:ea typeface="맑은 고딕"/>
              </a:rPr>
              <a:t>그런데 표준 평가지표 EM은 "왜 맞고 왜 틀렸는지"를 구분하지 못합니다: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255264"/>
            <a:ext cx="545896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288284"/>
            <a:ext cx="5458968" cy="24815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같은 '정답'이어도</a:t>
            </a: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sz="122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220" b="1">
                <a:solidFill>
                  <a:srgbClr val="1E2227"/>
                </a:solidFill>
                <a:latin typeface="맑은 고딕"/>
                <a:ea typeface="맑은 고딕"/>
              </a:rPr>
              <a:t>문서를 올바로 대조</a:t>
            </a:r>
            <a:r>
              <a:rPr sz="1220" b="0">
                <a:solidFill>
                  <a:srgbClr val="1E2227"/>
                </a:solidFill>
                <a:latin typeface="맑은 고딕"/>
                <a:ea typeface="맑은 고딕"/>
              </a:rPr>
              <a:t>해 도달한 정답</a:t>
            </a: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sz="122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220" b="0">
                <a:solidFill>
                  <a:srgbClr val="1E2227"/>
                </a:solidFill>
                <a:latin typeface="맑은 고딕"/>
                <a:ea typeface="맑은 고딕"/>
              </a:rPr>
              <a:t>충돌을 아예 못 보고 </a:t>
            </a:r>
            <a:r>
              <a:rPr sz="1220" b="1">
                <a:solidFill>
                  <a:srgbClr val="1E2227"/>
                </a:solidFill>
                <a:latin typeface="맑은 고딕"/>
                <a:ea typeface="맑은 고딕"/>
              </a:rPr>
              <a:t>우연·내부지식</a:t>
            </a:r>
            <a:r>
              <a:rPr sz="1220" b="0">
                <a:solidFill>
                  <a:srgbClr val="1E2227"/>
                </a:solidFill>
                <a:latin typeface="맑은 고딕"/>
                <a:ea typeface="맑은 고딕"/>
              </a:rPr>
              <a:t>으로 도달한 정답</a:t>
            </a: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sz="1100" b="0">
                <a:solidFill>
                  <a:srgbClr val="6B7480"/>
                </a:solidFill>
                <a:latin typeface="맑은 고딕"/>
                <a:ea typeface="맑은 고딕"/>
              </a:rPr>
              <a:t>→ EM에서는 동점 — 그러나 두 번째는 섭동에 깨지는 유리 정답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1344" y="3255264"/>
            <a:ext cx="545896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3288284"/>
            <a:ext cx="5458968" cy="24815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같은 '오답'이어도</a:t>
            </a: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sz="122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220" b="0">
                <a:solidFill>
                  <a:srgbClr val="1E2227"/>
                </a:solidFill>
                <a:latin typeface="맑은 고딕"/>
                <a:ea typeface="맑은 고딕"/>
              </a:rPr>
              <a:t>충돌을 </a:t>
            </a:r>
            <a:r>
              <a:rPr sz="1220" b="1">
                <a:solidFill>
                  <a:srgbClr val="1E2227"/>
                </a:solidFill>
                <a:latin typeface="맑은 고딕"/>
                <a:ea typeface="맑은 고딕"/>
              </a:rPr>
              <a:t>아예 못 본</a:t>
            </a:r>
            <a:r>
              <a:rPr sz="1220" b="0">
                <a:solidFill>
                  <a:srgbClr val="1E2227"/>
                </a:solidFill>
                <a:latin typeface="맑은 고딕"/>
                <a:ea typeface="맑은 고딕"/>
              </a:rPr>
              <a:t> 실패  (인지)</a:t>
            </a: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sz="122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220" b="0">
                <a:solidFill>
                  <a:srgbClr val="1E2227"/>
                </a:solidFill>
                <a:latin typeface="맑은 고딕"/>
                <a:ea typeface="맑은 고딕"/>
              </a:rPr>
              <a:t>보고도 </a:t>
            </a:r>
            <a:r>
              <a:rPr sz="1220" b="1">
                <a:solidFill>
                  <a:srgbClr val="1E2227"/>
                </a:solidFill>
                <a:latin typeface="맑은 고딕"/>
                <a:ea typeface="맑은 고딕"/>
              </a:rPr>
              <a:t>잘못 판단한</a:t>
            </a:r>
            <a:r>
              <a:rPr sz="1220" b="0">
                <a:solidFill>
                  <a:srgbClr val="1E2227"/>
                </a:solidFill>
                <a:latin typeface="맑은 고딕"/>
                <a:ea typeface="맑은 고딕"/>
              </a:rPr>
              <a:t> 실패  (해소)</a:t>
            </a: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sz="122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220" b="0">
                <a:solidFill>
                  <a:srgbClr val="1E2227"/>
                </a:solidFill>
                <a:latin typeface="맑은 고딕"/>
                <a:ea typeface="맑은 고딕"/>
              </a:rPr>
              <a:t>옳게 판단하고도 </a:t>
            </a:r>
            <a:r>
              <a:rPr sz="1220" b="1">
                <a:solidFill>
                  <a:srgbClr val="1E2227"/>
                </a:solidFill>
                <a:latin typeface="맑은 고딕"/>
                <a:ea typeface="맑은 고딕"/>
              </a:rPr>
              <a:t>답변에서 뒤집은</a:t>
            </a:r>
            <a:r>
              <a:rPr sz="1220" b="0">
                <a:solidFill>
                  <a:srgbClr val="1E2227"/>
                </a:solidFill>
                <a:latin typeface="맑은 고딕"/>
                <a:ea typeface="맑은 고딕"/>
              </a:rPr>
              <a:t> 실패  (표출)</a:t>
            </a: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sz="1100" b="0">
                <a:solidFill>
                  <a:srgbClr val="6B7480"/>
                </a:solidFill>
                <a:latin typeface="맑은 고딕"/>
                <a:ea typeface="맑은 고딕"/>
              </a:rPr>
              <a:t>→ 처방이 완전히 다른 세 실패가 한 숫자에 뭉개짐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016752"/>
            <a:ext cx="45720" cy="384048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4360" y="6016752"/>
            <a:ext cx="11045952" cy="384048"/>
          </a:xfrm>
          <a:prstGeom prst="rect">
            <a:avLst/>
          </a:prstGeom>
          <a:solidFill>
            <a:srgbClr val="ED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tIns="0" bIns="0"/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1">
                <a:solidFill>
                  <a:srgbClr val="273A52"/>
                </a:solidFill>
                <a:latin typeface="맑은 고딕"/>
                <a:ea typeface="맑은 고딕"/>
              </a:rPr>
              <a:t>핵심   </a:t>
            </a:r>
            <a:r>
              <a:rPr sz="1150" b="0">
                <a:solidFill>
                  <a:srgbClr val="1E2227"/>
                </a:solidFill>
                <a:latin typeface="맑은 고딕"/>
                <a:ea typeface="맑은 고딕"/>
              </a:rPr>
              <a:t>정답률은 '얼마나'만 답한다 — </a:t>
            </a:r>
            <a:r>
              <a:rPr sz="1150" b="1">
                <a:solidFill>
                  <a:srgbClr val="1E2227"/>
                </a:solidFill>
                <a:latin typeface="맑은 고딕"/>
                <a:ea typeface="맑은 고딕"/>
              </a:rPr>
              <a:t>'왜'를 답하려면 실패를 단계별로 갈라야 하고, 그것이 이 연구의 출발점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250" b="1">
                <a:solidFill>
                  <a:srgbClr val="6B7480"/>
                </a:solidFill>
                <a:latin typeface="맑은 고딕"/>
                <a:ea typeface="맑은 고딕"/>
              </a:rPr>
              <a:t>§1.1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연구 동기: 추론 모델의 자발적 사고 채널과 동시기 연구 대비 위치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950" b="0">
                <a:solidFill>
                  <a:srgbClr val="6B7480"/>
                </a:solidFill>
                <a:latin typeface="맑은 고딕"/>
                <a:ea typeface="맑은 고딕"/>
              </a:rPr>
              <a:t>§1 서론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r>
              <a:rPr sz="950" b="0">
                <a:solidFill>
                  <a:srgbClr val="6B7480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98448"/>
            <a:ext cx="545896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331468"/>
            <a:ext cx="5458968" cy="177749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프롬프트 CoT의 근본 한계</a:t>
            </a:r>
          </a:p>
          <a:p>
            <a:pPr algn="l">
              <a:lnSpc>
                <a:spcPct val="134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강제된 단계적 사고는 정답을 사후에 정당화하는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사후 합리화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에 오염됨 (Turpin '23 · Lanham '23)</a:t>
            </a:r>
          </a:p>
          <a:p>
            <a:pPr algn="l">
              <a:lnSpc>
                <a:spcPct val="134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→ 트레이스를 근거로 한 진단 자체가 성립하기 어려웠음</a:t>
            </a:r>
          </a:p>
        </p:txBody>
      </p:sp>
      <p:sp>
        <p:nvSpPr>
          <p:cNvPr id="9" name="Rectangle 8"/>
          <p:cNvSpPr/>
          <p:nvPr/>
        </p:nvSpPr>
        <p:spPr>
          <a:xfrm>
            <a:off x="6181344" y="1298448"/>
            <a:ext cx="545896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1344" y="1331468"/>
            <a:ext cx="5458968" cy="177749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추론 모델이 연 진단의 창</a:t>
            </a:r>
          </a:p>
          <a:p>
            <a:pPr algn="l">
              <a:lnSpc>
                <a:spcPct val="134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사고(&lt;think&gt;)를 답변과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분리된 채 자발적으로 외부화</a:t>
            </a:r>
          </a:p>
          <a:p>
            <a:pPr algn="l">
              <a:lnSpc>
                <a:spcPct val="134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단, '속마음의 거울'로 전제하지 않음 —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불완전하지만 유용한 관측 신호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로만 취급 (Korbak '25) · 주장은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출력 수준 자기일관성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에 한정 (§1.2)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310128"/>
            <a:ext cx="1109167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250" b="1">
                <a:solidFill>
                  <a:srgbClr val="1E2227"/>
                </a:solidFill>
                <a:latin typeface="맑은 고딕"/>
                <a:ea typeface="맑은 고딕"/>
              </a:rPr>
              <a:t>사고-답변 해리의 관찰은 이미 시작 — 본 연구의 차별점은 세 가지: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3675887"/>
          <a:ext cx="11091672" cy="1700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297680"/>
                <a:gridCol w="4965192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동시기 연구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보였나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본 연구와의 차이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Li et al. 2026</a:t>
                      </a:r>
                    </a:p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040" b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동시기 프리프린트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사회적 </a:t>
                      </a: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반박 압박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에서 트레이스는 옳은데 답변만 굴복하는 해리 보고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① 압박의 종류: </a:t>
                      </a: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다문서 병존(문맥적)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 ② 보고를 넘어 </a:t>
                      </a: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회계(RQ2)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 ③ </a:t>
                      </a: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대조군·인과(RQ3·4)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Young 2026</a:t>
                      </a:r>
                    </a:p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040" b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프리프린트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인위적 오도 힌트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(L-c 패러다임)로 12개 모델의 사고-답변 해리 대규모 측정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힌트 조작 없는 </a:t>
                      </a: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자연 충돌에서의 자기일관성(L-a)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— 측정 층위가 다름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48640" y="5257800"/>
            <a:ext cx="1109167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130" b="0">
                <a:solidFill>
                  <a:srgbClr val="6B7480"/>
                </a:solidFill>
                <a:latin typeface="맑은 고딕"/>
                <a:ea typeface="맑은 고딕"/>
              </a:rPr>
              <a:t>추론 모델은 아부(sycophancy)·과잉추론(overthinking) 같은 굴복 기제의 후보도 이미 보고됨 — 우리는 그중 '상충 문서 공존'이라는 문맥적 압박에서의 굴복을 겨냥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016752"/>
            <a:ext cx="45720" cy="384048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" y="6016752"/>
            <a:ext cx="11045952" cy="384048"/>
          </a:xfrm>
          <a:prstGeom prst="rect">
            <a:avLst/>
          </a:prstGeom>
          <a:solidFill>
            <a:srgbClr val="ED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tIns="0" bIns="0"/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1">
                <a:solidFill>
                  <a:srgbClr val="273A52"/>
                </a:solidFill>
                <a:latin typeface="맑은 고딕"/>
                <a:ea typeface="맑은 고딕"/>
              </a:rPr>
              <a:t>핵심   </a:t>
            </a:r>
            <a:r>
              <a:rPr sz="1150" b="0">
                <a:solidFill>
                  <a:srgbClr val="1E2227"/>
                </a:solidFill>
                <a:latin typeface="맑은 고딕"/>
                <a:ea typeface="맑은 고딕"/>
              </a:rPr>
              <a:t>현상의 선점은 시작됐지만, </a:t>
            </a:r>
            <a:r>
              <a:rPr sz="1150" b="1">
                <a:solidFill>
                  <a:srgbClr val="1E2227"/>
                </a:solidFill>
                <a:latin typeface="맑은 고딕"/>
                <a:ea typeface="맑은 고딕"/>
              </a:rPr>
              <a:t>귀속·회계·인과라는 다음 층은 비어 있다 — 그 층이 본 연구의 자리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250" b="1">
                <a:solidFill>
                  <a:srgbClr val="6B7480"/>
                </a:solidFill>
                <a:latin typeface="맑은 고딕"/>
                <a:ea typeface="맑은 고딕"/>
              </a:rPr>
              <a:t>§1.1 기여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연구 기여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950" b="0">
                <a:solidFill>
                  <a:srgbClr val="6B7480"/>
                </a:solidFill>
                <a:latin typeface="맑은 고딕"/>
                <a:ea typeface="맑은 고딕"/>
              </a:rPr>
              <a:t>§1 서론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r>
              <a:rPr sz="950" b="0">
                <a:solidFill>
                  <a:srgbClr val="6B7480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1672" cy="749808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/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400" b="1">
                <a:solidFill>
                  <a:srgbClr val="C9D3E0"/>
                </a:solidFill>
                <a:latin typeface="맑은 고딕"/>
                <a:ea typeface="맑은 고딕"/>
              </a:rPr>
              <a:t>핵심 질문 —  </a:t>
            </a:r>
            <a:r>
              <a:rPr sz="1650" b="1">
                <a:solidFill>
                  <a:srgbClr val="FFFFFF"/>
                </a:solidFill>
                <a:latin typeface="맑은 고딕"/>
                <a:ea typeface="맑은 고딕"/>
              </a:rPr>
              <a:t>"RAG 충돌에서 완화 기법이 올린 정답률은, 진짜 대조 추론에서 온 것인가?"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267712"/>
            <a:ext cx="3584448" cy="33020"/>
          </a:xfrm>
          <a:prstGeom prst="rect">
            <a:avLst/>
          </a:prstGeom>
          <a:solidFill>
            <a:srgbClr val="1E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300732"/>
            <a:ext cx="3584448" cy="236270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기여 1 · 완화 회계  (핵심 발견)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완화 전후를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문항별로 짝지어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 EM 상승분의 경로 출처를 분해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20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200" b="1">
                <a:solidFill>
                  <a:srgbClr val="1E2227"/>
                </a:solidFill>
                <a:latin typeface="맑은 고딕"/>
                <a:ea typeface="맑은 고딕"/>
              </a:rPr>
              <a:t>정당 이득 비율(LGR)</a:t>
            </a:r>
            <a:r>
              <a:rPr sz="1200" b="0">
                <a:solidFill>
                  <a:srgbClr val="1E2227"/>
                </a:solidFill>
                <a:latin typeface="맑은 고딕"/>
                <a:ea typeface="맑은 고딕"/>
              </a:rPr>
              <a:t> — 진짜 추론 몫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20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200" b="1">
                <a:solidFill>
                  <a:srgbClr val="1E2227"/>
                </a:solidFill>
                <a:latin typeface="맑은 고딕"/>
                <a:ea typeface="맑은 고딕"/>
              </a:rPr>
              <a:t>숨은 퇴행</a:t>
            </a:r>
            <a:r>
              <a:rPr sz="1200" b="0">
                <a:solidFill>
                  <a:srgbClr val="1E2227"/>
                </a:solidFill>
                <a:latin typeface="맑은 고딕"/>
                <a:ea typeface="맑은 고딕"/>
              </a:rPr>
              <a:t> — 순 상승이 가린 파괴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20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200" b="1">
                <a:solidFill>
                  <a:srgbClr val="1E2227"/>
                </a:solidFill>
                <a:latin typeface="맑은 고딕"/>
                <a:ea typeface="맑은 고딕"/>
              </a:rPr>
              <a:t>경로별 flip률</a:t>
            </a:r>
            <a:r>
              <a:rPr sz="1200" b="0">
                <a:solidFill>
                  <a:srgbClr val="1E2227"/>
                </a:solidFill>
                <a:latin typeface="맑은 고딕"/>
                <a:ea typeface="맑은 고딕"/>
              </a:rPr>
              <a:t> — '취약'의 인과 입증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040" b="0">
                <a:solidFill>
                  <a:srgbClr val="6B7480"/>
                </a:solidFill>
                <a:latin typeface="맑은 고딕"/>
                <a:ea typeface="맑은 고딕"/>
              </a:rPr>
              <a:t>→ RQ1 · RQ2 담당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2267712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2300732"/>
            <a:ext cx="3584448" cy="236270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기여 2 · 진단 프레임워크  (도구)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사고→답변을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탐지·해소·표출 3단계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로 분해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모든 정답을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4경로로 상호배타·전수 귀속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 — 정상 · Shortcut · Discordant Hit · Blind-Hit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자기일관성 위반을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AIR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(올바른 해소 후 답변 유실)로 정식화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040" b="0">
                <a:solidFill>
                  <a:srgbClr val="6B7480"/>
                </a:solidFill>
                <a:latin typeface="맑은 고딕"/>
                <a:ea typeface="맑은 고딕"/>
              </a:rPr>
              <a:t>→ 회계를 가능하게 하는 측정 장치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2267712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2300732"/>
            <a:ext cx="3584448" cy="236270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기여 3 · 검증  (실재성·인과)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충돌 고유성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 — 비충돌 대조군 3중 설계로 난이도 효과와 분리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인과 개입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 — truncation·resampling으로 사고가 답변을 실제로 구동하는지 검증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040" b="0">
                <a:solidFill>
                  <a:srgbClr val="6B7480"/>
                </a:solidFill>
                <a:latin typeface="맑은 고딕"/>
                <a:ea typeface="맑은 고딕"/>
              </a:rPr>
              <a:t>→ RQ3 · RQ4 담당 — 주력 결과의 타당성을 받침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64608"/>
            <a:ext cx="1109167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450"/>
              </a:spcAft>
            </a:pPr>
            <a:r>
              <a:rPr sz="1180" b="1">
                <a:solidFill>
                  <a:srgbClr val="273A52"/>
                </a:solidFill>
                <a:latin typeface="맑은 고딕"/>
                <a:ea typeface="맑은 고딕"/>
              </a:rPr>
              <a:t>왜 이 순서인가   </a:t>
            </a:r>
            <a:r>
              <a:rPr sz="1180" b="0">
                <a:solidFill>
                  <a:srgbClr val="1E2227"/>
                </a:solidFill>
                <a:latin typeface="맑은 고딕"/>
                <a:ea typeface="맑은 고딕"/>
              </a:rPr>
              <a:t>현상 보고는 동시기 연구가 이미 시작했습니다. 본 연구의 자리는 관찰이 아니라 — 실패가 어느 단계에서 오는지 귀속하고, 완화의 이득이 진짜인지 회계하며, 그것이 충돌 고유·인과적 현상인지 검증하는 것입니다.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016752"/>
            <a:ext cx="45720" cy="384048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6016752"/>
            <a:ext cx="11045952" cy="384048"/>
          </a:xfrm>
          <a:prstGeom prst="rect">
            <a:avLst/>
          </a:prstGeom>
          <a:solidFill>
            <a:srgbClr val="ED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tIns="0" bIns="0"/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1">
                <a:solidFill>
                  <a:srgbClr val="273A52"/>
                </a:solidFill>
                <a:latin typeface="맑은 고딕"/>
                <a:ea typeface="맑은 고딕"/>
              </a:rPr>
              <a:t>핵심   </a:t>
            </a:r>
            <a:r>
              <a:rPr sz="1150" b="0">
                <a:solidFill>
                  <a:srgbClr val="1E2227"/>
                </a:solidFill>
                <a:latin typeface="맑은 고딕"/>
                <a:ea typeface="맑은 고딕"/>
              </a:rPr>
              <a:t>한 줄 요약: 완화가 올린 정답률을 경로별로 회계 감사한다 — </a:t>
            </a:r>
            <a:r>
              <a:rPr sz="1150" b="1">
                <a:solidFill>
                  <a:srgbClr val="1E2227"/>
                </a:solidFill>
                <a:latin typeface="맑은 고딕"/>
                <a:ea typeface="맑은 고딕"/>
              </a:rPr>
              <a:t>이를 위한 3단계 전환 행렬 프레임워크를 정립하고, 대조군과 인과 개입으로 검증한다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250" b="1">
                <a:solidFill>
                  <a:srgbClr val="6B7480"/>
                </a:solidFill>
                <a:latin typeface="맑은 고딕"/>
                <a:ea typeface="맑은 고딕"/>
              </a:rPr>
              <a:t>§1.2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개념 구분: 자기일관성(L-a) · 인과적 사용(L-b) · 내부 충실성(L-c)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950" b="0">
                <a:solidFill>
                  <a:srgbClr val="6B7480"/>
                </a:solidFill>
                <a:latin typeface="맑은 고딕"/>
                <a:ea typeface="맑은 고딕"/>
              </a:rPr>
              <a:t>§1 서론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r>
              <a:rPr sz="950" b="0">
                <a:solidFill>
                  <a:srgbClr val="6B7480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25880"/>
            <a:ext cx="3584448" cy="33020"/>
          </a:xfrm>
          <a:prstGeom prst="rect">
            <a:avLst/>
          </a:prstGeom>
          <a:solidFill>
            <a:srgbClr val="1E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358900"/>
            <a:ext cx="3584448" cy="25730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L-a · 자기일관성  →  측정</a:t>
            </a:r>
          </a:p>
          <a:p>
            <a:pPr algn="l">
              <a:lnSpc>
                <a:spcPct val="134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트레이스의 결론과 최종 답변이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내용상 일치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하는가</a:t>
            </a:r>
          </a:p>
          <a:p>
            <a:pPr algn="l">
              <a:lnSpc>
                <a:spcPct val="134000"/>
              </a:lnSpc>
              <a:spcAft>
                <a:spcPts val="450"/>
              </a:spcAft>
            </a:pP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텍스트만으로 판정 가능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 — 핵심 지표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AIR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이 여기 속함</a:t>
            </a:r>
          </a:p>
          <a:p>
            <a:pPr algn="l">
              <a:lnSpc>
                <a:spcPct val="134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역방향(오답 지지 후 정답)은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Discordant Hit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으로 함께 기록</a:t>
            </a:r>
          </a:p>
          <a:p>
            <a:pPr algn="l">
              <a:lnSpc>
                <a:spcPct val="134000"/>
              </a:lnSpc>
              <a:spcAft>
                <a:spcPts val="450"/>
              </a:spcAft>
            </a:pPr>
            <a:r>
              <a:rPr sz="1040" b="0">
                <a:solidFill>
                  <a:srgbClr val="6B7480"/>
                </a:solidFill>
                <a:latin typeface="맑은 고딕"/>
                <a:ea typeface="맑은 고딕"/>
              </a:rPr>
              <a:t>근거: Parcalabescu &amp; Frank (ACL 2024)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325880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97680" y="1358900"/>
            <a:ext cx="3584448" cy="25730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L-b · 인과적 사용  →  개입</a:t>
            </a:r>
          </a:p>
          <a:p>
            <a:pPr algn="l">
              <a:lnSpc>
                <a:spcPct val="134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사고가 답변을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실제로 구동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했는가</a:t>
            </a:r>
          </a:p>
          <a:p>
            <a:pPr algn="l">
              <a:lnSpc>
                <a:spcPct val="134000"/>
              </a:lnSpc>
              <a:spcAft>
                <a:spcPts val="450"/>
              </a:spcAft>
            </a:pP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텍스트로는 입증 불가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 — truncation·resampling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개입 실험(실험 3)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으로만 주장</a:t>
            </a:r>
          </a:p>
          <a:p>
            <a:pPr algn="l">
              <a:lnSpc>
                <a:spcPct val="134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지표: 개입 시 ΔAccuracy · 답변 변화율</a:t>
            </a:r>
          </a:p>
          <a:p>
            <a:pPr algn="l">
              <a:lnSpc>
                <a:spcPct val="134000"/>
              </a:lnSpc>
              <a:spcAft>
                <a:spcPts val="450"/>
              </a:spcAft>
            </a:pPr>
            <a:r>
              <a:rPr sz="1040" b="0">
                <a:solidFill>
                  <a:srgbClr val="6B7480"/>
                </a:solidFill>
                <a:latin typeface="맑은 고딕"/>
                <a:ea typeface="맑은 고딕"/>
              </a:rPr>
              <a:t>근거: Lanham '23 · Bogdan '25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325880"/>
            <a:ext cx="3584448" cy="33020"/>
          </a:xfrm>
          <a:prstGeom prst="rect">
            <a:avLst/>
          </a:prstGeom>
          <a:solidFill>
            <a:srgbClr val="A44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358900"/>
            <a:ext cx="3584448" cy="25730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L-c · 내부 충실성  →  제외</a:t>
            </a:r>
          </a:p>
          <a:p>
            <a:pPr algn="l">
              <a:lnSpc>
                <a:spcPct val="134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트레이스가 내부 연산의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정직한 반영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인가</a:t>
            </a:r>
          </a:p>
          <a:p>
            <a:pPr algn="l">
              <a:lnSpc>
                <a:spcPct val="134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힌트 조작·내부 접근 없이는 판정 불가 → </a:t>
            </a:r>
            <a:r>
              <a:rPr sz="1120" b="1">
                <a:solidFill>
                  <a:srgbClr val="A4482A"/>
                </a:solidFill>
                <a:latin typeface="맑은 고딕"/>
                <a:ea typeface="맑은 고딕"/>
              </a:rPr>
              <a:t>진단 대상에서 명시적으로 제외</a:t>
            </a:r>
          </a:p>
          <a:p>
            <a:pPr algn="l">
              <a:lnSpc>
                <a:spcPct val="134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우리 질문은 L-a(측정)+L-b(개입)로 답해짐</a:t>
            </a:r>
          </a:p>
          <a:p>
            <a:pPr algn="l">
              <a:lnSpc>
                <a:spcPct val="134000"/>
              </a:lnSpc>
              <a:spcAft>
                <a:spcPts val="450"/>
              </a:spcAft>
            </a:pPr>
            <a:r>
              <a:rPr sz="1040" b="0">
                <a:solidFill>
                  <a:srgbClr val="6B7480"/>
                </a:solidFill>
                <a:latin typeface="맑은 고딕"/>
                <a:ea typeface="맑은 고딕"/>
              </a:rPr>
              <a:t>근거: Turpin '23 · Arcuschin '26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160520"/>
            <a:ext cx="11091672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4193540"/>
            <a:ext cx="11091672" cy="15671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왜 이 구분이 중요한가</a:t>
            </a:r>
          </a:p>
          <a:p>
            <a:pPr algn="l">
              <a:lnSpc>
                <a:spcPct val="138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이 분야 논문이 가장 흔히 공격받는 지점이 "텍스트 관측으로 충실성을 주장했다"입니다.</a:t>
            </a:r>
          </a:p>
          <a:p>
            <a:pPr algn="l">
              <a:lnSpc>
                <a:spcPct val="138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본 연구는 주장 가능한 경계를 지표 정의 이전에 못 박아, 그 공격 벡터를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선제 차단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합니다 — 이 경계가 §3 지표 정의와 실험 설계 전체의 준거가 됩니다.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016752"/>
            <a:ext cx="45720" cy="384048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6016752"/>
            <a:ext cx="11045952" cy="384048"/>
          </a:xfrm>
          <a:prstGeom prst="rect">
            <a:avLst/>
          </a:prstGeom>
          <a:solidFill>
            <a:srgbClr val="ED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tIns="0" bIns="0"/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1">
                <a:solidFill>
                  <a:srgbClr val="273A52"/>
                </a:solidFill>
                <a:latin typeface="맑은 고딕"/>
                <a:ea typeface="맑은 고딕"/>
              </a:rPr>
              <a:t>핵심   </a:t>
            </a:r>
            <a:r>
              <a:rPr sz="1150" b="0">
                <a:solidFill>
                  <a:srgbClr val="1E2227"/>
                </a:solidFill>
                <a:latin typeface="맑은 고딕"/>
                <a:ea typeface="맑은 고딕"/>
              </a:rPr>
              <a:t>텍스트로 잴 수 있는 것만 텍스트로 주장한다 — </a:t>
            </a:r>
            <a:r>
              <a:rPr sz="1150" b="1">
                <a:solidFill>
                  <a:srgbClr val="1E2227"/>
                </a:solidFill>
                <a:latin typeface="맑은 고딕"/>
                <a:ea typeface="맑은 고딕"/>
              </a:rPr>
              <a:t>측정(L-a) · 개입(L-b) · 제외(L-c)의 3분할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250" b="1">
                <a:solidFill>
                  <a:srgbClr val="6B7480"/>
                </a:solidFill>
                <a:latin typeface="맑은 고딕"/>
                <a:ea typeface="맑은 고딕"/>
              </a:rPr>
              <a:t>§1.3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연구 질문 (RQ1–RQ4)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950" b="0">
                <a:solidFill>
                  <a:srgbClr val="6B7480"/>
                </a:solidFill>
                <a:latin typeface="맑은 고딕"/>
                <a:ea typeface="맑은 고딕"/>
              </a:rPr>
              <a:t>§1 서론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r>
              <a:rPr sz="950" b="0">
                <a:solidFill>
                  <a:srgbClr val="6B7480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545896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04620"/>
            <a:ext cx="5458968" cy="181406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RQ1 · 진단: 어디서 깨지는가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충돌 하에서 추론 모델은 사고↔답변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자기일관성(L-a)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을 유지하는가?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불일치가 있다면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탐지 → 해소 → 표출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 중 어느 단계에서 주로 단절되는가?</a:t>
            </a:r>
          </a:p>
        </p:txBody>
      </p:sp>
      <p:sp>
        <p:nvSpPr>
          <p:cNvPr id="9" name="Rectangle 8"/>
          <p:cNvSpPr/>
          <p:nvPr/>
        </p:nvSpPr>
        <p:spPr>
          <a:xfrm>
            <a:off x="6181344" y="1371600"/>
            <a:ext cx="5458968" cy="33020"/>
          </a:xfrm>
          <a:prstGeom prst="rect">
            <a:avLst/>
          </a:prstGeom>
          <a:solidFill>
            <a:srgbClr val="1E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1344" y="1404620"/>
            <a:ext cx="5458968" cy="181406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RQ2 · 회계: 완화의 이득은 진짜인가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완화 기법(CAD·CD2·프롬프트)의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EM 상승분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이 진짜 대조 추론에서 오는가,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아니면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Shortcut · Discordant Hit · Blind-Hit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 같은 취약 경로에서 오는가?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456432"/>
            <a:ext cx="545896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489452"/>
            <a:ext cx="5458968" cy="181406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RQ3 · 고유성: 충돌 때문인가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관측된 AIR·특이 경로는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충돌 고유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의 실패인가,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문항 난이도·문서 수 증가의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부수 효과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인가? — 충돌 vs 비충돌 대조군으로 분리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81344" y="3456432"/>
            <a:ext cx="545896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1344" y="3489452"/>
            <a:ext cx="5458968" cy="181406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RQ4 · 인과: 사고가 답을 움직이는가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사고 결론이 답변을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인과적으로 구동(L-b)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하는가,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답변이 사고와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독립적으로 결정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되는가? — truncation·resampling으로 검증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48640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180" b="0">
                <a:solidFill>
                  <a:srgbClr val="6B7480"/>
                </a:solidFill>
                <a:latin typeface="맑은 고딕"/>
                <a:ea typeface="맑은 고딕"/>
              </a:rPr>
              <a:t>RQ1·2가 주력(회계) — 실험 1이 담당  ·  RQ3·4가 검증(실재성·인과) — 실험 2·3이 담당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016752"/>
            <a:ext cx="45720" cy="384048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" y="6016752"/>
            <a:ext cx="11045952" cy="384048"/>
          </a:xfrm>
          <a:prstGeom prst="rect">
            <a:avLst/>
          </a:prstGeom>
          <a:solidFill>
            <a:srgbClr val="ED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tIns="0" bIns="0"/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1">
                <a:solidFill>
                  <a:srgbClr val="273A52"/>
                </a:solidFill>
                <a:latin typeface="맑은 고딕"/>
                <a:ea typeface="맑은 고딕"/>
              </a:rPr>
              <a:t>핵심   </a:t>
            </a:r>
            <a:r>
              <a:rPr sz="1150" b="0">
                <a:solidFill>
                  <a:srgbClr val="1E2227"/>
                </a:solidFill>
                <a:latin typeface="맑은 고딕"/>
                <a:ea typeface="맑은 고딕"/>
              </a:rPr>
              <a:t>네 질문은 하나의 서사 — </a:t>
            </a:r>
            <a:r>
              <a:rPr sz="1150" b="1">
                <a:solidFill>
                  <a:srgbClr val="1E2227"/>
                </a:solidFill>
                <a:latin typeface="맑은 고딕"/>
                <a:ea typeface="맑은 고딕"/>
              </a:rPr>
              <a:t>어디서 깨지고(1), 완화는 진짜인지(2), 충돌 탓인지(3), 사고가 답을 움직이는지(4)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250" b="1">
                <a:solidFill>
                  <a:srgbClr val="6B7480"/>
                </a:solidFill>
                <a:latin typeface="맑은 고딕"/>
                <a:ea typeface="맑은 고딕"/>
              </a:rPr>
              <a:t>§2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관련 연구 분류와 본 연구의 위치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950" b="0">
                <a:solidFill>
                  <a:srgbClr val="6B7480"/>
                </a:solidFill>
                <a:latin typeface="맑은 고딕"/>
                <a:ea typeface="맑은 고딕"/>
              </a:rPr>
              <a:t>§2 관련 연구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r>
              <a:rPr sz="950" b="0">
                <a:solidFill>
                  <a:srgbClr val="6B7480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98448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331468"/>
            <a:ext cx="3584448" cy="28016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① 충돌 진단  (벤치마크)</a:t>
            </a:r>
          </a:p>
          <a:p>
            <a:pPr algn="l">
              <a:lnSpc>
                <a:spcPct val="132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LLM이 직면하는 지식 충돌을 유형화하고, 실제 웹 검색의 다원적 충돌을 담은 벤치마크로 나아간 연구</a:t>
            </a:r>
          </a:p>
          <a:p>
            <a:pPr algn="l">
              <a:lnSpc>
                <a:spcPct val="132000"/>
              </a:lnSpc>
              <a:spcAft>
                <a:spcPts val="450"/>
              </a:spcAft>
            </a:pPr>
            <a:r>
              <a:rPr sz="116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60" b="1">
                <a:solidFill>
                  <a:srgbClr val="1E2227"/>
                </a:solidFill>
                <a:latin typeface="맑은 고딕"/>
                <a:ea typeface="맑은 고딕"/>
              </a:rPr>
              <a:t>Xu '24</a:t>
            </a:r>
            <a:r>
              <a:rPr sz="1160" b="0">
                <a:solidFill>
                  <a:srgbClr val="1E2227"/>
                </a:solidFill>
                <a:latin typeface="맑은 고딕"/>
                <a:ea typeface="맑은 고딕"/>
              </a:rPr>
              <a:t>  지식충돌 3분류 정립</a:t>
            </a:r>
          </a:p>
          <a:p>
            <a:pPr algn="l">
              <a:lnSpc>
                <a:spcPct val="132000"/>
              </a:lnSpc>
              <a:spcAft>
                <a:spcPts val="450"/>
              </a:spcAft>
            </a:pPr>
            <a:r>
              <a:rPr sz="116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60" b="1">
                <a:solidFill>
                  <a:srgbClr val="1E2227"/>
                </a:solidFill>
                <a:latin typeface="맑은 고딕"/>
                <a:ea typeface="맑은 고딕"/>
              </a:rPr>
              <a:t>DRAGged '25</a:t>
            </a:r>
            <a:r>
              <a:rPr sz="1160" b="0">
                <a:solidFill>
                  <a:srgbClr val="1E2227"/>
                </a:solidFill>
                <a:latin typeface="맑은 고딕"/>
                <a:ea typeface="맑은 고딕"/>
              </a:rPr>
              <a:t>  실웹 충돌 458 + 유형 주석</a:t>
            </a:r>
          </a:p>
          <a:p>
            <a:pPr algn="l">
              <a:lnSpc>
                <a:spcPct val="132000"/>
              </a:lnSpc>
              <a:spcAft>
                <a:spcPts val="450"/>
              </a:spcAft>
            </a:pPr>
            <a:r>
              <a:rPr sz="116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60" b="1">
                <a:solidFill>
                  <a:srgbClr val="1E2227"/>
                </a:solidFill>
                <a:latin typeface="맑은 고딕"/>
                <a:ea typeface="맑은 고딕"/>
              </a:rPr>
              <a:t>RAMDocs '25</a:t>
            </a:r>
            <a:r>
              <a:rPr sz="1160" b="0">
                <a:solidFill>
                  <a:srgbClr val="1E2227"/>
                </a:solidFill>
                <a:latin typeface="맑은 고딕"/>
                <a:ea typeface="맑은 고딕"/>
              </a:rPr>
              <a:t>  오정보·노이즈 500</a:t>
            </a:r>
          </a:p>
          <a:p>
            <a:pPr algn="l">
              <a:lnSpc>
                <a:spcPct val="132000"/>
              </a:lnSpc>
              <a:spcAft>
                <a:spcPts val="450"/>
              </a:spcAft>
            </a:pPr>
            <a:r>
              <a:rPr sz="116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60" b="1">
                <a:solidFill>
                  <a:srgbClr val="1E2227"/>
                </a:solidFill>
                <a:latin typeface="맑은 고딕"/>
                <a:ea typeface="맑은 고딕"/>
              </a:rPr>
              <a:t>QACC '25</a:t>
            </a:r>
            <a:r>
              <a:rPr sz="1160" b="0">
                <a:solidFill>
                  <a:srgbClr val="1E2227"/>
                </a:solidFill>
                <a:latin typeface="맑은 고딕"/>
                <a:ea typeface="맑은 고딕"/>
              </a:rPr>
              <a:t>  비모호 질문 25% 충돌 정량화</a:t>
            </a:r>
          </a:p>
          <a:p>
            <a:pPr algn="l">
              <a:lnSpc>
                <a:spcPct val="132000"/>
              </a:lnSpc>
              <a:spcAft>
                <a:spcPts val="450"/>
              </a:spcAft>
            </a:pPr>
            <a:r>
              <a:rPr sz="1040" b="0">
                <a:solidFill>
                  <a:srgbClr val="6B7480"/>
                </a:solidFill>
                <a:latin typeface="맑은 고딕"/>
                <a:ea typeface="맑은 고딕"/>
              </a:rPr>
              <a:t>→ 우리의 데이터 기반 (3종 채택)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298448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97680" y="1331468"/>
            <a:ext cx="3584448" cy="28016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② 충돌 완화  (기법)</a:t>
            </a:r>
          </a:p>
          <a:p>
            <a:pPr algn="l">
              <a:lnSpc>
                <a:spcPct val="132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디코딩 제어·외부 파이프라인으로 충돌을 해소하려 한 기법 — 단일 모델의 사고 채널에 대한 인과 규명은 부재</a:t>
            </a:r>
          </a:p>
          <a:p>
            <a:pPr algn="l">
              <a:lnSpc>
                <a:spcPct val="132000"/>
              </a:lnSpc>
              <a:spcAft>
                <a:spcPts val="450"/>
              </a:spcAft>
            </a:pPr>
            <a:r>
              <a:rPr sz="116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60" b="1">
                <a:solidFill>
                  <a:srgbClr val="1E2227"/>
                </a:solidFill>
                <a:latin typeface="맑은 고딕"/>
                <a:ea typeface="맑은 고딕"/>
              </a:rPr>
              <a:t>CAD/AdaCAD · CD2</a:t>
            </a:r>
            <a:r>
              <a:rPr sz="1160" b="0">
                <a:solidFill>
                  <a:srgbClr val="1E2227"/>
                </a:solidFill>
                <a:latin typeface="맑은 고딕"/>
                <a:ea typeface="맑은 고딕"/>
              </a:rPr>
              <a:t>  디코딩 개입</a:t>
            </a:r>
          </a:p>
          <a:p>
            <a:pPr algn="l">
              <a:lnSpc>
                <a:spcPct val="132000"/>
              </a:lnSpc>
              <a:spcAft>
                <a:spcPts val="450"/>
              </a:spcAft>
            </a:pPr>
            <a:r>
              <a:rPr sz="116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60" b="1">
                <a:solidFill>
                  <a:srgbClr val="1E2227"/>
                </a:solidFill>
                <a:latin typeface="맑은 고딕"/>
                <a:ea typeface="맑은 고딕"/>
              </a:rPr>
              <a:t>Self-RAG</a:t>
            </a:r>
            <a:r>
              <a:rPr sz="1160" b="0">
                <a:solidFill>
                  <a:srgbClr val="1E2227"/>
                </a:solidFill>
                <a:latin typeface="맑은 고딕"/>
                <a:ea typeface="맑은 고딕"/>
              </a:rPr>
              <a:t>  성찰 · </a:t>
            </a:r>
            <a:r>
              <a:rPr sz="1160" b="1">
                <a:solidFill>
                  <a:srgbClr val="1E2227"/>
                </a:solidFill>
                <a:latin typeface="맑은 고딕"/>
                <a:ea typeface="맑은 고딕"/>
              </a:rPr>
              <a:t>FaithfulRAG</a:t>
            </a:r>
            <a:r>
              <a:rPr sz="1160" b="0">
                <a:solidFill>
                  <a:srgbClr val="1E2227"/>
                </a:solidFill>
                <a:latin typeface="맑은 고딕"/>
                <a:ea typeface="맑은 고딕"/>
              </a:rPr>
              <a:t>  사실 충실</a:t>
            </a:r>
          </a:p>
          <a:p>
            <a:pPr algn="l">
              <a:lnSpc>
                <a:spcPct val="132000"/>
              </a:lnSpc>
              <a:spcAft>
                <a:spcPts val="450"/>
              </a:spcAft>
            </a:pPr>
            <a:r>
              <a:rPr sz="116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60" b="1">
                <a:solidFill>
                  <a:srgbClr val="1E2227"/>
                </a:solidFill>
                <a:latin typeface="맑은 고딕"/>
                <a:ea typeface="맑은 고딕"/>
              </a:rPr>
              <a:t>MADAM-RAG · ConflictRAG</a:t>
            </a:r>
            <a:r>
              <a:rPr sz="1160" b="0">
                <a:solidFill>
                  <a:srgbClr val="1E2227"/>
                </a:solidFill>
                <a:latin typeface="맑은 고딕"/>
                <a:ea typeface="맑은 고딕"/>
              </a:rPr>
              <a:t>  외부 파이프라인</a:t>
            </a:r>
          </a:p>
          <a:p>
            <a:pPr algn="l">
              <a:lnSpc>
                <a:spcPct val="132000"/>
              </a:lnSpc>
              <a:spcAft>
                <a:spcPts val="450"/>
              </a:spcAft>
            </a:pPr>
            <a:r>
              <a:rPr sz="1040" b="0">
                <a:solidFill>
                  <a:srgbClr val="6B7480"/>
                </a:solidFill>
                <a:latin typeface="맑은 고딕"/>
                <a:ea typeface="맑은 고딕"/>
              </a:rPr>
              <a:t>→ 우리의 해부 대상 — 단일 모델 이식 가능한 경량 기법만 (외부는 스코프 밖)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298448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331468"/>
            <a:ext cx="3584448" cy="28016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③ 진단·통제 방법론</a:t>
            </a:r>
          </a:p>
          <a:p>
            <a:pPr algn="l">
              <a:lnSpc>
                <a:spcPct val="132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추론 궤적의 일관성을 평가·개입하고, 난이도와 순수 충돌 효과를 분리하는 대조군 통제 패러다임</a:t>
            </a:r>
          </a:p>
          <a:p>
            <a:pPr algn="l">
              <a:lnSpc>
                <a:spcPct val="132000"/>
              </a:lnSpc>
              <a:spcAft>
                <a:spcPts val="450"/>
              </a:spcAft>
            </a:pPr>
            <a:r>
              <a:rPr sz="116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60" b="1">
                <a:solidFill>
                  <a:srgbClr val="1E2227"/>
                </a:solidFill>
                <a:latin typeface="맑은 고딕"/>
                <a:ea typeface="맑은 고딕"/>
              </a:rPr>
              <a:t>Turpin · Parcalabescu</a:t>
            </a:r>
            <a:r>
              <a:rPr sz="1160" b="0">
                <a:solidFill>
                  <a:srgbClr val="1E2227"/>
                </a:solidFill>
                <a:latin typeface="맑은 고딕"/>
                <a:ea typeface="맑은 고딕"/>
              </a:rPr>
              <a:t>  충실성 vs 자기일관성</a:t>
            </a:r>
          </a:p>
          <a:p>
            <a:pPr algn="l">
              <a:lnSpc>
                <a:spcPct val="132000"/>
              </a:lnSpc>
              <a:spcAft>
                <a:spcPts val="450"/>
              </a:spcAft>
            </a:pPr>
            <a:r>
              <a:rPr sz="116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60" b="1">
                <a:solidFill>
                  <a:srgbClr val="1E2227"/>
                </a:solidFill>
                <a:latin typeface="맑은 고딕"/>
                <a:ea typeface="맑은 고딕"/>
              </a:rPr>
              <a:t>Lanham · Bogdan · Macar</a:t>
            </a:r>
            <a:r>
              <a:rPr sz="1160" b="0">
                <a:solidFill>
                  <a:srgbClr val="1E2227"/>
                </a:solidFill>
                <a:latin typeface="맑은 고딕"/>
                <a:ea typeface="맑은 고딕"/>
              </a:rPr>
              <a:t>  개입(절단·재샘플링)</a:t>
            </a:r>
          </a:p>
          <a:p>
            <a:pPr algn="l">
              <a:lnSpc>
                <a:spcPct val="132000"/>
              </a:lnSpc>
              <a:spcAft>
                <a:spcPts val="450"/>
              </a:spcAft>
            </a:pPr>
            <a:r>
              <a:rPr sz="116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60" b="1">
                <a:solidFill>
                  <a:srgbClr val="1E2227"/>
                </a:solidFill>
                <a:latin typeface="맑은 고딕"/>
                <a:ea typeface="맑은 고딕"/>
              </a:rPr>
              <a:t>Longpre · Xie · Wu · Jin</a:t>
            </a:r>
            <a:r>
              <a:rPr sz="1160" b="0">
                <a:solidFill>
                  <a:srgbClr val="1E2227"/>
                </a:solidFill>
                <a:latin typeface="맑은 고딕"/>
                <a:ea typeface="맑은 고딕"/>
              </a:rPr>
              <a:t>  대조군 통제 정본</a:t>
            </a:r>
          </a:p>
          <a:p>
            <a:pPr algn="l">
              <a:lnSpc>
                <a:spcPct val="132000"/>
              </a:lnSpc>
              <a:spcAft>
                <a:spcPts val="450"/>
              </a:spcAft>
            </a:pPr>
            <a:r>
              <a:rPr sz="116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60" b="1">
                <a:solidFill>
                  <a:srgbClr val="1E2227"/>
                </a:solidFill>
                <a:latin typeface="맑은 고딕"/>
                <a:ea typeface="맑은 고딕"/>
              </a:rPr>
              <a:t>Li · Young '26</a:t>
            </a:r>
            <a:r>
              <a:rPr sz="1160" b="0">
                <a:solidFill>
                  <a:srgbClr val="1E2227"/>
                </a:solidFill>
                <a:latin typeface="맑은 고딕"/>
                <a:ea typeface="맑은 고딕"/>
              </a:rPr>
              <a:t>  해리 현상 보고 (동시기)</a:t>
            </a:r>
          </a:p>
          <a:p>
            <a:pPr algn="l">
              <a:lnSpc>
                <a:spcPct val="132000"/>
              </a:lnSpc>
              <a:spcAft>
                <a:spcPts val="450"/>
              </a:spcAft>
            </a:pPr>
            <a:r>
              <a:rPr sz="1040" b="0">
                <a:solidFill>
                  <a:srgbClr val="6B7480"/>
                </a:solidFill>
                <a:latin typeface="맑은 고딕"/>
                <a:ea typeface="맑은 고딕"/>
              </a:rPr>
              <a:t>→ 우리의 방법 근거 + 차별 대상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160520"/>
            <a:ext cx="11091672" cy="160020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28016"/>
          <a:lstStyle/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</a:rPr>
              <a:t>본 연구의 위치 — 세 지류의 교차점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맑은 고딕"/>
                <a:ea typeface="맑은 고딕"/>
              </a:rPr>
              <a:t>①의 데이터에서   ②의 완화 기법을 추론 모델로 이식했을 때   ③의 방법으로 검증한다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>
                <a:solidFill>
                  <a:srgbClr val="C9D3E0"/>
                </a:solidFill>
                <a:latin typeface="맑은 고딕"/>
                <a:ea typeface="맑은 고딕"/>
              </a:rPr>
              <a:t>EM 상승의 경로별 출처 분해(RQ2)  ·  4경로 전수 귀속(AIR)  ·  충돌 대조군(RQ3)  ·  인과 개입(RQ4)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016752"/>
            <a:ext cx="45720" cy="384048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" y="6016752"/>
            <a:ext cx="11045952" cy="384048"/>
          </a:xfrm>
          <a:prstGeom prst="rect">
            <a:avLst/>
          </a:prstGeom>
          <a:solidFill>
            <a:srgbClr val="ED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tIns="0" bIns="0"/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1">
                <a:solidFill>
                  <a:srgbClr val="273A52"/>
                </a:solidFill>
                <a:latin typeface="맑은 고딕"/>
                <a:ea typeface="맑은 고딕"/>
              </a:rPr>
              <a:t>핵심   </a:t>
            </a:r>
            <a:r>
              <a:rPr sz="1150" b="0">
                <a:solidFill>
                  <a:srgbClr val="1E2227"/>
                </a:solidFill>
                <a:latin typeface="맑은 고딕"/>
                <a:ea typeface="맑은 고딕"/>
              </a:rPr>
              <a:t>세 지류 각각에는 선행이 있지만, </a:t>
            </a:r>
            <a:r>
              <a:rPr sz="1150" b="1">
                <a:solidFill>
                  <a:srgbClr val="1E2227"/>
                </a:solidFill>
                <a:latin typeface="맑은 고딕"/>
                <a:ea typeface="맑은 고딕"/>
              </a:rPr>
              <a:t>셋을 관통하는 '충돌 × 사고궤적 × 회계'의 교차점은 비어 있음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250" b="1">
                <a:solidFill>
                  <a:srgbClr val="6B7480"/>
                </a:solidFill>
                <a:latin typeface="맑은 고딕"/>
                <a:ea typeface="맑은 고딕"/>
              </a:rPr>
              <a:t>§3.1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데이터셋 구성: 3개 데이터셋과 증강 트랙의 역할 분담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950" b="0">
                <a:solidFill>
                  <a:srgbClr val="6B7480"/>
                </a:solidFill>
                <a:latin typeface="맑은 고딕"/>
                <a:ea typeface="맑은 고딕"/>
              </a:rPr>
              <a:t>§3 방법론 · 데이터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r>
              <a:rPr sz="950" b="0">
                <a:solidFill>
                  <a:srgbClr val="6B7480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98448"/>
            <a:ext cx="2688336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331468"/>
            <a:ext cx="2688336" cy="2664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273A52"/>
                </a:solidFill>
                <a:latin typeface="맑은 고딕"/>
                <a:ea typeface="맑은 고딕"/>
              </a:rPr>
              <a:t>DRAGged · 458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150" b="1">
                <a:solidFill>
                  <a:srgbClr val="273A52"/>
                </a:solidFill>
                <a:latin typeface="맑은 고딕"/>
                <a:ea typeface="맑은 고딕"/>
              </a:rPr>
              <a:t>생태적 앵커  (주력)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140" b="0">
                <a:solidFill>
                  <a:srgbClr val="1E2227"/>
                </a:solidFill>
                <a:latin typeface="맑은 고딕"/>
                <a:ea typeface="맑은 고딕"/>
              </a:rPr>
              <a:t>실제 구글 검색 문서 — 본문·date·url 온전, 유형 전문가 주석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140" b="0">
                <a:solidFill>
                  <a:srgbClr val="1E2227"/>
                </a:solidFill>
                <a:latin typeface="맑은 고딕"/>
                <a:ea typeface="맑은 고딕"/>
              </a:rPr>
              <a:t>사실 충돌 </a:t>
            </a:r>
            <a:r>
              <a:rPr sz="1140" b="1">
                <a:solidFill>
                  <a:srgbClr val="1E2227"/>
                </a:solidFill>
                <a:latin typeface="맑은 고딕"/>
                <a:ea typeface="맑은 고딕"/>
              </a:rPr>
              <a:t>67</a:t>
            </a:r>
            <a:r>
              <a:rPr sz="1140" b="0">
                <a:solidFill>
                  <a:srgbClr val="1E2227"/>
                </a:solidFill>
                <a:latin typeface="맑은 고딕"/>
                <a:ea typeface="맑은 고딕"/>
              </a:rPr>
              <a:t> (시간 62 · 오정보 5)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040" b="0">
                <a:solidFill>
                  <a:srgbClr val="6B7480"/>
                </a:solidFill>
                <a:latin typeface="맑은 고딕"/>
                <a:ea typeface="맑은 고딕"/>
              </a:rPr>
              <a:t>채점 가능: 매핑 실측 후 56~61건</a:t>
            </a:r>
          </a:p>
        </p:txBody>
      </p:sp>
      <p:sp>
        <p:nvSpPr>
          <p:cNvPr id="9" name="Rectangle 8"/>
          <p:cNvSpPr/>
          <p:nvPr/>
        </p:nvSpPr>
        <p:spPr>
          <a:xfrm>
            <a:off x="3346704" y="1298448"/>
            <a:ext cx="2688336" cy="33020"/>
          </a:xfrm>
          <a:prstGeom prst="rect">
            <a:avLst/>
          </a:prstGeom>
          <a:solidFill>
            <a:srgbClr val="1E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46704" y="1331468"/>
            <a:ext cx="2688336" cy="2664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273A52"/>
                </a:solidFill>
                <a:latin typeface="맑은 고딕"/>
                <a:ea typeface="맑은 고딕"/>
              </a:rPr>
              <a:t>QACC · 381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150" b="1">
                <a:solidFill>
                  <a:srgbClr val="1E7A6F"/>
                </a:solidFill>
                <a:latin typeface="맑은 고딕"/>
                <a:ea typeface="맑은 고딕"/>
              </a:rPr>
              <a:t>자연 검정력 보강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140" b="0">
                <a:solidFill>
                  <a:srgbClr val="1E2227"/>
                </a:solidFill>
                <a:latin typeface="맑은 고딕"/>
                <a:ea typeface="맑은 고딕"/>
              </a:rPr>
              <a:t>같은 구글 검색 생태 · 답변-문서 </a:t>
            </a:r>
            <a:r>
              <a:rPr sz="1140" b="1">
                <a:solidFill>
                  <a:srgbClr val="1E2227"/>
                </a:solidFill>
                <a:latin typeface="맑은 고딕"/>
                <a:ea typeface="맑은 고딕"/>
              </a:rPr>
              <a:t>귀속 주석 내장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140" b="0">
                <a:solidFill>
                  <a:srgbClr val="1E2227"/>
                </a:solidFill>
                <a:latin typeface="맑은 고딕"/>
                <a:ea typeface="맑은 고딕"/>
              </a:rPr>
              <a:t>스크리닝 게이트 통과분만 — 예상 </a:t>
            </a:r>
            <a:r>
              <a:rPr sz="1140" b="1">
                <a:solidFill>
                  <a:srgbClr val="1E2227"/>
                </a:solidFill>
                <a:latin typeface="맑은 고딕"/>
                <a:ea typeface="맑은 고딕"/>
              </a:rPr>
              <a:t>~167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040" b="0">
                <a:solidFill>
                  <a:srgbClr val="6B7480"/>
                </a:solidFill>
                <a:latin typeface="맑은 고딕"/>
                <a:ea typeface="맑은 고딕"/>
              </a:rPr>
              <a:t>스니펫(27단어)·주석자 1인 → 게이트 필수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4768" y="1298448"/>
            <a:ext cx="2688336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44768" y="1331468"/>
            <a:ext cx="2688336" cy="2664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273A52"/>
                </a:solidFill>
                <a:latin typeface="맑은 고딕"/>
                <a:ea typeface="맑은 고딕"/>
              </a:rPr>
              <a:t>RAMDocs · 500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150" b="1">
                <a:solidFill>
                  <a:srgbClr val="273A52"/>
                </a:solidFill>
                <a:latin typeface="맑은 고딕"/>
                <a:ea typeface="맑은 고딕"/>
              </a:rPr>
              <a:t>오정보 볼륨·매칭 대조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140" b="0">
                <a:solidFill>
                  <a:srgbClr val="1E2227"/>
                </a:solidFill>
                <a:latin typeface="맑은 고딕"/>
                <a:ea typeface="맑은 고딕"/>
              </a:rPr>
              <a:t>문서 라벨(correct/misinfo/noise) 내장 — 매핑 불요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140" b="0">
                <a:solidFill>
                  <a:srgbClr val="1E2227"/>
                </a:solidFill>
                <a:latin typeface="맑은 고딕"/>
                <a:ea typeface="맑은 고딕"/>
              </a:rPr>
              <a:t>misinfo↔noise 교체로 </a:t>
            </a:r>
            <a:r>
              <a:rPr sz="1140" b="1">
                <a:solidFill>
                  <a:srgbClr val="1E2227"/>
                </a:solidFill>
                <a:latin typeface="맑은 고딕"/>
                <a:ea typeface="맑은 고딕"/>
              </a:rPr>
              <a:t>within-item 대조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040" b="0">
                <a:solidFill>
                  <a:srgbClr val="6B7480"/>
                </a:solidFill>
                <a:latin typeface="맑은 고딕"/>
                <a:ea typeface="맑은 고딕"/>
              </a:rPr>
              <a:t>합성 · date/url 없음 → 다수결 신호 의존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42832" y="1298448"/>
            <a:ext cx="2688336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942832" y="1331468"/>
            <a:ext cx="2688336" cy="2664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치환 증강   [통제]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150" b="1">
                <a:solidFill>
                  <a:srgbClr val="273A52"/>
                </a:solidFill>
                <a:latin typeface="맑은 고딕"/>
                <a:ea typeface="맑은 고딕"/>
              </a:rPr>
              <a:t>within-item 매칭 통제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140" b="0">
                <a:solidFill>
                  <a:srgbClr val="1E2227"/>
                </a:solidFill>
                <a:latin typeface="맑은 고딕"/>
                <a:ea typeface="맑은 고딕"/>
              </a:rPr>
              <a:t>비충돌 161건에서 개체·날짜 치환으로 충돌 변형 파생 (Longpre '21)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140" b="0">
                <a:solidFill>
                  <a:srgbClr val="1E2227"/>
                </a:solidFill>
                <a:latin typeface="맑은 고딕"/>
                <a:ea typeface="맑은 고딕"/>
              </a:rPr>
              <a:t>난이도 동등성 게이트 통과분만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040" b="0">
                <a:solidFill>
                  <a:srgbClr val="6B7480"/>
                </a:solidFill>
                <a:latin typeface="맑은 고딕"/>
                <a:ea typeface="맑은 고딕"/>
              </a:rPr>
              <a:t>합성 — 검정력 아닌 통제 전담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224528"/>
            <a:ext cx="11091672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257548"/>
            <a:ext cx="11091672" cy="15031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역할 분담의 근거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QACC 원 논문의 발견 — 합성 교란용 완화를 파인튜닝하면 </a:t>
            </a:r>
            <a:r>
              <a:rPr sz="1120" b="1">
                <a:solidFill>
                  <a:srgbClr val="A4482A"/>
                </a:solidFill>
                <a:latin typeface="맑은 고딕"/>
                <a:ea typeface="맑은 고딕"/>
              </a:rPr>
              <a:t>자연 충돌에서 오히려 성능 하락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(합성→자연 이전 실패) — 이 "자연=앵커·검정력, 합성=통제" 분담을 실증적으로 뒷받침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세 데이터셋은 충돌 정의·문서 길이가 달라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풀링하지 않고 분리 보고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합니다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016752"/>
            <a:ext cx="45720" cy="384048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" y="6016752"/>
            <a:ext cx="11045952" cy="384048"/>
          </a:xfrm>
          <a:prstGeom prst="rect">
            <a:avLst/>
          </a:prstGeom>
          <a:solidFill>
            <a:srgbClr val="ED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tIns="0" bIns="0"/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1">
                <a:solidFill>
                  <a:srgbClr val="273A52"/>
                </a:solidFill>
                <a:latin typeface="맑은 고딕"/>
                <a:ea typeface="맑은 고딕"/>
              </a:rPr>
              <a:t>핵심   </a:t>
            </a:r>
            <a:r>
              <a:rPr sz="1150" b="0">
                <a:solidFill>
                  <a:srgbClr val="1E2227"/>
                </a:solidFill>
                <a:latin typeface="맑은 고딕"/>
                <a:ea typeface="맑은 고딕"/>
              </a:rPr>
              <a:t>자연 표본 이중 트랙(DRAGged+QACC)으로 검정력을 확보 — </a:t>
            </a:r>
            <a:r>
              <a:rPr sz="1150" b="1">
                <a:solidFill>
                  <a:srgbClr val="1E2227"/>
                </a:solidFill>
                <a:latin typeface="맑은 고딕"/>
                <a:ea typeface="맑은 고딕"/>
              </a:rPr>
              <a:t>합성 증강에 기대던 설계 대비 공격면이 근본적으로 줄어듦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250" b="1">
                <a:solidFill>
                  <a:srgbClr val="6B7480"/>
                </a:solidFill>
                <a:latin typeface="맑은 고딕"/>
                <a:ea typeface="맑은 고딕"/>
              </a:rPr>
              <a:t>§3.1.1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DRAGged: 원본 구조와 진단 범위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950" b="0">
                <a:solidFill>
                  <a:srgbClr val="6B7480"/>
                </a:solidFill>
                <a:latin typeface="맑은 고딕"/>
                <a:ea typeface="맑은 고딕"/>
              </a:rPr>
              <a:t>§3 방법론 · 데이터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r>
              <a:rPr sz="950" b="0">
                <a:solidFill>
                  <a:srgbClr val="6B7480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98448"/>
            <a:ext cx="11091672" cy="2304288"/>
          </a:xfrm>
          <a:prstGeom prst="rect">
            <a:avLst/>
          </a:prstGeom>
          <a:solidFill>
            <a:srgbClr val="F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tIns="82296" bIns="64008"/>
          <a:lstStyle/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980" b="0">
                <a:solidFill>
                  <a:srgbClr val="1E2227"/>
                </a:solidFill>
                <a:latin typeface="Consolas"/>
                <a:ea typeface="맑은 고딕"/>
              </a:rPr>
              <a:t>{ </a:t>
            </a:r>
            <a:r>
              <a:rPr sz="980" b="1">
                <a:solidFill>
                  <a:srgbClr val="273A52"/>
                </a:solidFill>
                <a:latin typeface="Consolas"/>
                <a:ea typeface="맑은 고딕"/>
              </a:rPr>
              <a:t>"question"</a:t>
            </a:r>
            <a:r>
              <a:rPr sz="980" b="0">
                <a:solidFill>
                  <a:srgbClr val="1E2227"/>
                </a:solidFill>
                <a:latin typeface="Consolas"/>
                <a:ea typeface="맑은 고딕"/>
              </a:rPr>
              <a:t>: "When does this year's Passover start?",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980" b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980" b="1">
                <a:solidFill>
                  <a:srgbClr val="273A52"/>
                </a:solidFill>
                <a:latin typeface="Consolas"/>
                <a:ea typeface="맑은 고딕"/>
              </a:rPr>
              <a:t>"conflict_type"</a:t>
            </a:r>
            <a:r>
              <a:rPr sz="980" b="0">
                <a:solidFill>
                  <a:srgbClr val="1E2227"/>
                </a:solidFill>
                <a:latin typeface="Consolas"/>
                <a:ea typeface="맑은 고딕"/>
              </a:rPr>
              <a:t>: "Conflict due to outdated information",</a:t>
            </a:r>
            <a:r>
              <a:rPr sz="980" b="0">
                <a:solidFill>
                  <a:srgbClr val="6B7480"/>
                </a:solidFill>
                <a:latin typeface="Consolas"/>
                <a:ea typeface="맑은 고딕"/>
              </a:rPr>
              <a:t>   // 전문가 유형 주석 (5분류)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980" b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980" b="1">
                <a:solidFill>
                  <a:srgbClr val="273A52"/>
                </a:solidFill>
                <a:latin typeface="Consolas"/>
                <a:ea typeface="맑은 고딕"/>
              </a:rPr>
              <a:t>"correct_answer"</a:t>
            </a:r>
            <a:r>
              <a:rPr sz="980" b="0">
                <a:solidFill>
                  <a:srgbClr val="1E2227"/>
                </a:solidFill>
                <a:latin typeface="Consolas"/>
                <a:ea typeface="맑은 고딕"/>
              </a:rPr>
              <a:t>: "begins at sundown on Saturday, April 12.",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980" b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980" b="1">
                <a:solidFill>
                  <a:srgbClr val="273A52"/>
                </a:solidFill>
                <a:latin typeface="Consolas"/>
                <a:ea typeface="맑은 고딕"/>
              </a:rPr>
              <a:t>"search_results"</a:t>
            </a:r>
            <a:r>
              <a:rPr sz="980" b="0">
                <a:solidFill>
                  <a:srgbClr val="1E2227"/>
                </a:solidFill>
                <a:latin typeface="Consolas"/>
                <a:ea typeface="맑은 고딕"/>
              </a:rPr>
              <a:t>: [</a:t>
            </a:r>
            <a:r>
              <a:rPr sz="980" b="0">
                <a:solidFill>
                  <a:srgbClr val="6B7480"/>
                </a:solidFill>
                <a:latin typeface="Consolas"/>
                <a:ea typeface="맑은 고딕"/>
              </a:rPr>
              <a:t>                                  // 실제 구글 top-10 웹 문서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980" b="0">
                <a:solidFill>
                  <a:srgbClr val="1E2227"/>
                </a:solidFill>
                <a:latin typeface="Consolas"/>
                <a:ea typeface="맑은 고딕"/>
              </a:rPr>
              <a:t>    { "date": "2025-01-01", "url": "chabad.org/...", "title": "When Is Passover in 2025...",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980" b="0">
                <a:solidFill>
                  <a:srgbClr val="1E2227"/>
                </a:solidFill>
                <a:latin typeface="Consolas"/>
                <a:ea typeface="맑은 고딕"/>
              </a:rPr>
              <a:t>      "text": "Pesach 2025 begins before sundown on Saturday April 12, 2025..." },</a:t>
            </a:r>
            <a:r>
              <a:rPr sz="980" b="1">
                <a:solidFill>
                  <a:srgbClr val="1E7A6F"/>
                </a:solidFill>
                <a:latin typeface="Consolas"/>
                <a:ea typeface="맑은 고딕"/>
              </a:rPr>
              <a:t>   ← 유효(최신)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980" b="0">
                <a:solidFill>
                  <a:srgbClr val="1E2227"/>
                </a:solidFill>
                <a:latin typeface="Consolas"/>
                <a:ea typeface="맑은 고딕"/>
              </a:rPr>
              <a:t>    { "date": "2024-05-01", "url": "...", "text": "It starts at dusk on the same day..." },</a:t>
            </a:r>
            <a:r>
              <a:rPr sz="980" b="1">
                <a:solidFill>
                  <a:srgbClr val="A4482A"/>
                </a:solidFill>
                <a:latin typeface="Consolas"/>
                <a:ea typeface="맑은 고딕"/>
              </a:rPr>
              <a:t> ← 과거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980" b="0">
                <a:solidFill>
                  <a:srgbClr val="1E2227"/>
                </a:solidFill>
                <a:latin typeface="Consolas"/>
                <a:ea typeface="맑은 고딕"/>
              </a:rPr>
              <a:t>    ...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980" b="0">
                <a:solidFill>
                  <a:srgbClr val="1E2227"/>
                </a:solidFill>
                <a:latin typeface="Consolas"/>
                <a:ea typeface="맑은 고딕"/>
              </a:rPr>
              <a:t>] }</a:t>
            </a:r>
            <a:r>
              <a:rPr sz="980" b="0">
                <a:solidFill>
                  <a:srgbClr val="6B7480"/>
                </a:solidFill>
                <a:latin typeface="Consolas"/>
                <a:ea typeface="맑은 고딕"/>
              </a:rPr>
              <a:t>        ※ 개별 문서에 정답 라벨 없음 → 정답 문서 매핑 파이프라인 필요 (다음 장)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767328"/>
            <a:ext cx="545896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3800348"/>
            <a:ext cx="5458968" cy="205181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충돌 유형 분포와 진단 범위 (458건)</a:t>
            </a:r>
          </a:p>
          <a:p>
            <a:pPr algn="l">
              <a:lnSpc>
                <a:spcPct val="138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시간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62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 · 오정보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5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 · 의견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115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 · 상보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115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 · 비충돌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161</a:t>
            </a:r>
          </a:p>
          <a:p>
            <a:pPr algn="l">
              <a:lnSpc>
                <a:spcPct val="138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좁히기: 종합 필요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297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(64.8%) → 명시적 상충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182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 → 사실 충돌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67</a:t>
            </a:r>
          </a:p>
          <a:p>
            <a:pPr algn="l">
              <a:lnSpc>
                <a:spcPct val="138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→ 매핑 실측 후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실채점 가능 56~61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 (다음 장)</a:t>
            </a:r>
          </a:p>
          <a:p>
            <a:pPr algn="l">
              <a:lnSpc>
                <a:spcPct val="138000"/>
              </a:lnSpc>
              <a:spcAft>
                <a:spcPts val="450"/>
              </a:spcAft>
            </a:pPr>
            <a:r>
              <a:rPr sz="1040" b="0">
                <a:solidFill>
                  <a:srgbClr val="6B7480"/>
                </a:solidFill>
                <a:latin typeface="맑은 고딕"/>
                <a:ea typeface="맑은 고딕"/>
              </a:rPr>
              <a:t>의견 충돌 115는 정답이 없어 행동 지표 제외 — 자기일관성·인지 분석 트랙에 사용 (이중 트랙)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1344" y="3767328"/>
            <a:ext cx="545896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344" y="3800348"/>
            <a:ext cx="5458968" cy="205181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진단 적합성</a:t>
            </a:r>
          </a:p>
          <a:p>
            <a:pPr algn="l">
              <a:lnSpc>
                <a:spcPct val="138000"/>
              </a:lnSpc>
              <a:spcAft>
                <a:spcPts val="450"/>
              </a:spcAft>
            </a:pPr>
            <a:r>
              <a:rPr sz="120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200" b="1">
                <a:solidFill>
                  <a:srgbClr val="1E2227"/>
                </a:solidFill>
                <a:latin typeface="맑은 고딕"/>
                <a:ea typeface="맑은 고딕"/>
              </a:rPr>
              <a:t>본문·date·url 온전</a:t>
            </a:r>
            <a:r>
              <a:rPr sz="1200" b="0">
                <a:solidFill>
                  <a:srgbClr val="1E2227"/>
                </a:solidFill>
                <a:latin typeface="맑은 고딕"/>
                <a:ea typeface="맑은 고딕"/>
              </a:rPr>
              <a:t> — 최신성·권위 대조를 수행하는 풍부한 &lt;think&gt; 유도</a:t>
            </a:r>
          </a:p>
          <a:p>
            <a:pPr algn="l">
              <a:lnSpc>
                <a:spcPct val="138000"/>
              </a:lnSpc>
              <a:spcAft>
                <a:spcPts val="450"/>
              </a:spcAft>
            </a:pPr>
            <a:r>
              <a:rPr sz="120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200" b="1">
                <a:solidFill>
                  <a:srgbClr val="1E2227"/>
                </a:solidFill>
                <a:latin typeface="맑은 고딕"/>
                <a:ea typeface="맑은 고딕"/>
              </a:rPr>
              <a:t>실제 웹 이질성</a:t>
            </a:r>
            <a:r>
              <a:rPr sz="1200" b="0">
                <a:solidFill>
                  <a:srgbClr val="1E2227"/>
                </a:solidFill>
                <a:latin typeface="맑은 고딕"/>
                <a:ea typeface="맑은 고딕"/>
              </a:rPr>
              <a:t> — 단일 토큰 조작 합성 데이터와 달리 출처·날짜·문맥이 다양</a:t>
            </a:r>
          </a:p>
          <a:p>
            <a:pPr algn="l">
              <a:lnSpc>
                <a:spcPct val="138000"/>
              </a:lnSpc>
              <a:spcAft>
                <a:spcPts val="450"/>
              </a:spcAft>
            </a:pPr>
            <a:r>
              <a:rPr sz="120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200" b="1">
                <a:solidFill>
                  <a:srgbClr val="1E2227"/>
                </a:solidFill>
                <a:latin typeface="맑은 고딕"/>
                <a:ea typeface="맑은 고딕"/>
              </a:rPr>
              <a:t>역할: 생태적 앵커</a:t>
            </a:r>
            <a:r>
              <a:rPr sz="1200" b="0">
                <a:solidFill>
                  <a:srgbClr val="1E2227"/>
                </a:solidFill>
                <a:latin typeface="맑은 고딕"/>
                <a:ea typeface="맑은 고딕"/>
              </a:rPr>
              <a:t> (주력 벤치마크)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016752"/>
            <a:ext cx="45720" cy="384048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" y="6016752"/>
            <a:ext cx="11045952" cy="384048"/>
          </a:xfrm>
          <a:prstGeom prst="rect">
            <a:avLst/>
          </a:prstGeom>
          <a:solidFill>
            <a:srgbClr val="ED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tIns="0" bIns="0"/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1">
                <a:solidFill>
                  <a:srgbClr val="273A52"/>
                </a:solidFill>
                <a:latin typeface="맑은 고딕"/>
                <a:ea typeface="맑은 고딕"/>
              </a:rPr>
              <a:t>핵심   </a:t>
            </a:r>
            <a:r>
              <a:rPr sz="1150" b="0">
                <a:solidFill>
                  <a:srgbClr val="1E2227"/>
                </a:solidFill>
                <a:latin typeface="맑은 고딕"/>
                <a:ea typeface="맑은 고딕"/>
              </a:rPr>
              <a:t>문항 = 질의 + 유형 주석 + 정답 + 실웹 문서 10개 — </a:t>
            </a:r>
            <a:r>
              <a:rPr sz="1150" b="1">
                <a:solidFill>
                  <a:srgbClr val="1E2227"/>
                </a:solidFill>
                <a:latin typeface="맑은 고딕"/>
                <a:ea typeface="맑은 고딕"/>
              </a:rPr>
              <a:t>단, 문서 수준 정답 라벨이 없어 매핑이 선행 과제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250" b="1">
                <a:solidFill>
                  <a:srgbClr val="6B7480"/>
                </a:solidFill>
                <a:latin typeface="맑은 고딕"/>
                <a:ea typeface="맑은 고딕"/>
              </a:rPr>
              <a:t>§3.1.1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DRAGged: 정답 문서 매핑과 전처리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950" b="0">
                <a:solidFill>
                  <a:srgbClr val="6B7480"/>
                </a:solidFill>
                <a:latin typeface="맑은 고딕"/>
                <a:ea typeface="맑은 고딕"/>
              </a:rPr>
              <a:t>§3 방법론 · 데이터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r>
              <a:rPr sz="950" b="0">
                <a:solidFill>
                  <a:srgbClr val="6B7480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98448"/>
            <a:ext cx="545896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331468"/>
            <a:ext cx="5458968" cy="22529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정답 문서 매핑 파이프라인 (사전등록)</a:t>
            </a:r>
          </a:p>
          <a:p>
            <a:pPr algn="l">
              <a:lnSpc>
                <a:spcPct val="134000"/>
              </a:lnSpc>
              <a:spcAft>
                <a:spcPts val="450"/>
              </a:spcAft>
            </a:pPr>
            <a:r>
              <a:rPr sz="118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80" b="1">
                <a:solidFill>
                  <a:srgbClr val="1E2227"/>
                </a:solidFill>
                <a:latin typeface="맑은 고딕"/>
                <a:ea typeface="맑은 고딕"/>
              </a:rPr>
              <a:t>① 자동 매핑: </a:t>
            </a:r>
            <a:r>
              <a:rPr sz="1180" b="0">
                <a:solidFill>
                  <a:srgbClr val="1E2227"/>
                </a:solidFill>
                <a:latin typeface="맑은 고딕"/>
                <a:ea typeface="맑은 고딕"/>
              </a:rPr>
              <a:t>정규화 문자열 일치 + NLI로 correct_answer ↔ 문서 사전 대응</a:t>
            </a:r>
          </a:p>
          <a:p>
            <a:pPr algn="l">
              <a:lnSpc>
                <a:spcPct val="134000"/>
              </a:lnSpc>
              <a:spcAft>
                <a:spcPts val="450"/>
              </a:spcAft>
            </a:pPr>
            <a:r>
              <a:rPr sz="118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80" b="1">
                <a:solidFill>
                  <a:srgbClr val="1E2227"/>
                </a:solidFill>
                <a:latin typeface="맑은 고딕"/>
                <a:ea typeface="맑은 고딕"/>
              </a:rPr>
              <a:t>② 복수 매칭 = 정상: </a:t>
            </a:r>
            <a:r>
              <a:rPr sz="1180" b="0">
                <a:solidFill>
                  <a:srgbClr val="1E2227"/>
                </a:solidFill>
                <a:latin typeface="맑은 고딕"/>
                <a:ea typeface="맑은 고딕"/>
              </a:rPr>
              <a:t>과거 문서도 정답 개체 언급 → date 최신성(+정답 지지)으로 유효 문서 선정</a:t>
            </a:r>
          </a:p>
          <a:p>
            <a:pPr algn="l">
              <a:lnSpc>
                <a:spcPct val="134000"/>
              </a:lnSpc>
              <a:spcAft>
                <a:spcPts val="450"/>
              </a:spcAft>
            </a:pPr>
            <a:r>
              <a:rPr sz="118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80" b="1">
                <a:solidFill>
                  <a:srgbClr val="1E2227"/>
                </a:solidFill>
                <a:latin typeface="맑은 고딕"/>
                <a:ea typeface="맑은 고딕"/>
              </a:rPr>
              <a:t>③ 제외는 최소로: </a:t>
            </a:r>
            <a:r>
              <a:rPr sz="1180" b="0">
                <a:solidFill>
                  <a:srgbClr val="1E2227"/>
                </a:solidFill>
                <a:latin typeface="맑은 고딕"/>
                <a:ea typeface="맑은 고딕"/>
              </a:rPr>
              <a:t>무매칭·날짜 동률/부재만 플래그 후 제외·건수 보고</a:t>
            </a:r>
          </a:p>
          <a:p>
            <a:pPr algn="l">
              <a:lnSpc>
                <a:spcPct val="134000"/>
              </a:lnSpc>
              <a:spcAft>
                <a:spcPts val="450"/>
              </a:spcAft>
            </a:pPr>
            <a:r>
              <a:rPr sz="118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80" b="1">
                <a:solidFill>
                  <a:srgbClr val="1E2227"/>
                </a:solidFill>
                <a:latin typeface="맑은 고딕"/>
                <a:ea typeface="맑은 고딕"/>
              </a:rPr>
              <a:t>④ 골드 매핑: </a:t>
            </a:r>
            <a:r>
              <a:rPr sz="1180" b="0">
                <a:solidFill>
                  <a:srgbClr val="1E2227"/>
                </a:solidFill>
                <a:latin typeface="맑은 고딕"/>
                <a:ea typeface="맑은 고딕"/>
              </a:rPr>
              <a:t>사실 충돌 67건 전수 인간 검증·교정 + 정답 정오표</a:t>
            </a:r>
          </a:p>
        </p:txBody>
      </p:sp>
      <p:sp>
        <p:nvSpPr>
          <p:cNvPr id="9" name="Rectangle 8"/>
          <p:cNvSpPr/>
          <p:nvPr/>
        </p:nvSpPr>
        <p:spPr>
          <a:xfrm>
            <a:off x="6181344" y="1298448"/>
            <a:ext cx="5458968" cy="33020"/>
          </a:xfrm>
          <a:prstGeom prst="rect">
            <a:avLst/>
          </a:prstGeom>
          <a:solidFill>
            <a:srgbClr val="A44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1344" y="1331468"/>
            <a:ext cx="5458968" cy="22529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매핑 실측 (2026-07-08, 67건 전수)</a:t>
            </a:r>
          </a:p>
          <a:p>
            <a:pPr algn="l">
              <a:lnSpc>
                <a:spcPct val="134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무매칭 5 · 유일 9 · </a:t>
            </a:r>
            <a:r>
              <a:rPr sz="1120" b="1">
                <a:solidFill>
                  <a:srgbClr val="A4482A"/>
                </a:solidFill>
                <a:latin typeface="맑은 고딕"/>
                <a:ea typeface="맑은 고딕"/>
              </a:rPr>
              <a:t>복수 매칭 53 (79%)</a:t>
            </a:r>
          </a:p>
          <a:p>
            <a:pPr algn="l">
              <a:lnSpc>
                <a:spcPct val="134000"/>
              </a:lnSpc>
              <a:spcAft>
                <a:spcPts val="450"/>
              </a:spcAft>
            </a:pPr>
            <a:r>
              <a:rPr sz="1120" b="1">
                <a:solidFill>
                  <a:srgbClr val="A4482A"/>
                </a:solidFill>
                <a:latin typeface="맑은 고딕"/>
                <a:ea typeface="맑은 고딕"/>
              </a:rPr>
              <a:t>'복수=제외' 규칙이면 표본 ~14건으로 붕괴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 → 위 ②의 최신성 해소 규칙으로 변경한 실측 근거 (53건 중 47건 해소 가능)</a:t>
            </a:r>
          </a:p>
          <a:p>
            <a:pPr algn="l">
              <a:lnSpc>
                <a:spcPct val="134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부수 발견: 원본 정답 오탈자("Boston Celtis", "Bolovia") → 정오표 병행</a:t>
            </a:r>
          </a:p>
          <a:p>
            <a:pPr algn="l">
              <a:lnSpc>
                <a:spcPct val="134000"/>
              </a:lnSpc>
              <a:spcAft>
                <a:spcPts val="450"/>
              </a:spcAft>
            </a:pPr>
            <a:r>
              <a:rPr sz="1040" b="0">
                <a:solidFill>
                  <a:srgbClr val="6B7480"/>
                </a:solidFill>
                <a:latin typeface="맑은 고딕"/>
                <a:ea typeface="맑은 고딕"/>
              </a:rPr>
              <a:t>→ 예상 채점 가능 56~61건 — 검정력 표의 기저 표본 (§3.1.4)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730752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230" b="1">
                <a:solidFill>
                  <a:srgbClr val="1E2227"/>
                </a:solidFill>
                <a:latin typeface="맑은 고딕"/>
                <a:ea typeface="맑은 고딕"/>
              </a:rPr>
              <a:t>모델 입력 렌더링 포맷 — 매 실험 문서 순서 무작위 셔플(위치 편향 통제), date·url 헤더 유지: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059936"/>
            <a:ext cx="11091672" cy="841248"/>
          </a:xfrm>
          <a:prstGeom prst="rect">
            <a:avLst/>
          </a:prstGeom>
          <a:solidFill>
            <a:srgbClr val="F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tIns="82296" bIns="64008"/>
          <a:lstStyle/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019" b="1">
                <a:solidFill>
                  <a:srgbClr val="273A52"/>
                </a:solidFill>
                <a:latin typeface="Consolas"/>
                <a:ea typeface="맑은 고딕"/>
              </a:rPr>
              <a:t>[Document 3]</a:t>
            </a:r>
            <a:r>
              <a:rPr sz="1019" b="0">
                <a:solidFill>
                  <a:srgbClr val="1E2227"/>
                </a:solidFill>
                <a:latin typeface="Consolas"/>
                <a:ea typeface="맑은 고딕"/>
              </a:rPr>
              <a:t>  (date: 2025-01-01 | source: chabad.org)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019" b="0">
                <a:solidFill>
                  <a:srgbClr val="1E2227"/>
                </a:solidFill>
                <a:latin typeface="Consolas"/>
                <a:ea typeface="맑은 고딕"/>
              </a:rPr>
              <a:t>Pesach 2025 begins before sundown on Saturday April 12, 2025, and ends after nightfall on April 20...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029200"/>
            <a:ext cx="11091672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5062220"/>
            <a:ext cx="11091672" cy="8356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18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80" b="1">
                <a:solidFill>
                  <a:srgbClr val="1E2227"/>
                </a:solidFill>
                <a:latin typeface="맑은 고딕"/>
                <a:ea typeface="맑은 고딕"/>
              </a:rPr>
              <a:t>치환 증강 게이트(§3.1.1): </a:t>
            </a:r>
            <a:r>
              <a:rPr sz="1180" b="0">
                <a:solidFill>
                  <a:srgbClr val="1E2227"/>
                </a:solidFill>
                <a:latin typeface="맑은 고딕"/>
                <a:ea typeface="맑은 고딕"/>
              </a:rPr>
              <a:t>자연 67건과 증강 표본의 Loss_L1 분포가 유사할 때만 증강 트랙 투입 — 시제 단서 어긋난 '가짜 시간 충돌' 차단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016752"/>
            <a:ext cx="45720" cy="384048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6016752"/>
            <a:ext cx="11045952" cy="384048"/>
          </a:xfrm>
          <a:prstGeom prst="rect">
            <a:avLst/>
          </a:prstGeom>
          <a:solidFill>
            <a:srgbClr val="ED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tIns="0" bIns="0"/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1">
                <a:solidFill>
                  <a:srgbClr val="273A52"/>
                </a:solidFill>
                <a:latin typeface="맑은 고딕"/>
                <a:ea typeface="맑은 고딕"/>
              </a:rPr>
              <a:t>핵심   </a:t>
            </a:r>
            <a:r>
              <a:rPr sz="1150" b="0">
                <a:solidFill>
                  <a:srgbClr val="1E2227"/>
                </a:solidFill>
                <a:latin typeface="맑은 고딕"/>
                <a:ea typeface="맑은 고딕"/>
              </a:rPr>
              <a:t>복수 매칭 규칙 하나가 표본을 4배 좌우 — </a:t>
            </a:r>
            <a:r>
              <a:rPr sz="1150" b="1">
                <a:solidFill>
                  <a:srgbClr val="1E2227"/>
                </a:solidFill>
                <a:latin typeface="맑은 고딕"/>
                <a:ea typeface="맑은 고딕"/>
              </a:rPr>
              <a:t>실험 전 실측 점검이 설계 결함을 사전에 교정한 사례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250" b="1">
                <a:solidFill>
                  <a:srgbClr val="6B7480"/>
                </a:solidFill>
                <a:latin typeface="맑은 고딕"/>
                <a:ea typeface="맑은 고딕"/>
              </a:rPr>
              <a:t>§3.1.2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RAMDocs: 원본 구조와 치환 증강 트랙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950" b="0">
                <a:solidFill>
                  <a:srgbClr val="6B7480"/>
                </a:solidFill>
                <a:latin typeface="맑은 고딕"/>
                <a:ea typeface="맑은 고딕"/>
              </a:rPr>
              <a:t>§3 방법론 · 데이터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r>
              <a:rPr sz="950" b="0">
                <a:solidFill>
                  <a:srgbClr val="6B7480"/>
                </a:solidFill>
                <a:latin typeface="맑은 고딕"/>
                <a:ea typeface="맑은 고딕"/>
              </a:rPr>
              <a:t>14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98448"/>
            <a:ext cx="6035040" cy="2212848"/>
          </a:xfrm>
          <a:prstGeom prst="rect">
            <a:avLst/>
          </a:prstGeom>
          <a:solidFill>
            <a:srgbClr val="F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tIns="82296" bIns="64008"/>
          <a:lstStyle/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980" b="0">
                <a:solidFill>
                  <a:srgbClr val="1E2227"/>
                </a:solidFill>
                <a:latin typeface="Consolas"/>
                <a:ea typeface="맑은 고딕"/>
              </a:rPr>
              <a:t>{ </a:t>
            </a:r>
            <a:r>
              <a:rPr sz="980" b="1">
                <a:solidFill>
                  <a:srgbClr val="273A52"/>
                </a:solidFill>
                <a:latin typeface="Consolas"/>
                <a:ea typeface="맑은 고딕"/>
              </a:rPr>
              <a:t>"question"</a:t>
            </a:r>
            <a:r>
              <a:rPr sz="980" b="0">
                <a:solidFill>
                  <a:srgbClr val="1E2227"/>
                </a:solidFill>
                <a:latin typeface="Consolas"/>
                <a:ea typeface="맑은 고딕"/>
              </a:rPr>
              <a:t>: "What is the population of Broken Bow?",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980" b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980" b="1">
                <a:solidFill>
                  <a:srgbClr val="273A52"/>
                </a:solidFill>
                <a:latin typeface="Consolas"/>
                <a:ea typeface="맑은 고딕"/>
              </a:rPr>
              <a:t>"documents"</a:t>
            </a:r>
            <a:r>
              <a:rPr sz="980" b="0">
                <a:solidFill>
                  <a:srgbClr val="1E2227"/>
                </a:solidFill>
                <a:latin typeface="Consolas"/>
                <a:ea typeface="맑은 고딕"/>
              </a:rPr>
              <a:t>: [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980" b="0">
                <a:solidFill>
                  <a:srgbClr val="1E2227"/>
                </a:solidFill>
                <a:latin typeface="Consolas"/>
                <a:ea typeface="맑은 고딕"/>
              </a:rPr>
              <a:t>    { "text": "...total area...", </a:t>
            </a:r>
            <a:r>
              <a:rPr sz="980" b="1">
                <a:solidFill>
                  <a:srgbClr val="273A52"/>
                </a:solidFill>
                <a:latin typeface="Consolas"/>
                <a:ea typeface="맑은 고딕"/>
              </a:rPr>
              <a:t>"type"</a:t>
            </a:r>
            <a:r>
              <a:rPr sz="980" b="0">
                <a:solidFill>
                  <a:srgbClr val="1E2227"/>
                </a:solidFill>
                <a:latin typeface="Consolas"/>
                <a:ea typeface="맑은 고딕"/>
              </a:rPr>
              <a:t>: "correct"</a:t>
            </a:r>
            <a:r>
              <a:rPr sz="980" b="0">
                <a:solidFill>
                  <a:srgbClr val="1E2227"/>
                </a:solidFill>
                <a:latin typeface="Consolas"/>
                <a:ea typeface="맑은 고딕"/>
              </a:rPr>
              <a:t>, "answer": "3,559" },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980" b="0">
                <a:solidFill>
                  <a:srgbClr val="1E2227"/>
                </a:solidFill>
                <a:latin typeface="Consolas"/>
                <a:ea typeface="맑은 고딕"/>
              </a:rPr>
              <a:t>    { "text": "...historical...", </a:t>
            </a:r>
            <a:r>
              <a:rPr sz="980" b="1">
                <a:solidFill>
                  <a:srgbClr val="273A52"/>
                </a:solidFill>
                <a:latin typeface="Consolas"/>
                <a:ea typeface="맑은 고딕"/>
              </a:rPr>
              <a:t>"type"</a:t>
            </a:r>
            <a:r>
              <a:rPr sz="980" b="0">
                <a:solidFill>
                  <a:srgbClr val="1E2227"/>
                </a:solidFill>
                <a:latin typeface="Consolas"/>
                <a:ea typeface="맑은 고딕"/>
              </a:rPr>
              <a:t>: "misinfo"</a:t>
            </a:r>
            <a:r>
              <a:rPr sz="980" b="0">
                <a:solidFill>
                  <a:srgbClr val="1E2227"/>
                </a:solidFill>
                <a:latin typeface="Consolas"/>
                <a:ea typeface="맑은 고딕"/>
              </a:rPr>
              <a:t>, "answer": "10,000" },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980" b="0">
                <a:solidFill>
                  <a:srgbClr val="1E2227"/>
                </a:solidFill>
                <a:latin typeface="Consolas"/>
                <a:ea typeface="맑은 고딕"/>
              </a:rPr>
              <a:t>    { "text": "...census...",     </a:t>
            </a:r>
            <a:r>
              <a:rPr sz="980" b="1">
                <a:solidFill>
                  <a:srgbClr val="273A52"/>
                </a:solidFill>
                <a:latin typeface="Consolas"/>
                <a:ea typeface="맑은 고딕"/>
              </a:rPr>
              <a:t>"type"</a:t>
            </a:r>
            <a:r>
              <a:rPr sz="980" b="0">
                <a:solidFill>
                  <a:srgbClr val="1E2227"/>
                </a:solidFill>
                <a:latin typeface="Consolas"/>
                <a:ea typeface="맑은 고딕"/>
              </a:rPr>
              <a:t>: "noise"</a:t>
            </a:r>
            <a:r>
              <a:rPr sz="980" b="0">
                <a:solidFill>
                  <a:srgbClr val="1E2227"/>
                </a:solidFill>
                <a:latin typeface="Consolas"/>
                <a:ea typeface="맑은 고딕"/>
              </a:rPr>
              <a:t>   } ],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980" b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980" b="1">
                <a:solidFill>
                  <a:srgbClr val="273A52"/>
                </a:solidFill>
                <a:latin typeface="Consolas"/>
                <a:ea typeface="맑은 고딕"/>
              </a:rPr>
              <a:t>"gold_answers"</a:t>
            </a:r>
            <a:r>
              <a:rPr sz="980" b="0">
                <a:solidFill>
                  <a:srgbClr val="1E2227"/>
                </a:solidFill>
                <a:latin typeface="Consolas"/>
                <a:ea typeface="맑은 고딕"/>
              </a:rPr>
              <a:t>: ["3,559"], </a:t>
            </a:r>
            <a:r>
              <a:rPr sz="980" b="1">
                <a:solidFill>
                  <a:srgbClr val="273A52"/>
                </a:solidFill>
                <a:latin typeface="Consolas"/>
                <a:ea typeface="맑은 고딕"/>
              </a:rPr>
              <a:t>"wrong_answers"</a:t>
            </a:r>
            <a:r>
              <a:rPr sz="980" b="0">
                <a:solidFill>
                  <a:srgbClr val="1E2227"/>
                </a:solidFill>
                <a:latin typeface="Consolas"/>
                <a:ea typeface="맑은 고딕"/>
              </a:rPr>
              <a:t>: ["10,000"] }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980" b="0">
                <a:solidFill>
                  <a:srgbClr val="6B7480"/>
                </a:solidFill>
                <a:latin typeface="Consolas"/>
                <a:ea typeface="맑은 고딕"/>
              </a:rPr>
              <a:t>※ 문항당 평균 5.53개 문서 (correct 3.84 · misinfo 0.61 · noise 1.08)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980" b="0">
                <a:solidFill>
                  <a:srgbClr val="6B7480"/>
                </a:solidFill>
                <a:latin typeface="Consolas"/>
                <a:ea typeface="맑은 고딕"/>
              </a:rPr>
              <a:t>※ 문서별 type·gold 라벨 내장 → 정답 문서 매핑 불필요</a:t>
            </a:r>
          </a:p>
        </p:txBody>
      </p:sp>
      <p:sp>
        <p:nvSpPr>
          <p:cNvPr id="8" name="Rectangle 7"/>
          <p:cNvSpPr/>
          <p:nvPr/>
        </p:nvSpPr>
        <p:spPr>
          <a:xfrm>
            <a:off x="6748272" y="1298448"/>
            <a:ext cx="4892040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748272" y="1331468"/>
            <a:ext cx="4892040" cy="21798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가공 방침</a:t>
            </a:r>
          </a:p>
          <a:p>
            <a:pPr algn="l">
              <a:lnSpc>
                <a:spcPct val="132000"/>
              </a:lnSpc>
              <a:spcAft>
                <a:spcPts val="450"/>
              </a:spcAft>
            </a:pPr>
            <a:r>
              <a:rPr sz="116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60" b="1">
                <a:solidFill>
                  <a:srgbClr val="1E2227"/>
                </a:solidFill>
                <a:latin typeface="맑은 고딕"/>
                <a:ea typeface="맑은 고딕"/>
              </a:rPr>
              <a:t>트레이스 문서 지지 추적만: </a:t>
            </a:r>
            <a:r>
              <a:rPr sz="1160" b="0">
                <a:solidFill>
                  <a:srgbClr val="1E2227"/>
                </a:solidFill>
                <a:latin typeface="맑은 고딕"/>
                <a:ea typeface="맑은 고딕"/>
              </a:rPr>
              <a:t>&lt;think&gt;가 정답/오답 문서 중 어느 쪽을 지지했는지 판정</a:t>
            </a:r>
          </a:p>
          <a:p>
            <a:pPr algn="l">
              <a:lnSpc>
                <a:spcPct val="132000"/>
              </a:lnSpc>
              <a:spcAft>
                <a:spcPts val="450"/>
              </a:spcAft>
            </a:pPr>
            <a:r>
              <a:rPr sz="116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60" b="1">
                <a:solidFill>
                  <a:srgbClr val="1E2227"/>
                </a:solidFill>
                <a:latin typeface="맑은 고딕"/>
                <a:ea typeface="맑은 고딕"/>
              </a:rPr>
              <a:t>any-gold 채점: </a:t>
            </a:r>
            <a:r>
              <a:rPr sz="1160" b="0">
                <a:solidFill>
                  <a:srgbClr val="1E2227"/>
                </a:solidFill>
                <a:latin typeface="맑은 고딕"/>
                <a:ea typeface="맑은 고딕"/>
              </a:rPr>
              <a:t>평균 2.2개 유효 정답 중 하나를 지지·표출하면 correct</a:t>
            </a:r>
          </a:p>
          <a:p>
            <a:pPr algn="l">
              <a:lnSpc>
                <a:spcPct val="132000"/>
              </a:lnSpc>
              <a:spcAft>
                <a:spcPts val="450"/>
              </a:spcAft>
            </a:pPr>
            <a:r>
              <a:rPr sz="116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60" b="1">
                <a:solidFill>
                  <a:srgbClr val="1E2227"/>
                </a:solidFill>
                <a:latin typeface="맑은 고딕"/>
                <a:ea typeface="맑은 고딕"/>
              </a:rPr>
              <a:t>한계: </a:t>
            </a:r>
            <a:r>
              <a:rPr sz="1160" b="0">
                <a:solidFill>
                  <a:srgbClr val="1E2227"/>
                </a:solidFill>
                <a:latin typeface="맑은 고딕"/>
                <a:ea typeface="맑은 고딕"/>
              </a:rPr>
              <a:t>합성 문서라 date·url 없음 → 해소가 다수결 신호 의존, ④ 프롬프트 적용 불가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703320"/>
            <a:ext cx="11091672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736340"/>
            <a:ext cx="11091672" cy="21158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치환 증강 트랙 — Longpre '21 프레임워크 (통제 전담)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20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200" b="1">
                <a:solidFill>
                  <a:srgbClr val="1E2227"/>
                </a:solidFill>
                <a:latin typeface="맑은 고딕"/>
                <a:ea typeface="맑은 고딕"/>
              </a:rPr>
              <a:t>파생 규칙: </a:t>
            </a:r>
            <a:r>
              <a:rPr sz="1200" b="0">
                <a:solidFill>
                  <a:srgbClr val="1E2227"/>
                </a:solidFill>
                <a:latin typeface="맑은 고딕"/>
                <a:ea typeface="맑은 고딕"/>
              </a:rPr>
              <a:t>비충돌 161건 중 사실형 문항에서 문서 2~3개의 정답 개체 치환(오정보형) · date 메타데이터 과거 조작 + 본문 시제 정합 검수(시간형)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20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200" b="1">
                <a:solidFill>
                  <a:srgbClr val="1E2227"/>
                </a:solidFill>
                <a:latin typeface="맑은 고딕"/>
                <a:ea typeface="맑은 고딕"/>
              </a:rPr>
              <a:t>원본↔변형 쌍 = within-item 매칭 대조</a:t>
            </a:r>
            <a:r>
              <a:rPr sz="1200" b="0">
                <a:solidFill>
                  <a:srgbClr val="1E2227"/>
                </a:solidFill>
                <a:latin typeface="맑은 고딕"/>
                <a:ea typeface="맑은 고딕"/>
              </a:rPr>
              <a:t> — RQ3에서 회귀 보정 없이 충돌 순효과 직접 추정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20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200" b="1">
                <a:solidFill>
                  <a:srgbClr val="1E2227"/>
                </a:solidFill>
                <a:latin typeface="맑은 고딕"/>
                <a:ea typeface="맑은 고딕"/>
              </a:rPr>
              <a:t>난이도 동등성 게이트: </a:t>
            </a:r>
            <a:r>
              <a:rPr sz="1200" b="0">
                <a:solidFill>
                  <a:srgbClr val="1E2227"/>
                </a:solidFill>
                <a:latin typeface="맑은 고딕"/>
                <a:ea typeface="맑은 고딕"/>
              </a:rPr>
              <a:t>자연 사실 충돌 67건과 Loss_L1(탐지율) 분포 비교, 현저히 쉬운 문항 폐기·재생성 후 통과분만 투입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040" b="0">
                <a:solidFill>
                  <a:srgbClr val="6B7480"/>
                </a:solidFill>
                <a:latin typeface="맑은 고딕"/>
                <a:ea typeface="맑은 고딕"/>
              </a:rPr>
              <a:t>역할: 통제 전담 — 자연 검정력은 QACC(§3.1.3)가 담당 · 치환 위치·개수는 통제 변수로 기록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016752"/>
            <a:ext cx="45720" cy="384048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" y="6016752"/>
            <a:ext cx="11045952" cy="384048"/>
          </a:xfrm>
          <a:prstGeom prst="rect">
            <a:avLst/>
          </a:prstGeom>
          <a:solidFill>
            <a:srgbClr val="ED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tIns="0" bIns="0"/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1">
                <a:solidFill>
                  <a:srgbClr val="273A52"/>
                </a:solidFill>
                <a:latin typeface="맑은 고딕"/>
                <a:ea typeface="맑은 고딕"/>
              </a:rPr>
              <a:t>핵심   </a:t>
            </a:r>
            <a:r>
              <a:rPr sz="1150" b="0">
                <a:solidFill>
                  <a:srgbClr val="1E2227"/>
                </a:solidFill>
                <a:latin typeface="맑은 고딕"/>
                <a:ea typeface="맑은 고딕"/>
              </a:rPr>
              <a:t>RAMDocs는 라벨 내장 오정보 볼륨과 misinfo↔noise 매칭을, </a:t>
            </a:r>
            <a:r>
              <a:rPr sz="1150" b="1">
                <a:solidFill>
                  <a:srgbClr val="1E2227"/>
                </a:solidFill>
                <a:latin typeface="맑은 고딕"/>
                <a:ea typeface="맑은 고딕"/>
              </a:rPr>
              <a:t>치환 증강은 within-item 통제를 담당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250" b="1">
                <a:solidFill>
                  <a:srgbClr val="6B7480"/>
                </a:solidFill>
                <a:latin typeface="맑은 고딕"/>
                <a:ea typeface="맑은 고딕"/>
              </a:rPr>
              <a:t>§3.1.3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QACC: 원본 구조와 스크리닝 게이트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950" b="0">
                <a:solidFill>
                  <a:srgbClr val="6B7480"/>
                </a:solidFill>
                <a:latin typeface="맑은 고딕"/>
                <a:ea typeface="맑은 고딕"/>
              </a:rPr>
              <a:t>§3 방법론 · 데이터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r>
              <a:rPr sz="950" b="0">
                <a:solidFill>
                  <a:srgbClr val="6B7480"/>
                </a:solidFill>
                <a:latin typeface="맑은 고딕"/>
                <a:ea typeface="맑은 고딕"/>
              </a:rP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98448"/>
            <a:ext cx="6309360" cy="2377440"/>
          </a:xfrm>
          <a:prstGeom prst="rect">
            <a:avLst/>
          </a:prstGeom>
          <a:solidFill>
            <a:srgbClr val="F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tIns="82296" bIns="64008"/>
          <a:lstStyle/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940" b="0">
                <a:solidFill>
                  <a:srgbClr val="1E2227"/>
                </a:solidFill>
                <a:latin typeface="Consolas"/>
                <a:ea typeface="맑은 고딕"/>
              </a:rPr>
              <a:t>{ </a:t>
            </a:r>
            <a:r>
              <a:rPr sz="940" b="1">
                <a:solidFill>
                  <a:srgbClr val="273A52"/>
                </a:solidFill>
                <a:latin typeface="Consolas"/>
                <a:ea typeface="맑은 고딕"/>
              </a:rPr>
              <a:t>"question"</a:t>
            </a:r>
            <a:r>
              <a:rPr sz="940" b="0">
                <a:solidFill>
                  <a:srgbClr val="1E2227"/>
                </a:solidFill>
                <a:latin typeface="Consolas"/>
                <a:ea typeface="맑은 고딕"/>
              </a:rPr>
              <a:t>: "Where did ... a bridge too far come from?",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940" b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940" b="1">
                <a:solidFill>
                  <a:srgbClr val="273A52"/>
                </a:solidFill>
                <a:latin typeface="Consolas"/>
                <a:ea typeface="맑은 고딕"/>
              </a:rPr>
              <a:t>"contexts"</a:t>
            </a:r>
            <a:r>
              <a:rPr sz="940" b="0">
                <a:solidFill>
                  <a:srgbClr val="1E2227"/>
                </a:solidFill>
                <a:latin typeface="Consolas"/>
                <a:ea typeface="맑은 고딕"/>
              </a:rPr>
              <a:t>: ["...", ...],</a:t>
            </a:r>
            <a:r>
              <a:rPr sz="940" b="0">
                <a:solidFill>
                  <a:srgbClr val="6B7480"/>
                </a:solidFill>
                <a:latin typeface="Consolas"/>
                <a:ea typeface="맑은 고딕"/>
              </a:rPr>
              <a:t>        // 구글 스니펫 10개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940" b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940" b="1">
                <a:solidFill>
                  <a:srgbClr val="273A52"/>
                </a:solidFill>
                <a:latin typeface="Consolas"/>
                <a:ea typeface="맑은 고딕"/>
              </a:rPr>
              <a:t>"sources"</a:t>
            </a:r>
            <a:r>
              <a:rPr sz="940" b="0">
                <a:solidFill>
                  <a:srgbClr val="1E2227"/>
                </a:solidFill>
                <a:latin typeface="Consolas"/>
                <a:ea typeface="맑은 고딕"/>
              </a:rPr>
              <a:t>: ["study.com", "wikipedia.org", ...],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940" b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940" b="1">
                <a:solidFill>
                  <a:srgbClr val="273A52"/>
                </a:solidFill>
                <a:latin typeface="Consolas"/>
                <a:ea typeface="맑은 고딕"/>
              </a:rPr>
              <a:t>"firstAnswer"</a:t>
            </a:r>
            <a:r>
              <a:rPr sz="940" b="0">
                <a:solidFill>
                  <a:srgbClr val="1E2227"/>
                </a:solidFill>
                <a:latin typeface="Consolas"/>
                <a:ea typeface="맑은 고딕"/>
              </a:rPr>
              <a:t>:  "Marget Garden",</a:t>
            </a:r>
            <a:r>
              <a:rPr sz="940" b="0">
                <a:solidFill>
                  <a:srgbClr val="1E2227"/>
                </a:solidFill>
                <a:latin typeface="Consolas"/>
                <a:ea typeface="맑은 고딕"/>
              </a:rPr>
              <a:t>           "firstContext":  "['A']",</a:t>
            </a:r>
            <a:r>
              <a:rPr sz="940" b="0">
                <a:solidFill>
                  <a:srgbClr val="6B7480"/>
                </a:solidFill>
                <a:latin typeface="Consolas"/>
                <a:ea typeface="맑은 고딕"/>
              </a:rPr>
              <a:t>  // 답변→문서 귀속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940" b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940" b="1">
                <a:solidFill>
                  <a:srgbClr val="273A52"/>
                </a:solidFill>
                <a:latin typeface="Consolas"/>
                <a:ea typeface="맑은 고딕"/>
              </a:rPr>
              <a:t>"secondAnswer"</a:t>
            </a:r>
            <a:r>
              <a:rPr sz="940" b="0">
                <a:solidFill>
                  <a:srgbClr val="1E2227"/>
                </a:solidFill>
                <a:latin typeface="Consolas"/>
                <a:ea typeface="맑은 고딕"/>
              </a:rPr>
              <a:t>: "Operation Market Garden",</a:t>
            </a:r>
            <a:r>
              <a:rPr sz="940" b="0">
                <a:solidFill>
                  <a:srgbClr val="1E2227"/>
                </a:solidFill>
                <a:latin typeface="Consolas"/>
                <a:ea typeface="맑은 고딕"/>
              </a:rPr>
              <a:t>  "secondContext": "['B']",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940" b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940" b="1">
                <a:solidFill>
                  <a:srgbClr val="273A52"/>
                </a:solidFill>
                <a:latin typeface="Consolas"/>
                <a:ea typeface="맑은 고딕"/>
              </a:rPr>
              <a:t>"correctAnswer"</a:t>
            </a:r>
            <a:r>
              <a:rPr sz="940" b="0">
                <a:solidFill>
                  <a:srgbClr val="1E2227"/>
                </a:solidFill>
                <a:latin typeface="Consolas"/>
                <a:ea typeface="맑은 고딕"/>
              </a:rPr>
              <a:t>: "Operation Market Garden",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940" b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940" b="1">
                <a:solidFill>
                  <a:srgbClr val="273A52"/>
                </a:solidFill>
                <a:latin typeface="Consolas"/>
                <a:ea typeface="맑은 고딕"/>
              </a:rPr>
              <a:t>"reasons"</a:t>
            </a:r>
            <a:r>
              <a:rPr sz="940" b="0">
                <a:solidFill>
                  <a:srgbClr val="1E2227"/>
                </a:solidFill>
                <a:latin typeface="Consolas"/>
                <a:ea typeface="맑은 고딕"/>
              </a:rPr>
              <a:t>: "['C']" }</a:t>
            </a:r>
            <a:r>
              <a:rPr sz="940" b="0">
                <a:solidFill>
                  <a:srgbClr val="6B7480"/>
                </a:solidFill>
                <a:latin typeface="Consolas"/>
                <a:ea typeface="맑은 고딕"/>
              </a:rPr>
              <a:t>     // 선택 사유: 다수결·출처·상식·최신성·기타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940" b="0">
                <a:solidFill>
                  <a:srgbClr val="6B7480"/>
                </a:solidFill>
                <a:latin typeface="Consolas"/>
                <a:ea typeface="맑은 고딕"/>
              </a:rPr>
              <a:t>※ 충돌 381/1,617 · 전건 correctAnswer 보유 · 답변-문서 귀속 주석 = 매핑 정보가 원본에 내장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940" b="0">
                <a:solidFill>
                  <a:srgbClr val="6B7480"/>
                </a:solidFill>
                <a:latin typeface="Consolas"/>
                <a:ea typeface="맑은 고딕"/>
              </a:rPr>
              <a:t>※ 예시처럼 오타(Marget)·granularity 차이가 '충돌'로 집계되기도 → sharp/soft 재분류 필요</a:t>
            </a:r>
          </a:p>
        </p:txBody>
      </p:sp>
      <p:sp>
        <p:nvSpPr>
          <p:cNvPr id="8" name="Rectangle 7"/>
          <p:cNvSpPr/>
          <p:nvPr/>
        </p:nvSpPr>
        <p:spPr>
          <a:xfrm>
            <a:off x="7022592" y="1298448"/>
            <a:ext cx="4617720" cy="33020"/>
          </a:xfrm>
          <a:prstGeom prst="rect">
            <a:avLst/>
          </a:prstGeom>
          <a:solidFill>
            <a:srgbClr val="1E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22592" y="1331468"/>
            <a:ext cx="4617720" cy="23444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특성과 주의점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14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40" b="1">
                <a:solidFill>
                  <a:srgbClr val="1E2227"/>
                </a:solidFill>
                <a:latin typeface="맑은 고딕"/>
                <a:ea typeface="맑은 고딕"/>
              </a:rPr>
              <a:t>동종 생태: </a:t>
            </a:r>
            <a:r>
              <a:rPr sz="1140" b="0">
                <a:solidFill>
                  <a:srgbClr val="1E2227"/>
                </a:solidFill>
                <a:latin typeface="맑은 고딕"/>
                <a:ea typeface="맑은 고딕"/>
              </a:rPr>
              <a:t>AmbigQA 비모호 질문 × 실제 구글 top-10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14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40" b="1">
                <a:solidFill>
                  <a:srgbClr val="1E2227"/>
                </a:solidFill>
                <a:latin typeface="맑은 고딕"/>
                <a:ea typeface="맑은 고딕"/>
              </a:rPr>
              <a:t>최신성 사유 48건</a:t>
            </a:r>
            <a:r>
              <a:rPr sz="1140" b="0">
                <a:solidFill>
                  <a:srgbClr val="1E2227"/>
                </a:solidFill>
                <a:latin typeface="맑은 고딕"/>
                <a:ea typeface="맑은 고딕"/>
              </a:rPr>
              <a:t> — 자연 시간 근거 보조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14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40" b="1">
                <a:solidFill>
                  <a:srgbClr val="1E2227"/>
                </a:solidFill>
                <a:latin typeface="맑은 고딕"/>
                <a:ea typeface="맑은 고딕"/>
              </a:rPr>
              <a:t>주의: </a:t>
            </a:r>
            <a:r>
              <a:rPr sz="1140" b="0">
                <a:solidFill>
                  <a:srgbClr val="1E2227"/>
                </a:solidFill>
                <a:latin typeface="맑은 고딕"/>
                <a:ea typeface="맑은 고딕"/>
              </a:rPr>
              <a:t>스니펫 중앙값 27단어 · 주석자 1인(전문가 대조 88%) · DRAGged 질문 47건 중복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040" b="0">
                <a:solidFill>
                  <a:srgbClr val="6B7480"/>
                </a:solidFill>
                <a:latin typeface="맑은 고딕"/>
                <a:ea typeface="맑은 고딕"/>
              </a:rPr>
              <a:t>역할: 자연 사실 충돌의 검정력 보강 (제3 데이터셋, 분리 보고)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40480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230" b="1">
                <a:solidFill>
                  <a:srgbClr val="1E2227"/>
                </a:solidFill>
                <a:latin typeface="맑은 고딕"/>
                <a:ea typeface="맑은 고딕"/>
              </a:rPr>
              <a:t>스크리닝 게이트 (사전등록) — 통과분만 채점 트랙 투입: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4169663"/>
          <a:ext cx="11091672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8988552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게이트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① sharp/soft 재분류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LLM 판정자 2종 + 인간 스팟체크로 진짜 사실 모순만 선별 — 보수 가정 수율 50%면 중복 제거 후 </a:t>
                      </a: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~167건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② 중복 제거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DRAGged 겹침 47건 제거 (판정 불일치 27건은 라벨 신뢰의 경계 사례로 보고)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③ 정답 재검증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주석자 1인 correctAnswer를 판정자·인간으로 재확인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④ 스니펫 통제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문서 길이를 공변량 기록 — 분리 보고 원칙 유지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548640" y="6016752"/>
            <a:ext cx="45720" cy="384048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" y="6016752"/>
            <a:ext cx="11045952" cy="384048"/>
          </a:xfrm>
          <a:prstGeom prst="rect">
            <a:avLst/>
          </a:prstGeom>
          <a:solidFill>
            <a:srgbClr val="ED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tIns="0" bIns="0"/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1">
                <a:solidFill>
                  <a:srgbClr val="273A52"/>
                </a:solidFill>
                <a:latin typeface="맑은 고딕"/>
                <a:ea typeface="맑은 고딕"/>
              </a:rPr>
              <a:t>핵심   </a:t>
            </a:r>
            <a:r>
              <a:rPr sz="1150" b="0">
                <a:solidFill>
                  <a:srgbClr val="1E2227"/>
                </a:solidFill>
                <a:latin typeface="맑은 고딕"/>
                <a:ea typeface="맑은 고딕"/>
              </a:rPr>
              <a:t>귀속 주석 덕에 매핑은 공짜지만 라벨 정의가 느슨함 — </a:t>
            </a:r>
            <a:r>
              <a:rPr sz="1150" b="1">
                <a:solidFill>
                  <a:srgbClr val="1E2227"/>
                </a:solidFill>
                <a:latin typeface="맑은 고딕"/>
                <a:ea typeface="맑은 고딕"/>
              </a:rPr>
              <a:t>게이트 4단계를 사전등록해 통과분만 사용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250" b="1">
                <a:solidFill>
                  <a:srgbClr val="6B7480"/>
                </a:solidFill>
                <a:latin typeface="맑은 고딕"/>
                <a:ea typeface="맑은 고딕"/>
              </a:rPr>
              <a:t>§3.1.4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검정력 계획: 지표별 유효 분모와 사전등록 규칙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950" b="0">
                <a:solidFill>
                  <a:srgbClr val="6B7480"/>
                </a:solidFill>
                <a:latin typeface="맑은 고딕"/>
                <a:ea typeface="맑은 고딕"/>
              </a:rPr>
              <a:t>§3 방법론 · 데이터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r>
              <a:rPr sz="950" b="0">
                <a:solidFill>
                  <a:srgbClr val="6B7480"/>
                </a:solidFill>
                <a:latin typeface="맑은 고딕"/>
                <a:ea typeface="맑은 고딕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61872"/>
            <a:ext cx="1109167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230" b="0">
                <a:solidFill>
                  <a:srgbClr val="6B7480"/>
                </a:solidFill>
                <a:latin typeface="맑은 고딕"/>
                <a:ea typeface="맑은 고딕"/>
              </a:rPr>
              <a:t>조건부 지표의 실제 분모는 명목 표본이 아니라 조건을 통과한 부분집합 — 지표별 유효 N을 사전 공개합니다 (가정값은 예비 실측으로 갱신)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645920"/>
          <a:ext cx="11091672" cy="28163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846320"/>
                <a:gridCol w="3959352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분모 조건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예상 유효 N (모델·환경당)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Loss_L1  (탐지)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전체 사실 충돌 — 매핑 불요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~67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Loss_L2  (해소)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채점 가능 ∧ L1=detected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~43   </a:t>
                      </a:r>
                      <a:r>
                        <a:rPr sz="1040" b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(하한 ~39)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AIR — DRAGged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채점 가능 ∧ L1=det ∧ L2=corr ∧ 비기권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~24</a:t>
                      </a:r>
                      <a:r>
                        <a:rPr sz="1040" b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  (하한 ~22) — 단독으론 얇음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AIR — QACC 트랙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게이트 통과 ∧ 동일 조건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~67</a:t>
                      </a:r>
                      <a:r>
                        <a:rPr sz="1040" b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  (통과분 ~167 기준)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LGR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baseline 오답 ∧ 완화 후 정답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실측 의존 — 한 자릿수 가능성 인지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자기일관성 트랙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명시적 상충 ∧ 확정 답변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~173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4572000"/>
            <a:ext cx="11091672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4605020"/>
            <a:ext cx="11091672" cy="12654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사전등록 규칙 4</a:t>
            </a:r>
          </a:p>
          <a:p>
            <a:pPr algn="l">
              <a:lnSpc>
                <a:spcPct val="132000"/>
              </a:lnSpc>
              <a:spcAft>
                <a:spcPts val="450"/>
              </a:spcAft>
            </a:pPr>
            <a:r>
              <a:rPr sz="118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80" b="1">
                <a:solidFill>
                  <a:srgbClr val="1E2227"/>
                </a:solidFill>
                <a:latin typeface="맑은 고딕"/>
                <a:ea typeface="맑은 고딕"/>
              </a:rPr>
              <a:t>N&lt;20 셀은 점추정·CI만 — 비교 주장 금지 </a:t>
            </a:r>
            <a:r>
              <a:rPr sz="1180" b="0">
                <a:solidFill>
                  <a:srgbClr val="1E2227"/>
                </a:solidFill>
                <a:latin typeface="맑은 고딕"/>
                <a:ea typeface="맑은 고딕"/>
              </a:rPr>
              <a:t>(언더파워 위에 결론을 얹지 않는 방어선)</a:t>
            </a:r>
          </a:p>
          <a:p>
            <a:pPr algn="l">
              <a:lnSpc>
                <a:spcPct val="132000"/>
              </a:lnSpc>
              <a:spcAft>
                <a:spcPts val="450"/>
              </a:spcAft>
            </a:pPr>
            <a:r>
              <a:rPr sz="118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80" b="0">
                <a:solidFill>
                  <a:srgbClr val="1E2227"/>
                </a:solidFill>
                <a:latin typeface="맑은 고딕"/>
                <a:ea typeface="맑은 고딕"/>
              </a:rPr>
              <a:t>비교 주장은 QACC·증강·RAMDocs 분모 위에서 — DRAGged 자연 표본은 방향 확인용</a:t>
            </a:r>
          </a:p>
          <a:p>
            <a:pPr algn="l">
              <a:lnSpc>
                <a:spcPct val="132000"/>
              </a:lnSpc>
              <a:spcAft>
                <a:spcPts val="450"/>
              </a:spcAft>
            </a:pPr>
            <a:r>
              <a:rPr sz="118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80" b="0">
                <a:solidFill>
                  <a:srgbClr val="1E2227"/>
                </a:solidFill>
                <a:latin typeface="맑은 고딕"/>
                <a:ea typeface="맑은 고딕"/>
              </a:rPr>
              <a:t>시드 반복은 문항 분산을 못 줄임 → 문항 부트스트랩 상시 병행    </a:t>
            </a:r>
            <a:r>
              <a:rPr sz="1180" b="1">
                <a:solidFill>
                  <a:srgbClr val="1E2227"/>
                </a:solidFill>
                <a:latin typeface="맑은 고딕"/>
                <a:ea typeface="맑은 고딕"/>
              </a:rPr>
              <a:t>④ LGR 분모&lt;20이면 pooled LGR로 대체 보고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016752"/>
            <a:ext cx="45720" cy="384048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6016752"/>
            <a:ext cx="11045952" cy="384048"/>
          </a:xfrm>
          <a:prstGeom prst="rect">
            <a:avLst/>
          </a:prstGeom>
          <a:solidFill>
            <a:srgbClr val="ED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tIns="0" bIns="0"/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1">
                <a:solidFill>
                  <a:srgbClr val="273A52"/>
                </a:solidFill>
                <a:latin typeface="맑은 고딕"/>
                <a:ea typeface="맑은 고딕"/>
              </a:rPr>
              <a:t>핵심   </a:t>
            </a:r>
            <a:r>
              <a:rPr sz="1150" b="0">
                <a:solidFill>
                  <a:srgbClr val="1E2227"/>
                </a:solidFill>
                <a:latin typeface="맑은 고딕"/>
                <a:ea typeface="맑은 고딕"/>
              </a:rPr>
              <a:t>"실험을 다 하고도 underpowered" 경로를 사전 차단 — </a:t>
            </a:r>
            <a:r>
              <a:rPr sz="1150" b="1">
                <a:solidFill>
                  <a:srgbClr val="1E2227"/>
                </a:solidFill>
                <a:latin typeface="맑은 고딕"/>
                <a:ea typeface="맑은 고딕"/>
              </a:rPr>
              <a:t>어느 셀에서 무엇을 주장할 수 있는지 실험 전에 확정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250" b="1">
                <a:solidFill>
                  <a:srgbClr val="6B7480"/>
                </a:solidFill>
                <a:latin typeface="맑은 고딕"/>
                <a:ea typeface="맑은 고딕"/>
              </a:rPr>
              <a:t>§3.2.1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다단계 진단 프로토콜: 3단계 궤적 라벨링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950" b="0">
                <a:solidFill>
                  <a:srgbClr val="6B7480"/>
                </a:solidFill>
                <a:latin typeface="맑은 고딕"/>
                <a:ea typeface="맑은 고딕"/>
              </a:rPr>
              <a:t>§3 방법론 · 진단 프로토콜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r>
              <a:rPr sz="950" b="0">
                <a:solidFill>
                  <a:srgbClr val="6B7480"/>
                </a:solidFill>
                <a:latin typeface="맑은 고딕"/>
                <a:ea typeface="맑은 고딕"/>
              </a:rPr>
              <a:t>17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25880"/>
            <a:ext cx="340156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358900"/>
            <a:ext cx="3401568" cy="17043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Level 1 · 탐지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문서 간 불일치를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감지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했는가?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{detected, unrecognized}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040" b="0">
                <a:solidFill>
                  <a:srgbClr val="6B7480"/>
                </a:solidFill>
                <a:latin typeface="맑은 고딕"/>
                <a:ea typeface="맑은 고딕"/>
              </a:rPr>
              <a:t>부가 축: 원인 유형(시간·오정보·관점)까지 짚었나 — 유형 인지율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05072" y="2048256"/>
            <a:ext cx="329184" cy="292608"/>
          </a:xfrm>
          <a:prstGeom prst="rightArrow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325880"/>
            <a:ext cx="340156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1358900"/>
            <a:ext cx="3401568" cy="17043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Level 2 · 해소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정답 지지 문서를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유효하다고 결론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지었는가?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{correct, wrong, unresolved}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040" b="0">
                <a:solidFill>
                  <a:srgbClr val="6B7480"/>
                </a:solidFill>
                <a:latin typeface="맑은 고딕"/>
                <a:ea typeface="맑은 고딕"/>
              </a:rPr>
              <a:t>시간→date 최신성, 오정보→출처 권위로 판정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45552" y="2048256"/>
            <a:ext cx="329184" cy="292608"/>
          </a:xfrm>
          <a:prstGeom prst="rightArrow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1325880"/>
            <a:ext cx="340156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0" y="1358900"/>
            <a:ext cx="3401568" cy="17043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Final Action · 표출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최종 답변에서 정답을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표출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했는가? (동치 판정 정확도)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{correct, wrong, abstain}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040" b="0">
                <a:solidFill>
                  <a:srgbClr val="6B7480"/>
                </a:solidFill>
                <a:latin typeface="맑은 고딕"/>
                <a:ea typeface="맑은 고딕"/>
              </a:rPr>
              <a:t>이 순서는 규범 경로일 뿐 — 벗어난 경우가 특이 경로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310128"/>
            <a:ext cx="11091672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343148"/>
            <a:ext cx="11091672" cy="24175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라벨링을 지키는 세 가지 사전등록 규칙</a:t>
            </a:r>
          </a:p>
          <a:p>
            <a:pPr algn="l">
              <a:lnSpc>
                <a:spcPct val="148000"/>
              </a:lnSpc>
              <a:spcAft>
                <a:spcPts val="450"/>
              </a:spcAft>
            </a:pPr>
            <a:r>
              <a:rPr sz="122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220" b="1">
                <a:solidFill>
                  <a:srgbClr val="1E2227"/>
                </a:solidFill>
                <a:latin typeface="맑은 고딕"/>
                <a:ea typeface="맑은 고딕"/>
              </a:rPr>
              <a:t>결론 확정 규칙:  </a:t>
            </a:r>
            <a:r>
              <a:rPr sz="1220" b="0">
                <a:solidFill>
                  <a:srgbClr val="1E2227"/>
                </a:solidFill>
                <a:latin typeface="맑은 고딕"/>
                <a:ea typeface="맑은 고딕"/>
              </a:rPr>
              <a:t>트레이스는 수천 토큰에서 흔들림 → L2 결론은 '마지막 명시적 문서 지지'로 확정, 없으면 unresolved — AIR과 Shortcut의 경계가 판정자마다 흔들리는 것을 차단</a:t>
            </a:r>
          </a:p>
          <a:p>
            <a:pPr algn="l">
              <a:lnSpc>
                <a:spcPct val="148000"/>
              </a:lnSpc>
              <a:spcAft>
                <a:spcPts val="450"/>
              </a:spcAft>
            </a:pPr>
            <a:r>
              <a:rPr sz="122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220" b="1">
                <a:solidFill>
                  <a:srgbClr val="1E2227"/>
                </a:solidFill>
                <a:latin typeface="맑은 고딕"/>
                <a:ea typeface="맑은 고딕"/>
              </a:rPr>
              <a:t>기권 분리:  </a:t>
            </a:r>
            <a:r>
              <a:rPr sz="1220" b="0">
                <a:solidFill>
                  <a:srgbClr val="1E2227"/>
                </a:solidFill>
                <a:latin typeface="맑은 고딕"/>
                <a:ea typeface="맑은 고딕"/>
              </a:rPr>
              <a:t>abstain은 오답과 분리해 AIR 분모에서 제외 + 환경 간 기권율 의무 보고 — 완화가 기권 유도로 AIR을 '착시 개선'하는 경로 차단</a:t>
            </a:r>
          </a:p>
          <a:p>
            <a:pPr algn="l">
              <a:lnSpc>
                <a:spcPct val="148000"/>
              </a:lnSpc>
              <a:spcAft>
                <a:spcPts val="450"/>
              </a:spcAft>
            </a:pPr>
            <a:r>
              <a:rPr sz="122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220" b="1">
                <a:solidFill>
                  <a:srgbClr val="1E2227"/>
                </a:solidFill>
                <a:latin typeface="맑은 고딕"/>
                <a:ea typeface="맑은 고딕"/>
              </a:rPr>
              <a:t>동치 채점:  </a:t>
            </a:r>
            <a:r>
              <a:rPr sz="1220" b="0">
                <a:solidFill>
                  <a:srgbClr val="1E2227"/>
                </a:solidFill>
                <a:latin typeface="맑은 고딕"/>
                <a:ea typeface="맑은 고딕"/>
              </a:rPr>
              <a:t>정규화·동치 판정 기반 정확도(엄밀 문자열 일치 아님) — 표기 노이즈가 AIR로 새는 것 방지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016752"/>
            <a:ext cx="45720" cy="384048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" y="6016752"/>
            <a:ext cx="11045952" cy="384048"/>
          </a:xfrm>
          <a:prstGeom prst="rect">
            <a:avLst/>
          </a:prstGeom>
          <a:solidFill>
            <a:srgbClr val="ED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tIns="0" bIns="0"/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1">
                <a:solidFill>
                  <a:srgbClr val="273A52"/>
                </a:solidFill>
                <a:latin typeface="맑은 고딕"/>
                <a:ea typeface="맑은 고딕"/>
              </a:rPr>
              <a:t>핵심   </a:t>
            </a:r>
            <a:r>
              <a:rPr sz="1150" b="0">
                <a:solidFill>
                  <a:srgbClr val="1E2227"/>
                </a:solidFill>
                <a:latin typeface="맑은 고딕"/>
                <a:ea typeface="맑은 고딕"/>
              </a:rPr>
              <a:t>한 번의 3단계 라벨링이 모든 지표의 원천 — </a:t>
            </a:r>
            <a:r>
              <a:rPr sz="1150" b="1">
                <a:solidFill>
                  <a:srgbClr val="1E2227"/>
                </a:solidFill>
                <a:latin typeface="맑은 고딕"/>
                <a:ea typeface="맑은 고딕"/>
              </a:rPr>
              <a:t>규칙을 사전에 못 박아 판정자 재량을 제거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250" b="1">
                <a:solidFill>
                  <a:srgbClr val="6B7480"/>
                </a:solidFill>
                <a:latin typeface="맑은 고딕"/>
                <a:ea typeface="맑은 고딕"/>
              </a:rPr>
              <a:t>§3.2.2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진단 지표 체계: 단계별 손실 지표와 4경로 분해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950" b="0">
                <a:solidFill>
                  <a:srgbClr val="6B7480"/>
                </a:solidFill>
                <a:latin typeface="맑은 고딕"/>
                <a:ea typeface="맑은 고딕"/>
              </a:rPr>
              <a:t>§3 방법론 · 진단 프로토콜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r>
              <a:rPr sz="950" b="0">
                <a:solidFill>
                  <a:srgbClr val="6B7480"/>
                </a:solidFill>
                <a:latin typeface="맑은 고딕"/>
                <a:ea typeface="맑은 고딕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61872"/>
            <a:ext cx="1109167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230" b="0">
                <a:solidFill>
                  <a:srgbClr val="6B7480"/>
                </a:solidFill>
                <a:latin typeface="맑은 고딕"/>
                <a:ea typeface="맑은 고딕"/>
              </a:rPr>
              <a:t>L1·L2 라벨이 정답을 상호배타·전수 분해 — 완화가 EM을 올렸을 때 "늘어난 정답이 어느 경로에서 왔는지"를 가려내는 기반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664208"/>
          <a:ext cx="11091672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1371600"/>
                <a:gridCol w="1371600"/>
                <a:gridCol w="5513832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경로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L1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L2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해석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정상 (Legitimate)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detected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correct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인지·해소를 제대로 거친 </a:t>
                      </a:r>
                      <a:r>
                        <a:rPr sz="1120" b="1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견고한 정답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Shortcut (암묵적 도약)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detected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unresolved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명시적 해소 없이 도약 — </a:t>
                      </a:r>
                      <a:r>
                        <a:rPr sz="1120" b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근거 약한 취약 정답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Discordant Hit (불협 적중)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detected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wrong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오답 문서를 지지해 놓고 정답 표출 — </a:t>
                      </a: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AIR의 역방향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Blind-Hit (맹목 적중)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unrecognized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충돌 인지조차 없이 도달 — </a:t>
                      </a:r>
                      <a:r>
                        <a:rPr sz="1120" b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파라메트릭·우연</a:t>
                      </a:r>
                      <a:r>
                        <a:rPr sz="1040" b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  (파일럿서 29% 실재)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4041648"/>
            <a:ext cx="11091672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0" bIns="0"/>
          <a:lstStyle/>
          <a:p>
            <a:pPr algn="ctr">
              <a:lnSpc>
                <a:spcPct val="122000"/>
              </a:lnSpc>
              <a:spcAft>
                <a:spcPts val="0"/>
              </a:spcAft>
            </a:pPr>
            <a:r>
              <a:rPr sz="1100" b="1">
                <a:solidFill>
                  <a:srgbClr val="6B7480"/>
                </a:solidFill>
                <a:latin typeface="맑은 고딕"/>
                <a:ea typeface="맑은 고딕"/>
              </a:rPr>
              <a:t>핵심 지표    </a:t>
            </a:r>
            <a:r>
              <a:rPr sz="1600" b="1">
                <a:solidFill>
                  <a:srgbClr val="273A52"/>
                </a:solidFill>
                <a:latin typeface="Cambria Math"/>
                <a:ea typeface="맑은 고딕"/>
              </a:rPr>
              <a:t>AIR</a:t>
            </a:r>
            <a:r>
              <a:rPr sz="1500" b="0">
                <a:solidFill>
                  <a:srgbClr val="1E2227"/>
                </a:solidFill>
                <a:latin typeface="Cambria Math"/>
                <a:ea typeface="맑은 고딕"/>
              </a:rPr>
              <a:t>  =  P( FA = wrong  |  L1 = detected,  L2 = correct )</a:t>
            </a:r>
            <a:r>
              <a:rPr sz="1100" b="0">
                <a:solidFill>
                  <a:srgbClr val="6B7480"/>
                </a:solidFill>
                <a:latin typeface="맑은 고딕"/>
                <a:ea typeface="맑은 고딕"/>
              </a:rPr>
              <a:t>      — 올바른 해소 후 답변에서 유실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681728"/>
            <a:ext cx="545896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4714748"/>
            <a:ext cx="5458968" cy="11922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단계별 손실 지표  (오답의 분해)</a:t>
            </a: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sz="1250" b="1">
                <a:solidFill>
                  <a:srgbClr val="273A52"/>
                </a:solidFill>
                <a:latin typeface="Cambria Math"/>
                <a:ea typeface="맑은 고딕"/>
              </a:rPr>
              <a:t>Loss_L1</a:t>
            </a:r>
            <a:r>
              <a:rPr sz="1200" b="0">
                <a:solidFill>
                  <a:srgbClr val="1E2227"/>
                </a:solidFill>
                <a:latin typeface="Cambria Math"/>
                <a:ea typeface="맑은 고딕"/>
              </a:rPr>
              <a:t> = P( L1 = unrecognized )</a:t>
            </a:r>
            <a:r>
              <a:rPr sz="1200" b="0">
                <a:solidFill>
                  <a:srgbClr val="6B7480"/>
                </a:solidFill>
                <a:latin typeface="맑은 고딕"/>
                <a:ea typeface="맑은 고딕"/>
              </a:rPr>
              <a:t>    ·    </a:t>
            </a:r>
            <a:r>
              <a:rPr sz="1250" b="1">
                <a:solidFill>
                  <a:srgbClr val="273A52"/>
                </a:solidFill>
                <a:latin typeface="Cambria Math"/>
                <a:ea typeface="맑은 고딕"/>
              </a:rPr>
              <a:t>Loss_L2</a:t>
            </a:r>
            <a:r>
              <a:rPr sz="1200" b="0">
                <a:solidFill>
                  <a:srgbClr val="1E2227"/>
                </a:solidFill>
                <a:latin typeface="Cambria Math"/>
                <a:ea typeface="맑은 고딕"/>
              </a:rPr>
              <a:t> = P( L2 ≠ correct | L1 = det )</a:t>
            </a: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sz="1040" b="0">
                <a:solidFill>
                  <a:srgbClr val="6B7480"/>
                </a:solidFill>
                <a:latin typeface="맑은 고딕"/>
                <a:ea typeface="맑은 고딕"/>
              </a:rPr>
              <a:t>결합확률 P(L2 = corr ∧ FA = wrong)과 분모 N 병기 — 조건부 분모 차이가 비교를 오도하지 않게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1344" y="4681728"/>
            <a:ext cx="545896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81344" y="4714748"/>
            <a:ext cx="5458968" cy="11922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이중 트랙  (정답 유무로 분리)</a:t>
            </a: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sz="116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60" b="1">
                <a:solidFill>
                  <a:srgbClr val="1E2227"/>
                </a:solidFill>
                <a:latin typeface="맑은 고딕"/>
                <a:ea typeface="맑은 고딕"/>
              </a:rPr>
              <a:t>정답 결부</a:t>
            </a:r>
            <a:r>
              <a:rPr sz="1160" b="0">
                <a:solidFill>
                  <a:srgbClr val="1E2227"/>
                </a:solidFill>
                <a:latin typeface="맑은 고딕"/>
                <a:ea typeface="맑은 고딕"/>
              </a:rPr>
              <a:t> → 사실 충돌(채점 56~61) + QACC   ·   </a:t>
            </a:r>
            <a:r>
              <a:rPr sz="1160" b="1">
                <a:solidFill>
                  <a:srgbClr val="1E2227"/>
                </a:solidFill>
                <a:latin typeface="맑은 고딕"/>
                <a:ea typeface="맑은 고딕"/>
              </a:rPr>
              <a:t>자기일관성만</a:t>
            </a:r>
            <a:r>
              <a:rPr sz="1160" b="0">
                <a:solidFill>
                  <a:srgbClr val="1E2227"/>
                </a:solidFill>
                <a:latin typeface="맑은 고딕"/>
                <a:ea typeface="맑은 고딕"/>
              </a:rPr>
              <a:t> → 명시적 상충 182</a:t>
            </a: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sz="116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60" b="1">
                <a:solidFill>
                  <a:srgbClr val="1E2227"/>
                </a:solidFill>
                <a:latin typeface="맑은 고딕"/>
                <a:ea typeface="맑은 고딕"/>
              </a:rPr>
              <a:t>hedge 3분류</a:t>
            </a:r>
            <a:r>
              <a:rPr sz="1160" b="0">
                <a:solidFill>
                  <a:srgbClr val="1E2227"/>
                </a:solidFill>
                <a:latin typeface="맑은 고딕"/>
                <a:ea typeface="맑은 고딕"/>
              </a:rPr>
              <a:t> {유지·뒤집음·균형 병기} — 정당한 병기의 오분류 방지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016752"/>
            <a:ext cx="45720" cy="384048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" y="6016752"/>
            <a:ext cx="11045952" cy="384048"/>
          </a:xfrm>
          <a:prstGeom prst="rect">
            <a:avLst/>
          </a:prstGeom>
          <a:solidFill>
            <a:srgbClr val="ED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tIns="0" bIns="0"/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1">
                <a:solidFill>
                  <a:srgbClr val="273A52"/>
                </a:solidFill>
                <a:latin typeface="맑은 고딕"/>
                <a:ea typeface="맑은 고딕"/>
              </a:rPr>
              <a:t>핵심   </a:t>
            </a:r>
            <a:r>
              <a:rPr sz="1150" b="0">
                <a:solidFill>
                  <a:srgbClr val="1E2227"/>
                </a:solidFill>
                <a:latin typeface="맑은 고딕"/>
                <a:ea typeface="맑은 고딕"/>
              </a:rPr>
              <a:t>EM 1점짜리 정답들이 사실은 네 종류 — </a:t>
            </a:r>
            <a:r>
              <a:rPr sz="1150" b="1">
                <a:solidFill>
                  <a:srgbClr val="1E2227"/>
                </a:solidFill>
                <a:latin typeface="맑은 고딕"/>
                <a:ea typeface="맑은 고딕"/>
              </a:rPr>
              <a:t>이 분해가 완화 회계(실험 1)의 회계 장부가 됨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250" b="1">
                <a:solidFill>
                  <a:srgbClr val="6B7480"/>
                </a:solidFill>
                <a:latin typeface="맑은 고딕"/>
                <a:ea typeface="맑은 고딕"/>
              </a:rPr>
              <a:t>§3.2 · 부록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라벨 타당성 검증 프로토콜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950" b="0">
                <a:solidFill>
                  <a:srgbClr val="6B7480"/>
                </a:solidFill>
                <a:latin typeface="맑은 고딕"/>
                <a:ea typeface="맑은 고딕"/>
              </a:rPr>
              <a:t>§3 방법론 · 라벨 타당성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r>
              <a:rPr sz="950" b="0">
                <a:solidFill>
                  <a:srgbClr val="6B7480"/>
                </a:solidFill>
                <a:latin typeface="맑은 고딕"/>
                <a:ea typeface="맑은 고딕"/>
              </a:rPr>
              <a:t>19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04620"/>
            <a:ext cx="3584448" cy="29845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① 판정자 편향 통제</a:t>
            </a: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sz="118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80" b="1">
                <a:solidFill>
                  <a:srgbClr val="1E2227"/>
                </a:solidFill>
                <a:latin typeface="맑은 고딕"/>
                <a:ea typeface="맑은 고딕"/>
              </a:rPr>
              <a:t>대상 모델과 다른 계열</a:t>
            </a:r>
            <a:r>
              <a:rPr sz="1180" b="0">
                <a:solidFill>
                  <a:srgbClr val="1E2227"/>
                </a:solidFill>
                <a:latin typeface="맑은 고딕"/>
                <a:ea typeface="맑은 고딕"/>
              </a:rPr>
              <a:t>의 판정자만 (자기선호 차단)</a:t>
            </a: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sz="118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80" b="1">
                <a:solidFill>
                  <a:srgbClr val="1E2227"/>
                </a:solidFill>
                <a:latin typeface="맑은 고딕"/>
                <a:ea typeface="맑은 고딕"/>
              </a:rPr>
              <a:t>오픈 1종 + 상용 1종 병행</a:t>
            </a:r>
            <a:r>
              <a:rPr sz="1180" b="0">
                <a:solidFill>
                  <a:srgbClr val="1E2227"/>
                </a:solidFill>
                <a:latin typeface="맑은 고딕"/>
                <a:ea typeface="맑은 고딕"/>
              </a:rPr>
              <a:t> — 재현성·품질 동시 확보</a:t>
            </a: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sz="118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80" b="0">
                <a:solidFill>
                  <a:srgbClr val="1E2227"/>
                </a:solidFill>
                <a:latin typeface="맑은 고딕"/>
                <a:ea typeface="맑은 고딕"/>
              </a:rPr>
              <a:t>옵션 무작위 스왑 · 형식-채움(G-Eval)</a:t>
            </a: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sz="1040" b="0">
                <a:solidFill>
                  <a:srgbClr val="6B7480"/>
                </a:solidFill>
                <a:latin typeface="맑은 고딕"/>
                <a:ea typeface="맑은 고딕"/>
              </a:rPr>
              <a:t>판정 과제는 '충돌 해소'가 아니라 '입장 독해' — 골드 매핑이 정답 문서를 제공하므로 난이도가 낮음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371600"/>
            <a:ext cx="3584448" cy="33020"/>
          </a:xfrm>
          <a:prstGeom prst="rect">
            <a:avLst/>
          </a:prstGeom>
          <a:solidFill>
            <a:srgbClr val="1E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97680" y="1404620"/>
            <a:ext cx="3584448" cy="29845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② 인간 검증 — 셀 우선 설계</a:t>
            </a: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sz="118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80" b="1">
                <a:solidFill>
                  <a:srgbClr val="1E2227"/>
                </a:solidFill>
                <a:latin typeface="맑은 고딕"/>
                <a:ea typeface="맑은 고딕"/>
              </a:rPr>
              <a:t>AIR·Discordant Hit 양성 전수 검증</a:t>
            </a:r>
            <a:r>
              <a:rPr sz="1180" b="0">
                <a:solidFill>
                  <a:srgbClr val="1E2227"/>
                </a:solidFill>
                <a:latin typeface="맑은 고딕"/>
                <a:ea typeface="맑은 고딕"/>
              </a:rPr>
              <a:t> — 주장이 걸린 셀은 작아서 전수 가능</a:t>
            </a: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sz="118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80" b="0">
                <a:solidFill>
                  <a:srgbClr val="1E2227"/>
                </a:solidFill>
                <a:latin typeface="맑은 고딕"/>
                <a:ea typeface="맑은 고딕"/>
              </a:rPr>
              <a:t>나머지 층화 표본 — 합계 약 200건, 2인 κ</a:t>
            </a: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sz="118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80" b="1">
                <a:solidFill>
                  <a:srgbClr val="1E2227"/>
                </a:solidFill>
                <a:latin typeface="맑은 고딕"/>
                <a:ea typeface="맑은 고딕"/>
              </a:rPr>
              <a:t>κ &lt; 0.7이면 라벨 정의 수정 후 재라벨링</a:t>
            </a:r>
            <a:r>
              <a:rPr sz="1180" b="0">
                <a:solidFill>
                  <a:srgbClr val="1E2227"/>
                </a:solidFill>
                <a:latin typeface="맑은 고딕"/>
                <a:ea typeface="맑은 고딕"/>
              </a:rPr>
              <a:t> · 판정 불일치는 인간 adjudication</a:t>
            </a: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sz="1040" b="0">
                <a:solidFill>
                  <a:srgbClr val="6B7480"/>
                </a:solidFill>
                <a:latin typeface="맑은 고딕"/>
                <a:ea typeface="맑은 고딕"/>
              </a:rPr>
              <a:t>검증 강도가 주장 하중에 비례하는 설계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371600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04620"/>
            <a:ext cx="3584448" cy="29845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③ 언어화 갭 — '안 적음 ≠ 못 함'</a:t>
            </a: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sz="118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80" b="1">
                <a:solidFill>
                  <a:srgbClr val="1E2227"/>
                </a:solidFill>
                <a:latin typeface="맑은 고딕"/>
                <a:ea typeface="맑은 고딕"/>
              </a:rPr>
              <a:t>유도 프로브</a:t>
            </a:r>
            <a:r>
              <a:rPr sz="1180" b="0">
                <a:solidFill>
                  <a:srgbClr val="1E2227"/>
                </a:solidFill>
                <a:latin typeface="맑은 고딕"/>
                <a:ea typeface="맑은 고딕"/>
              </a:rPr>
              <a:t>로 침묵과 무능 분리 (행동 지표에 불합산)</a:t>
            </a: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sz="118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80" b="0">
                <a:solidFill>
                  <a:srgbClr val="1E2227"/>
                </a:solidFill>
                <a:latin typeface="맑은 고딕"/>
                <a:ea typeface="맑은 고딕"/>
              </a:rPr>
              <a:t>암묵 leaning 인정 · 다중 시드 빈도 보강</a:t>
            </a: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sz="1180" b="1">
                <a:solidFill>
                  <a:srgbClr val="1E2227"/>
                </a:solidFill>
                <a:latin typeface="맑은 고딕"/>
                <a:ea typeface="맑은 고딕"/>
              </a:rPr>
              <a:t>AIR은 존재 조건(L2=correct 기록) 위 정의</a:t>
            </a:r>
            <a:r>
              <a:rPr sz="1180" b="0">
                <a:solidFill>
                  <a:srgbClr val="1E2227"/>
                </a:solidFill>
                <a:latin typeface="맑은 고딕"/>
                <a:ea typeface="맑은 고딕"/>
              </a:rPr>
              <a:t> → 이 갭에 구조적으로 강건</a:t>
            </a: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sz="1040" b="0">
                <a:solidFill>
                  <a:srgbClr val="6B7480"/>
                </a:solidFill>
                <a:latin typeface="맑은 고딕"/>
                <a:ea typeface="맑은 고딕"/>
              </a:rPr>
              <a:t>부재 조건 지표는 '언어화된 실패율'로 정직하게 명명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709160"/>
            <a:ext cx="1109167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450"/>
              </a:spcAft>
            </a:pPr>
            <a:r>
              <a:rPr sz="1180" b="1">
                <a:solidFill>
                  <a:srgbClr val="273A52"/>
                </a:solidFill>
                <a:latin typeface="맑은 고딕"/>
                <a:ea typeface="맑은 고딕"/>
              </a:rPr>
              <a:t>이 3층이 답하는 질문   </a:t>
            </a:r>
            <a:r>
              <a:rPr sz="1180" b="0">
                <a:solidFill>
                  <a:srgbClr val="1E2227"/>
                </a:solidFill>
                <a:latin typeface="맑은 고딕"/>
                <a:ea typeface="맑은 고딕"/>
              </a:rPr>
              <a:t>"LLM 판정자를 어떻게 믿나"(①) · "드문 핵심 셀의 라벨이 틀렸다면"(②) · "트레이스에 안 적혔다고 못 한 것인가"(③) — 리뷰에서 가장 먼저 나올 세 공격에 대한 사전 답변입니다.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016752"/>
            <a:ext cx="45720" cy="384048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" y="6016752"/>
            <a:ext cx="11045952" cy="384048"/>
          </a:xfrm>
          <a:prstGeom prst="rect">
            <a:avLst/>
          </a:prstGeom>
          <a:solidFill>
            <a:srgbClr val="ED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tIns="0" bIns="0"/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1">
                <a:solidFill>
                  <a:srgbClr val="273A52"/>
                </a:solidFill>
                <a:latin typeface="맑은 고딕"/>
                <a:ea typeface="맑은 고딕"/>
              </a:rPr>
              <a:t>핵심   </a:t>
            </a:r>
            <a:r>
              <a:rPr sz="1150" b="1">
                <a:solidFill>
                  <a:srgbClr val="1E2227"/>
                </a:solidFill>
                <a:latin typeface="맑은 고딕"/>
                <a:ea typeface="맑은 고딕"/>
              </a:rPr>
              <a:t>가장 주관적인 라벨(L2)에 가장 강한 검증(전수+κ0.7+재라벨 루프)을 배치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250" b="1">
                <a:solidFill>
                  <a:srgbClr val="6B7480"/>
                </a:solidFill>
                <a:latin typeface="맑은 고딕"/>
                <a:ea typeface="맑은 고딕"/>
              </a:rPr>
              <a:t>§3.3.1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실험 공통 설정: 대상 모델과 생성·심사 프로토콜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950" b="0">
                <a:solidFill>
                  <a:srgbClr val="6B7480"/>
                </a:solidFill>
                <a:latin typeface="맑은 고딕"/>
                <a:ea typeface="맑은 고딕"/>
              </a:rPr>
              <a:t>§3 방법론 · 실험 설계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r>
              <a:rPr sz="950" b="0">
                <a:solidFill>
                  <a:srgbClr val="6B7480"/>
                </a:solidFill>
                <a:latin typeface="맑은 고딕"/>
                <a:ea typeface="맑은 고딕"/>
              </a:rPr>
              <a:t>20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91672" cy="2139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554480"/>
                <a:gridCol w="1280160"/>
                <a:gridCol w="5971032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모델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구조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사고 채널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 · 선정 근거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Qwen3.6-27B</a:t>
                      </a:r>
                    </a:p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040" b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2026-04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27B Dense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&lt;think&gt;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주력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— 최신 밀집 추론 모델 · </a:t>
                      </a:r>
                      <a:r>
                        <a:rPr sz="1120" b="1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thinking on/off 하드 토글 확인 완료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Olmo-3.1-32B-Think</a:t>
                      </a:r>
                    </a:p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040" b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2025-12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32B Dense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&lt;think&gt;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완전 개방 대조군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— 가중치·데이터·로그 전체 공개 · </a:t>
                      </a:r>
                      <a:r>
                        <a:rPr sz="1120" b="1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동일 베이스 Instruct 형제 확인 완료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gpt-oss-20b</a:t>
                      </a:r>
                    </a:p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040" b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2025-08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MoE 21B</a:t>
                      </a:r>
                      <a:r>
                        <a:rPr sz="1040" b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 (활성 3.6B)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Harmony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교차 계열·MoE 검증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— 전용 파서로 동일 프로토콜 (파싱 상이는 교란 변인 명시)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4069080"/>
            <a:ext cx="545896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4102100"/>
            <a:ext cx="5458968" cy="17043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선정 원칙</a:t>
            </a:r>
          </a:p>
          <a:p>
            <a:pPr algn="l">
              <a:lnSpc>
                <a:spcPct val="138000"/>
              </a:lnSpc>
              <a:spcAft>
                <a:spcPts val="450"/>
              </a:spcAft>
            </a:pPr>
            <a:r>
              <a:rPr sz="120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200" b="1">
                <a:solidFill>
                  <a:srgbClr val="1E2227"/>
                </a:solidFill>
                <a:latin typeface="맑은 고딕"/>
                <a:ea typeface="맑은 고딕"/>
              </a:rPr>
              <a:t>네이티브 추론 모델만</a:t>
            </a:r>
            <a:r>
              <a:rPr sz="1200" b="0">
                <a:solidFill>
                  <a:srgbClr val="1E2227"/>
                </a:solidFill>
                <a:latin typeface="맑은 고딕"/>
                <a:ea typeface="맑은 고딕"/>
              </a:rPr>
              <a:t> — SFT 증류는 장식적 트레이스 위험으로 배제</a:t>
            </a:r>
          </a:p>
          <a:p>
            <a:pPr algn="l">
              <a:lnSpc>
                <a:spcPct val="138000"/>
              </a:lnSpc>
              <a:spcAft>
                <a:spcPts val="450"/>
              </a:spcAft>
            </a:pPr>
            <a:r>
              <a:rPr sz="120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200" b="1">
                <a:solidFill>
                  <a:srgbClr val="1E2227"/>
                </a:solidFill>
                <a:latin typeface="맑은 고딕"/>
                <a:ea typeface="맑은 고딕"/>
              </a:rPr>
              <a:t>20~32B 오픈 가중치</a:t>
            </a:r>
            <a:r>
              <a:rPr sz="1200" b="0">
                <a:solidFill>
                  <a:srgbClr val="1E2227"/>
                </a:solidFill>
                <a:latin typeface="맑은 고딕"/>
                <a:ea typeface="맑은 고딕"/>
              </a:rPr>
              <a:t> — bf16 비양자화 구동으로 로짓·궤적 왜곡 방지</a:t>
            </a:r>
          </a:p>
          <a:p>
            <a:pPr algn="l">
              <a:lnSpc>
                <a:spcPct val="138000"/>
              </a:lnSpc>
              <a:spcAft>
                <a:spcPts val="450"/>
              </a:spcAft>
            </a:pPr>
            <a:r>
              <a:rPr sz="120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200" b="1">
                <a:solidFill>
                  <a:srgbClr val="1E2227"/>
                </a:solidFill>
                <a:latin typeface="맑은 고딕"/>
                <a:ea typeface="맑은 고딕"/>
              </a:rPr>
              <a:t>3계열 교차</a:t>
            </a:r>
            <a:r>
              <a:rPr sz="1200" b="0">
                <a:solidFill>
                  <a:srgbClr val="1E2227"/>
                </a:solidFill>
                <a:latin typeface="맑은 고딕"/>
                <a:ea typeface="맑은 고딕"/>
              </a:rPr>
              <a:t> — 계열 특이 현상과 일반 현상 구분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1344" y="4069080"/>
            <a:ext cx="545896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344" y="4102100"/>
            <a:ext cx="5458968" cy="17043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생성·심사 프로토콜</a:t>
            </a:r>
          </a:p>
          <a:p>
            <a:pPr algn="l">
              <a:lnSpc>
                <a:spcPct val="138000"/>
              </a:lnSpc>
              <a:spcAft>
                <a:spcPts val="450"/>
              </a:spcAft>
            </a:pPr>
            <a:r>
              <a:rPr sz="120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200" b="1">
                <a:solidFill>
                  <a:srgbClr val="1E2227"/>
                </a:solidFill>
                <a:latin typeface="맑은 고딕"/>
                <a:ea typeface="맑은 고딕"/>
              </a:rPr>
              <a:t>권장 디코딩(t=0.6, top-p 0.95) × 시드 ≥5</a:t>
            </a:r>
            <a:r>
              <a:rPr sz="1200" b="0">
                <a:solidFill>
                  <a:srgbClr val="1E2227"/>
                </a:solidFill>
                <a:latin typeface="맑은 고딕"/>
                <a:ea typeface="맑은 고딕"/>
              </a:rPr>
              <a:t> — Paired Bootstrap 95% CI</a:t>
            </a:r>
          </a:p>
          <a:p>
            <a:pPr algn="l">
              <a:lnSpc>
                <a:spcPct val="138000"/>
              </a:lnSpc>
              <a:spcAft>
                <a:spcPts val="450"/>
              </a:spcAft>
            </a:pPr>
            <a:r>
              <a:rPr sz="120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200" b="1">
                <a:solidFill>
                  <a:srgbClr val="1E2227"/>
                </a:solidFill>
                <a:latin typeface="맑은 고딕"/>
                <a:ea typeface="맑은 고딕"/>
              </a:rPr>
              <a:t>라벨링: 규칙 기반 + LLM 판정 하이브리드</a:t>
            </a:r>
            <a:r>
              <a:rPr sz="1200" b="0">
                <a:solidFill>
                  <a:srgbClr val="1E2227"/>
                </a:solidFill>
                <a:latin typeface="맑은 고딕"/>
                <a:ea typeface="맑은 고딕"/>
              </a:rPr>
              <a:t> (타당성 3층은 앞 장)</a:t>
            </a:r>
          </a:p>
          <a:p>
            <a:pPr algn="l">
              <a:lnSpc>
                <a:spcPct val="138000"/>
              </a:lnSpc>
              <a:spcAft>
                <a:spcPts val="450"/>
              </a:spcAft>
            </a:pPr>
            <a:r>
              <a:rPr sz="120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200" b="0">
                <a:solidFill>
                  <a:srgbClr val="1E2227"/>
                </a:solidFill>
                <a:latin typeface="맑은 고딕"/>
                <a:ea typeface="맑은 고딕"/>
              </a:rPr>
              <a:t>판정자 비용 사전 산정 후 집행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016752"/>
            <a:ext cx="45720" cy="384048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" y="6016752"/>
            <a:ext cx="11045952" cy="384048"/>
          </a:xfrm>
          <a:prstGeom prst="rect">
            <a:avLst/>
          </a:prstGeom>
          <a:solidFill>
            <a:srgbClr val="ED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tIns="0" bIns="0"/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1">
                <a:solidFill>
                  <a:srgbClr val="273A52"/>
                </a:solidFill>
                <a:latin typeface="맑은 고딕"/>
                <a:ea typeface="맑은 고딕"/>
              </a:rPr>
              <a:t>핵심   </a:t>
            </a:r>
            <a:r>
              <a:rPr sz="1150" b="0">
                <a:solidFill>
                  <a:srgbClr val="1E2227"/>
                </a:solidFill>
                <a:latin typeface="맑은 고딕"/>
                <a:ea typeface="맑은 고딕"/>
              </a:rPr>
              <a:t>레짐 통제의 설계 기둥(토글·Instruct 형제)은 </a:t>
            </a:r>
            <a:r>
              <a:rPr sz="1150" b="1">
                <a:solidFill>
                  <a:srgbClr val="1E2227"/>
                </a:solidFill>
                <a:latin typeface="맑은 고딕"/>
                <a:ea typeface="맑은 고딕"/>
              </a:rPr>
              <a:t>실험 전 확인을 이미 완료 — 실행 리스크 선제 제거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250" b="1">
                <a:solidFill>
                  <a:srgbClr val="6B7480"/>
                </a:solidFill>
                <a:latin typeface="맑은 고딕"/>
                <a:ea typeface="맑은 고딕"/>
              </a:rPr>
              <a:t>§3.3.2 · 실험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실험 1 (RQ1·RQ2): 평가 환경 구성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950" b="0">
                <a:solidFill>
                  <a:srgbClr val="6B7480"/>
                </a:solidFill>
                <a:latin typeface="맑은 고딕"/>
                <a:ea typeface="맑은 고딕"/>
              </a:rPr>
              <a:t>§3 방법론 · 실험 1 (RQ1·RQ2)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r>
              <a:rPr sz="950" b="0">
                <a:solidFill>
                  <a:srgbClr val="6B7480"/>
                </a:solidFill>
                <a:latin typeface="맑은 고딕"/>
                <a:ea typeface="맑은 고딕"/>
              </a:rPr>
              <a:t>21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9167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2743200"/>
                <a:gridCol w="1234440"/>
                <a:gridCol w="5330952"/>
                <a:gridCol w="1280160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#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환경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분류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예상 영향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①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Standard RAG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대조군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기본 문서 주입 (zero-shot)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기저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②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CAD (+AdaCAD)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디코딩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문맥 유무 로짓 대비 증폭 — </a:t>
                      </a: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사고+답변 전 구간 vs 답변 구간만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절제 비교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L1/L2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③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CD2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디코딩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문서 간 충돌 자체를 겨냥한 대비 디코딩 — 본 진단과 직접 맞물림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L2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④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Recency/Authority 프롬프트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프롬프트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date 최신성·url 권위 우선 대조 유도 — </a:t>
                      </a:r>
                      <a:r>
                        <a:rPr sz="1120" b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메타데이터 없는 RAMDocs 제외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L2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⑤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Reflection 프롬프트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프롬프트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Self-RAG 반추 전략만 차용 — 결론·문서 부합을 스스로 재검토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AIR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4434840"/>
            <a:ext cx="11091672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4467860"/>
            <a:ext cx="11091672" cy="13843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38000"/>
              </a:lnSpc>
              <a:spcAft>
                <a:spcPts val="450"/>
              </a:spcAft>
            </a:pPr>
            <a:r>
              <a:rPr sz="120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200" b="1">
                <a:solidFill>
                  <a:srgbClr val="1E2227"/>
                </a:solidFill>
                <a:latin typeface="맑은 고딕"/>
                <a:ea typeface="맑은 고딕"/>
              </a:rPr>
              <a:t>이식(transplant) 프레임:  </a:t>
            </a:r>
            <a:r>
              <a:rPr sz="1200" b="0">
                <a:solidFill>
                  <a:srgbClr val="1E2227"/>
                </a:solidFill>
                <a:latin typeface="맑은 고딕"/>
                <a:ea typeface="맑은 고딕"/>
              </a:rPr>
              <a:t>이 기법 다수는 비-thinking 모델에서 개발됨 — 성능 순위가 아니라 '사고 모델로 옮겼을 때의 전환 행렬 변화'가 관심사</a:t>
            </a:r>
          </a:p>
          <a:p>
            <a:pPr algn="l">
              <a:lnSpc>
                <a:spcPct val="138000"/>
              </a:lnSpc>
              <a:spcAft>
                <a:spcPts val="450"/>
              </a:spcAft>
            </a:pPr>
            <a:r>
              <a:rPr sz="120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200" b="1">
                <a:solidFill>
                  <a:srgbClr val="1E2227"/>
                </a:solidFill>
                <a:latin typeface="맑은 고딕"/>
                <a:ea typeface="맑은 고딕"/>
              </a:rPr>
              <a:t>스코프 밖:  </a:t>
            </a:r>
            <a:r>
              <a:rPr sz="1200" b="0">
                <a:solidFill>
                  <a:srgbClr val="1E2227"/>
                </a:solidFill>
                <a:latin typeface="맑은 고딕"/>
                <a:ea typeface="맑은 고딕"/>
              </a:rPr>
              <a:t>MADAM-RAG(다중 에이전트)·ConflictRAG(외부 분류기)는 단일 모델을 시스템으로 대체 → 층위가 달라 제외</a:t>
            </a:r>
          </a:p>
          <a:p>
            <a:pPr algn="l">
              <a:lnSpc>
                <a:spcPct val="138000"/>
              </a:lnSpc>
              <a:spcAft>
                <a:spcPts val="450"/>
              </a:spcAft>
            </a:pPr>
            <a:r>
              <a:rPr sz="120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200" b="1">
                <a:solidFill>
                  <a:srgbClr val="1E2227"/>
                </a:solidFill>
                <a:latin typeface="맑은 고딕"/>
                <a:ea typeface="맑은 고딕"/>
              </a:rPr>
              <a:t>절차:  </a:t>
            </a:r>
            <a:r>
              <a:rPr sz="1200" b="0">
                <a:solidFill>
                  <a:srgbClr val="1E2227"/>
                </a:solidFill>
                <a:latin typeface="맑은 고딕"/>
                <a:ea typeface="맑은 고딕"/>
              </a:rPr>
              <a:t>5환경 × 3모델 × 3데이터셋(순서 셔플) → 환경별 전체 전환 행렬 도출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016752"/>
            <a:ext cx="45720" cy="384048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6016752"/>
            <a:ext cx="11045952" cy="384048"/>
          </a:xfrm>
          <a:prstGeom prst="rect">
            <a:avLst/>
          </a:prstGeom>
          <a:solidFill>
            <a:srgbClr val="ED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tIns="0" bIns="0"/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1">
                <a:solidFill>
                  <a:srgbClr val="273A52"/>
                </a:solidFill>
                <a:latin typeface="맑은 고딕"/>
                <a:ea typeface="맑은 고딕"/>
              </a:rPr>
              <a:t>핵심   </a:t>
            </a:r>
            <a:r>
              <a:rPr sz="1150" b="0">
                <a:solidFill>
                  <a:srgbClr val="1E2227"/>
                </a:solidFill>
                <a:latin typeface="맑은 고딕"/>
                <a:ea typeface="맑은 고딕"/>
              </a:rPr>
              <a:t>여기서 얻는 환경별 전환 행렬 위에서 </a:t>
            </a:r>
            <a:r>
              <a:rPr sz="1150" b="1">
                <a:solidFill>
                  <a:srgbClr val="1E2227"/>
                </a:solidFill>
                <a:latin typeface="맑은 고딕"/>
                <a:ea typeface="맑은 고딕"/>
              </a:rPr>
              <a:t>다음 장의 문항별 회계가 이뤄짐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250" b="1">
                <a:solidFill>
                  <a:srgbClr val="6B7480"/>
                </a:solidFill>
                <a:latin typeface="맑은 고딕"/>
                <a:ea typeface="맑은 고딕"/>
              </a:rPr>
              <a:t>§3.3.2 · 실험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실험 1 (RQ2): 문항별 흐름 분석과 회계 지표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950" b="0">
                <a:solidFill>
                  <a:srgbClr val="6B7480"/>
                </a:solidFill>
                <a:latin typeface="맑은 고딕"/>
                <a:ea typeface="맑은 고딕"/>
              </a:rPr>
              <a:t>§3 방법론 · 실험 1 (RQ1·RQ2)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r>
              <a:rPr sz="950" b="0">
                <a:solidFill>
                  <a:srgbClr val="6B7480"/>
                </a:solidFill>
                <a:latin typeface="맑은 고딕"/>
                <a:ea typeface="맑은 고딕"/>
              </a:rPr>
              <a:t>22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98448"/>
            <a:ext cx="11091672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331468"/>
            <a:ext cx="11091672" cy="99110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250" b="1">
                <a:solidFill>
                  <a:srgbClr val="273A52"/>
                </a:solidFill>
                <a:latin typeface="맑은 고딕"/>
                <a:ea typeface="맑은 고딕"/>
              </a:rPr>
              <a:t>왜 문항별 흐름인가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집계 수준에서 빼면(net) 개선과 퇴행이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상쇄되어 사라짐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 — 동일 문항이므로 question_id로 짝지어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완화 전 경로 → 완화 후 경로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의 이동을 추적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87168"/>
            <a:ext cx="3584448" cy="33020"/>
          </a:xfrm>
          <a:prstGeom prst="rect">
            <a:avLst/>
          </a:prstGeom>
          <a:solidFill>
            <a:srgbClr val="1E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520188"/>
            <a:ext cx="3584448" cy="19329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LGR · 정당 이득 비율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새로 정답이 된 문항 중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정상 경로 비율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낮으면 → EM 상승이 Shortcut·Discordant·Blind-Hit에서 온 것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250" b="1">
                <a:solidFill>
                  <a:srgbClr val="273A52"/>
                </a:solidFill>
                <a:latin typeface="Cambria Math"/>
                <a:ea typeface="맑은 고딕"/>
              </a:rPr>
              <a:t>LGR</a:t>
            </a:r>
            <a:r>
              <a:rPr sz="1200" b="0">
                <a:solidFill>
                  <a:srgbClr val="1E2227"/>
                </a:solidFill>
                <a:latin typeface="Cambria Math"/>
                <a:ea typeface="맑은 고딕"/>
              </a:rPr>
              <a:t> = |신규 정답 ∩ 정상 경로| ∕ |신규 정답|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2487168"/>
            <a:ext cx="3584448" cy="33020"/>
          </a:xfrm>
          <a:prstGeom prst="rect">
            <a:avLst/>
          </a:prstGeom>
          <a:solidFill>
            <a:srgbClr val="A44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2520188"/>
            <a:ext cx="3584448" cy="19329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숨은 퇴행율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정상 경로 정답이던 문항이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AIR·오답·기권으로 이동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한 비율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기권 전이는 별도 하위 항목 — 누락 방지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250" b="1">
                <a:solidFill>
                  <a:srgbClr val="273A52"/>
                </a:solidFill>
                <a:latin typeface="Cambria Math"/>
                <a:ea typeface="맑은 고딕"/>
              </a:rPr>
              <a:t>HR</a:t>
            </a:r>
            <a:r>
              <a:rPr sz="1200" b="0">
                <a:solidFill>
                  <a:srgbClr val="1E2227"/>
                </a:solidFill>
                <a:latin typeface="Cambria Math"/>
                <a:ea typeface="맑은 고딕"/>
              </a:rPr>
              <a:t> = |정상 → AIR·오답·기권| ∕ |완화 전 정상 정답|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2487168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2520188"/>
            <a:ext cx="3584448" cy="19329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안정성 장치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문항별 다수결 경로(시드≥5) +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모드 비율 보고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과반 미달 문항(2-2-1)은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불안정 플래그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로 분리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040" b="0">
                <a:solidFill>
                  <a:srgbClr val="6B7480"/>
                </a:solidFill>
                <a:latin typeface="맑은 고딕"/>
                <a:ea typeface="맑은 고딕"/>
              </a:rPr>
              <a:t>흐름 분석 자체의 신뢰도를 검증 가능하게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617720"/>
            <a:ext cx="11091672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650740"/>
            <a:ext cx="11091672" cy="12014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결과 비의존성</a:t>
            </a: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회계의 결론이 어느 쪽이든 기여는 성립 — 이득이 진짜라면 완화의 신뢰 근거를, 취약하다면 표면 지표의 위험을 정량화한 것. 특히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숨은 퇴행과 flip률은 완화가 잘 작동해도 독립적으로 관측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됩니다.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016752"/>
            <a:ext cx="45720" cy="384048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" y="6016752"/>
            <a:ext cx="11045952" cy="384048"/>
          </a:xfrm>
          <a:prstGeom prst="rect">
            <a:avLst/>
          </a:prstGeom>
          <a:solidFill>
            <a:srgbClr val="ED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tIns="0" bIns="0"/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1">
                <a:solidFill>
                  <a:srgbClr val="273A52"/>
                </a:solidFill>
                <a:latin typeface="맑은 고딕"/>
                <a:ea typeface="맑은 고딕"/>
              </a:rPr>
              <a:t>핵심   </a:t>
            </a:r>
            <a:r>
              <a:rPr sz="1150" b="0">
                <a:solidFill>
                  <a:srgbClr val="1E2227"/>
                </a:solidFill>
                <a:latin typeface="맑은 고딕"/>
                <a:ea typeface="맑은 고딕"/>
              </a:rPr>
              <a:t>이 회계 능력이 논문의 중심 결과 — </a:t>
            </a:r>
            <a:r>
              <a:rPr sz="1150" b="1">
                <a:solidFill>
                  <a:srgbClr val="1E2227"/>
                </a:solidFill>
                <a:latin typeface="맑은 고딕"/>
                <a:ea typeface="맑은 고딕"/>
              </a:rPr>
              <a:t>AIR은 그 안에서 '올바른 해소의 유실 지점'을 짚는 서명 지표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250" b="1">
                <a:solidFill>
                  <a:srgbClr val="6B7480"/>
                </a:solidFill>
                <a:latin typeface="맑은 고딕"/>
                <a:ea typeface="맑은 고딕"/>
              </a:rPr>
              <a:t>§3.3.3 · 실험 2(a)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실험 2(a) (RQ3): 충돌 고유성 대조 설계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950" b="0">
                <a:solidFill>
                  <a:srgbClr val="6B7480"/>
                </a:solidFill>
                <a:latin typeface="맑은 고딕"/>
                <a:ea typeface="맑은 고딕"/>
              </a:rPr>
              <a:t>§3 방법론 · 실험 2 (RQ3)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r>
              <a:rPr sz="950" b="0">
                <a:solidFill>
                  <a:srgbClr val="6B7480"/>
                </a:solidFill>
                <a:latin typeface="맑은 고딕"/>
                <a:ea typeface="맑은 고딕"/>
              </a:rPr>
              <a:t>23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91672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03120"/>
                <a:gridCol w="2560320"/>
                <a:gridCol w="4233672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대조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충돌 조건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비충돌 조건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통제 강도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DRAGged 자연 표본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사실 충돌 67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상보 115 + 비충돌 161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between-item — 혼합효과 회귀로 보정 </a:t>
                      </a:r>
                      <a:r>
                        <a:rPr sz="1040" b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(문서 수·질의 유형 공변량)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DRAGged 치환 증강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치환 변형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동일 질의 원본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within-item 매칭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— 보정 없이 순효과 직접 추정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RAMDocs 문서 구성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misinfo 포함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noise만 (동일 문서 수)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within-item 매칭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— 문서 수 통제한 충돌 순효과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4069080"/>
            <a:ext cx="11091672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4102100"/>
            <a:ext cx="11091672" cy="17500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역할 분담과 검정력 보완</a:t>
            </a: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sz="120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200" b="1">
                <a:solidFill>
                  <a:srgbClr val="1E2227"/>
                </a:solidFill>
                <a:latin typeface="맑은 고딕"/>
                <a:ea typeface="맑은 고딕"/>
              </a:rPr>
              <a:t>매칭 통제의 무게</a:t>
            </a:r>
            <a:r>
              <a:rPr sz="1200" b="0">
                <a:solidFill>
                  <a:srgbClr val="1E2227"/>
                </a:solidFill>
                <a:latin typeface="맑은 고딕"/>
                <a:ea typeface="맑은 고딕"/>
              </a:rPr>
              <a:t>는 RAMDocs·치환 증강 쌍이, </a:t>
            </a:r>
            <a:r>
              <a:rPr sz="1200" b="1">
                <a:solidFill>
                  <a:srgbClr val="1E2227"/>
                </a:solidFill>
                <a:latin typeface="맑은 고딕"/>
                <a:ea typeface="맑은 고딕"/>
              </a:rPr>
              <a:t>생태적 타당성</a:t>
            </a:r>
            <a:r>
              <a:rPr sz="1200" b="0">
                <a:solidFill>
                  <a:srgbClr val="1E2227"/>
                </a:solidFill>
                <a:latin typeface="맑은 고딕"/>
                <a:ea typeface="맑은 고딕"/>
              </a:rPr>
              <a:t>은 자연 DRAGged 표본이 담당 — 세 근거 교차 확인</a:t>
            </a: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sz="120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200" b="1">
                <a:solidFill>
                  <a:srgbClr val="1E2227"/>
                </a:solidFill>
                <a:latin typeface="맑은 고딕"/>
                <a:ea typeface="맑은 고딕"/>
              </a:rPr>
              <a:t>정확도 결부 비교(채점 56~61)는 얇음</a:t>
            </a:r>
            <a:r>
              <a:rPr sz="1200" b="0">
                <a:solidFill>
                  <a:srgbClr val="1E2227"/>
                </a:solidFill>
                <a:latin typeface="맑은 고딕"/>
                <a:ea typeface="맑은 고딕"/>
              </a:rPr>
              <a:t> → 자기일관성 축(명시적 상충 182)으로 검정력 보완 (이중 트랙)</a:t>
            </a: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sz="120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200" b="0">
                <a:solidFill>
                  <a:srgbClr val="1E2227"/>
                </a:solidFill>
                <a:latin typeface="맑은 고딕"/>
                <a:ea typeface="맑은 고딕"/>
              </a:rPr>
              <a:t>의견 충돌은 L1 인지·대조 패턴 비교에만 사용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016752"/>
            <a:ext cx="45720" cy="384048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6016752"/>
            <a:ext cx="11045952" cy="384048"/>
          </a:xfrm>
          <a:prstGeom prst="rect">
            <a:avLst/>
          </a:prstGeom>
          <a:solidFill>
            <a:srgbClr val="ED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tIns="0" bIns="0"/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1">
                <a:solidFill>
                  <a:srgbClr val="273A52"/>
                </a:solidFill>
                <a:latin typeface="맑은 고딕"/>
                <a:ea typeface="맑은 고딕"/>
              </a:rPr>
              <a:t>핵심   </a:t>
            </a:r>
            <a:r>
              <a:rPr sz="1150" b="0">
                <a:solidFill>
                  <a:srgbClr val="1E2227"/>
                </a:solidFill>
                <a:latin typeface="맑은 고딕"/>
                <a:ea typeface="맑은 고딕"/>
              </a:rPr>
              <a:t>"충돌이라서 깨진 것인가, 어려워서 깨진 것인가" — </a:t>
            </a:r>
            <a:r>
              <a:rPr sz="1150" b="1">
                <a:solidFill>
                  <a:srgbClr val="1E2227"/>
                </a:solidFill>
                <a:latin typeface="맑은 고딕"/>
                <a:ea typeface="맑은 고딕"/>
              </a:rPr>
              <a:t>통제 강도가 다른 세 대조가 같은 방향을 가리키면 답이 됨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250" b="1">
                <a:solidFill>
                  <a:srgbClr val="6B7480"/>
                </a:solidFill>
                <a:latin typeface="맑은 고딕"/>
                <a:ea typeface="맑은 고딕"/>
              </a:rPr>
              <a:t>§3.3.3 · 실험 2(b)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실험 2(b) (RQ3): 사고 채널 귀속 — 레짐 통제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950" b="0">
                <a:solidFill>
                  <a:srgbClr val="6B7480"/>
                </a:solidFill>
                <a:latin typeface="맑은 고딕"/>
                <a:ea typeface="맑은 고딕"/>
              </a:rPr>
              <a:t>§3 방법론 · 실험 2 (RQ3)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r>
              <a:rPr sz="950" b="0">
                <a:solidFill>
                  <a:srgbClr val="6B7480"/>
                </a:solidFill>
                <a:latin typeface="맑은 고딕"/>
                <a:ea typeface="맑은 고딕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61872"/>
            <a:ext cx="1109167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230" b="0">
                <a:solidFill>
                  <a:srgbClr val="6B7480"/>
                </a:solidFill>
                <a:latin typeface="맑은 고딕"/>
                <a:ea typeface="맑은 고딕"/>
              </a:rPr>
              <a:t>AIR·Shortcut은 사고 채널이 있어야 정의되지만, 충돌 해소 정확도와 완화 이득은 thinking on/off 두 레짐에서 공통 비교 가능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682496"/>
          <a:ext cx="11091672" cy="2249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6336792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모델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통제 수단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확인 결과 (2026-07)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Qwen3.6-27B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동일 가중치 하드 토글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주력 · 확인 완료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— enable_thinking=false (vLLM/SGLang) 지원, /think 소프트 스위치는 미지원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Olmo-3.1-32B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동일 베이스 Instruct 형제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보강 · 확인 완료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— Olmo-3.1-32B-Instruct 공개 (post-training 상이 → matched-sibling 대조로 명시)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gpt-oss-20b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reasoning effort 최저↔최고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보조로 강등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— 최저도 '짧은 사고'지 '사고 끔'이 아님 → 귀속 근거로 쓰지 않고 참고 보고만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4434840"/>
            <a:ext cx="11091672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4467860"/>
            <a:ext cx="11091672" cy="13843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귀속 판정 + go/no-go 게이트</a:t>
            </a: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sz="120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200" b="0">
                <a:solidFill>
                  <a:srgbClr val="1E2227"/>
                </a:solidFill>
                <a:latin typeface="맑은 고딕"/>
                <a:ea typeface="맑은 고딕"/>
              </a:rPr>
              <a:t>사고 채널이 (i) 충돌 해소 정확도를 올리는지, (ii) 그럼에도 </a:t>
            </a:r>
            <a:r>
              <a:rPr sz="1200" b="1">
                <a:solidFill>
                  <a:srgbClr val="1E2227"/>
                </a:solidFill>
                <a:latin typeface="맑은 고딕"/>
                <a:ea typeface="맑은 고딕"/>
              </a:rPr>
              <a:t>비-thinking에 없던 새 실패 양식(AIR·Shortcut)</a:t>
            </a:r>
            <a:r>
              <a:rPr sz="1200" b="0">
                <a:solidFill>
                  <a:srgbClr val="1E2227"/>
                </a:solidFill>
                <a:latin typeface="맑은 고딕"/>
                <a:ea typeface="맑은 고딕"/>
              </a:rPr>
              <a:t>을 만드는지 대조</a:t>
            </a: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sz="120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200" b="1">
                <a:solidFill>
                  <a:srgbClr val="1E2227"/>
                </a:solidFill>
                <a:latin typeface="맑은 고딕"/>
                <a:ea typeface="맑은 고딕"/>
              </a:rPr>
              <a:t>전면 마스킹 게이트:  </a:t>
            </a:r>
            <a:r>
              <a:rPr sz="1200" b="0">
                <a:solidFill>
                  <a:srgbClr val="1E2227"/>
                </a:solidFill>
                <a:latin typeface="맑은 고딕"/>
                <a:ea typeface="맑은 고딕"/>
              </a:rPr>
              <a:t>&lt;think&gt; 전체를 지워도 답 분포가 안 변하면 사고 채널은 장식 → 진단 성립 여부의 go/no-go로 사전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016752"/>
            <a:ext cx="45720" cy="384048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6016752"/>
            <a:ext cx="11045952" cy="384048"/>
          </a:xfrm>
          <a:prstGeom prst="rect">
            <a:avLst/>
          </a:prstGeom>
          <a:solidFill>
            <a:srgbClr val="ED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tIns="0" bIns="0"/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1">
                <a:solidFill>
                  <a:srgbClr val="273A52"/>
                </a:solidFill>
                <a:latin typeface="맑은 고딕"/>
                <a:ea typeface="맑은 고딕"/>
              </a:rPr>
              <a:t>핵심   </a:t>
            </a:r>
            <a:r>
              <a:rPr sz="1150" b="0">
                <a:solidFill>
                  <a:srgbClr val="1E2227"/>
                </a:solidFill>
                <a:latin typeface="맑은 고딕"/>
                <a:ea typeface="맑은 고딕"/>
              </a:rPr>
              <a:t>취약성이 사고 채널 고유임을 보여야 "thinking 모델의 새 실패 양식" 주장이 성립 — </a:t>
            </a:r>
            <a:r>
              <a:rPr sz="1150" b="1">
                <a:solidFill>
                  <a:srgbClr val="1E2227"/>
                </a:solidFill>
                <a:latin typeface="맑은 고딕"/>
                <a:ea typeface="맑은 고딕"/>
              </a:rPr>
              <a:t>그 설계 기둥은 확인 완료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250" b="1">
                <a:solidFill>
                  <a:srgbClr val="6B7480"/>
                </a:solidFill>
                <a:latin typeface="맑은 고딕"/>
                <a:ea typeface="맑은 고딕"/>
              </a:rPr>
              <a:t>§3.3.4 · 실험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실험 3 (RQ4): 인과 개입 설계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950" b="0">
                <a:solidFill>
                  <a:srgbClr val="6B7480"/>
                </a:solidFill>
                <a:latin typeface="맑은 고딕"/>
                <a:ea typeface="맑은 고딕"/>
              </a:rPr>
              <a:t>§3 방법론 · 실험 3 (RQ4)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r>
              <a:rPr sz="950" b="0">
                <a:solidFill>
                  <a:srgbClr val="6B7480"/>
                </a:solidFill>
                <a:latin typeface="맑은 고딕"/>
                <a:ea typeface="맑은 고딕"/>
              </a:rPr>
              <a:t>25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91672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371600"/>
                <a:gridCol w="7434072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개입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하나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Truncation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주력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여러 절단 지점에서 사고를 끊고 즉시 답변 강제 — </a:t>
                      </a: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어느 지점부터 답이 고정되는지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측정 (Lanham '23)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On-policy Resampling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주력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L2 판정 문장 직후부터 K회 재생성 — </a:t>
                      </a: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그 판정이 답 분포를 좌우하는 정도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추정 · 인접 다지점으로 국소화 잡음 완충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Filler-token 대조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00" b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대조군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절단 구간을 같은 길이 무의미 토큰으로 대체 — 하락이 </a:t>
                      </a: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내용 제거 탓인지 길이·형식 붕괴 탓인지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분리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자연 종료점 절단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00" b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no-op 기준선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&lt;/think&gt; 자연 종료서 절단(무개입) — </a:t>
                      </a: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절단 절차 자체의 교란 크기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측정 (사고 중 절단은 OOD 입력)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4343400"/>
            <a:ext cx="545896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4376420"/>
            <a:ext cx="5458968" cy="144830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해석 규칙  (사전등록)</a:t>
            </a:r>
          </a:p>
          <a:p>
            <a:pPr algn="l">
              <a:lnSpc>
                <a:spcPct val="134000"/>
              </a:lnSpc>
              <a:spcAft>
                <a:spcPts val="450"/>
              </a:spcAft>
            </a:pP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인과 기여 = 절단 효과 − no-op 효과</a:t>
            </a:r>
          </a:p>
          <a:p>
            <a:pPr algn="l">
              <a:lnSpc>
                <a:spcPct val="134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filler 대조로 형식 교란의 상한 확인 후에만 ΔAccuracy를 인과로 해석</a:t>
            </a:r>
          </a:p>
          <a:p>
            <a:pPr algn="l">
              <a:lnSpc>
                <a:spcPct val="134000"/>
              </a:lnSpc>
              <a:spcAft>
                <a:spcPts val="450"/>
              </a:spcAft>
            </a:pPr>
            <a:r>
              <a:rPr sz="1040" b="0">
                <a:solidFill>
                  <a:srgbClr val="6B7480"/>
                </a:solidFill>
                <a:latin typeface="맑은 고딕"/>
                <a:ea typeface="맑은 고딕"/>
              </a:rPr>
              <a:t>대조군 없이 절단만 하면 형식 붕괴를 인과로 오독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1344" y="4343400"/>
            <a:ext cx="545896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344" y="4376420"/>
            <a:ext cx="5458968" cy="144830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경로별 취약성  (RQ2 연계)</a:t>
            </a:r>
          </a:p>
          <a:p>
            <a:pPr algn="l">
              <a:lnSpc>
                <a:spcPct val="134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정답 낸 각 경로에 동일 개입 →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경로별 flip률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 비교</a:t>
            </a:r>
          </a:p>
          <a:p>
            <a:pPr algn="l">
              <a:lnSpc>
                <a:spcPct val="134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취약 경로 &gt; 정상 경로면, '취약'이 라벨이 아니라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섭동에 무너지는 인과적 성질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임을 입증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016752"/>
            <a:ext cx="45720" cy="384048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" y="6016752"/>
            <a:ext cx="11045952" cy="384048"/>
          </a:xfrm>
          <a:prstGeom prst="rect">
            <a:avLst/>
          </a:prstGeom>
          <a:solidFill>
            <a:srgbClr val="ED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tIns="0" bIns="0"/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1">
                <a:solidFill>
                  <a:srgbClr val="273A52"/>
                </a:solidFill>
                <a:latin typeface="맑은 고딕"/>
                <a:ea typeface="맑은 고딕"/>
              </a:rPr>
              <a:t>핵심   </a:t>
            </a:r>
            <a:r>
              <a:rPr sz="1150" b="0">
                <a:solidFill>
                  <a:srgbClr val="1E2227"/>
                </a:solidFill>
                <a:latin typeface="맑은 고딕"/>
                <a:ea typeface="맑은 고딕"/>
              </a:rPr>
              <a:t>텍스트 상관(AIR)과 인과 주장을 분리하고, </a:t>
            </a:r>
            <a:r>
              <a:rPr sz="1150" b="1">
                <a:solidFill>
                  <a:srgbClr val="1E2227"/>
                </a:solidFill>
                <a:latin typeface="맑은 고딕"/>
                <a:ea typeface="맑은 고딕"/>
              </a:rPr>
              <a:t>인과는 대조군 갖춘 개입으로만 — L-a/L-b 경계의 실험적 구현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250" b="1">
                <a:solidFill>
                  <a:srgbClr val="6B7480"/>
                </a:solidFill>
                <a:latin typeface="맑은 고딕"/>
                <a:ea typeface="맑은 고딕"/>
              </a:rPr>
              <a:t>§3.3.5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자원 계획과 축소 우선순위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950" b="0">
                <a:solidFill>
                  <a:srgbClr val="6B7480"/>
                </a:solidFill>
                <a:latin typeface="맑은 고딕"/>
                <a:ea typeface="맑은 고딕"/>
              </a:rPr>
              <a:t>§3 방법론 · 자원 계획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r>
              <a:rPr sz="950" b="0">
                <a:solidFill>
                  <a:srgbClr val="6B7480"/>
                </a:solidFill>
                <a:latin typeface="맑은 고딕"/>
                <a:ea typeface="맑은 고딕"/>
              </a:rPr>
              <a:t>26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25880"/>
            <a:ext cx="545896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358900"/>
            <a:ext cx="5458968" cy="22529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실험 그리드와 생성량</a:t>
            </a:r>
          </a:p>
          <a:p>
            <a:pPr algn="l">
              <a:lnSpc>
                <a:spcPct val="138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본 실험: 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1,125문항 × 5시드 × 5환경 × 3모델</a:t>
            </a:r>
          </a:p>
          <a:p>
            <a:pPr algn="l">
              <a:lnSpc>
                <a:spcPct val="138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→ 생성량 상한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~8.4만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  (④는 RAMDocs 제외라 실제는 소폭 적음)</a:t>
            </a:r>
          </a:p>
          <a:p>
            <a:pPr algn="l">
              <a:lnSpc>
                <a:spcPct val="138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개입 실험 별도: truncation 다지점 ~5개 · resampling K=10 × 대상 표본</a:t>
            </a:r>
          </a:p>
          <a:p>
            <a:pPr algn="l">
              <a:lnSpc>
                <a:spcPct val="138000"/>
              </a:lnSpc>
              <a:spcAft>
                <a:spcPts val="450"/>
              </a:spcAft>
            </a:pPr>
            <a:r>
              <a:rPr sz="1040" b="0">
                <a:solidFill>
                  <a:srgbClr val="6B7480"/>
                </a:solidFill>
                <a:latin typeface="맑은 고딕"/>
                <a:ea typeface="맑은 고딕"/>
              </a:rPr>
              <a:t>bf16 27~32B 서빙 처리량 실측 후 GPU-시간 환산 · 판정자(LLM 2종) 호출 비용 사전 산정</a:t>
            </a:r>
          </a:p>
        </p:txBody>
      </p:sp>
      <p:sp>
        <p:nvSpPr>
          <p:cNvPr id="9" name="Rectangle 8"/>
          <p:cNvSpPr/>
          <p:nvPr/>
        </p:nvSpPr>
        <p:spPr>
          <a:xfrm>
            <a:off x="6181344" y="1325880"/>
            <a:ext cx="545896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1344" y="1358900"/>
            <a:ext cx="5458968" cy="22529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축소 우선순위  (사전 선언)</a:t>
            </a:r>
          </a:p>
          <a:p>
            <a:pPr algn="l">
              <a:lnSpc>
                <a:spcPct val="134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자원 부족 시 다음 순서로 축소:</a:t>
            </a:r>
          </a:p>
          <a:p>
            <a:pPr algn="l">
              <a:lnSpc>
                <a:spcPct val="134000"/>
              </a:lnSpc>
              <a:spcAft>
                <a:spcPts val="450"/>
              </a:spcAft>
            </a:pPr>
            <a:r>
              <a:rPr sz="120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200" b="0">
                <a:solidFill>
                  <a:srgbClr val="1E2227"/>
                </a:solidFill>
                <a:latin typeface="맑은 고딕"/>
                <a:ea typeface="맑은 고딕"/>
              </a:rPr>
              <a:t>① 보강층(부록 B 상관 분석·유형 인지) 축소</a:t>
            </a:r>
          </a:p>
          <a:p>
            <a:pPr algn="l">
              <a:lnSpc>
                <a:spcPct val="134000"/>
              </a:lnSpc>
              <a:spcAft>
                <a:spcPts val="450"/>
              </a:spcAft>
            </a:pPr>
            <a:r>
              <a:rPr sz="120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200" b="0">
                <a:solidFill>
                  <a:srgbClr val="1E2227"/>
                </a:solidFill>
                <a:latin typeface="맑은 고딕"/>
                <a:ea typeface="맑은 고딕"/>
              </a:rPr>
              <a:t>② 완화 환경 5 → 3개  (디코딩 1 + 프롬프트 1 + 대조군)</a:t>
            </a:r>
          </a:p>
          <a:p>
            <a:pPr algn="l">
              <a:lnSpc>
                <a:spcPct val="134000"/>
              </a:lnSpc>
              <a:spcAft>
                <a:spcPts val="450"/>
              </a:spcAft>
            </a:pPr>
            <a:r>
              <a:rPr sz="120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200" b="0">
                <a:solidFill>
                  <a:srgbClr val="1E2227"/>
                </a:solidFill>
                <a:latin typeface="맑은 고딕"/>
                <a:ea typeface="맑은 고딕"/>
              </a:rPr>
              <a:t>③ 시드 5 → 3  (CI 병기 유지)</a:t>
            </a:r>
          </a:p>
          <a:p>
            <a:pPr algn="l">
              <a:lnSpc>
                <a:spcPct val="134000"/>
              </a:lnSpc>
              <a:spcAft>
                <a:spcPts val="450"/>
              </a:spcAft>
            </a:pPr>
            <a:r>
              <a:rPr sz="1200" b="1">
                <a:solidFill>
                  <a:srgbClr val="1E7A6F"/>
                </a:solidFill>
                <a:latin typeface="맑은 고딕"/>
                <a:ea typeface="맑은 고딕"/>
              </a:rPr>
              <a:t>주력(완화 회계)과 검증(RQ3·RQ4)은 사수</a:t>
            </a:r>
            <a:r>
              <a:rPr sz="1100" b="0">
                <a:solidFill>
                  <a:srgbClr val="6B7480"/>
                </a:solidFill>
                <a:latin typeface="맑은 고딕"/>
                <a:ea typeface="맑은 고딕"/>
              </a:rPr>
              <a:t>  — 축소 순서 = 보고 계층의 역순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794760"/>
            <a:ext cx="11091672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827780"/>
            <a:ext cx="11091672" cy="19329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판정·검증 비용의 구조</a:t>
            </a: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sz="120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200" b="1">
                <a:solidFill>
                  <a:srgbClr val="1E2227"/>
                </a:solidFill>
                <a:latin typeface="맑은 고딕"/>
                <a:ea typeface="맑은 고딕"/>
              </a:rPr>
              <a:t>라벨 판정: </a:t>
            </a:r>
            <a:r>
              <a:rPr sz="1200" b="0">
                <a:solidFill>
                  <a:srgbClr val="1E2227"/>
                </a:solidFill>
                <a:latin typeface="맑은 고딕"/>
                <a:ea typeface="맑은 고딕"/>
              </a:rPr>
              <a:t>생성 전량 × LLM 판정자 2종 — 상용 판정자는 비용 추정 후 집행 (연구실 원칙)</a:t>
            </a: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sz="120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200" b="1">
                <a:solidFill>
                  <a:srgbClr val="1E2227"/>
                </a:solidFill>
                <a:latin typeface="맑은 고딕"/>
                <a:ea typeface="맑은 고딕"/>
              </a:rPr>
              <a:t>인간 검증: </a:t>
            </a:r>
            <a:r>
              <a:rPr sz="1200" b="0">
                <a:solidFill>
                  <a:srgbClr val="1E2227"/>
                </a:solidFill>
                <a:latin typeface="맑은 고딕"/>
                <a:ea typeface="맑은 고딕"/>
              </a:rPr>
              <a:t>정답 매핑 67건 전수 + 라벨 κ 검증 ~200건 + QACC 스팟체크 ~50건 — 사람 손이 가는 지점을 사전에 셈</a:t>
            </a: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sz="120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200" b="1">
                <a:solidFill>
                  <a:srgbClr val="1E2227"/>
                </a:solidFill>
                <a:latin typeface="맑은 고딕"/>
                <a:ea typeface="맑은 고딕"/>
              </a:rPr>
              <a:t>이 계획의 목적: </a:t>
            </a:r>
            <a:r>
              <a:rPr sz="1200" b="0">
                <a:solidFill>
                  <a:srgbClr val="1E2227"/>
                </a:solidFill>
                <a:latin typeface="맑은 고딕"/>
                <a:ea typeface="맑은 고딕"/>
              </a:rPr>
              <a:t>실행 중 자원이 부족해졌을 때 임의로 깎는 게 아니라, 미리 선언한 순서로 줄여 결과의 해석 가능성을 지킴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016752"/>
            <a:ext cx="45720" cy="384048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4360" y="6016752"/>
            <a:ext cx="11045952" cy="384048"/>
          </a:xfrm>
          <a:prstGeom prst="rect">
            <a:avLst/>
          </a:prstGeom>
          <a:solidFill>
            <a:srgbClr val="ED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tIns="0" bIns="0"/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1">
                <a:solidFill>
                  <a:srgbClr val="273A52"/>
                </a:solidFill>
                <a:latin typeface="맑은 고딕"/>
                <a:ea typeface="맑은 고딕"/>
              </a:rPr>
              <a:t>핵심   </a:t>
            </a:r>
            <a:r>
              <a:rPr sz="1150" b="0">
                <a:solidFill>
                  <a:srgbClr val="1E2227"/>
                </a:solidFill>
                <a:latin typeface="맑은 고딕"/>
                <a:ea typeface="맑은 고딕"/>
              </a:rPr>
              <a:t>컴퓨트가 부족해도 무엇이 살아남는지 사전에 정해져 있다 — </a:t>
            </a:r>
            <a:r>
              <a:rPr sz="1150" b="1">
                <a:solidFill>
                  <a:srgbClr val="1E2227"/>
                </a:solidFill>
                <a:latin typeface="맑은 고딕"/>
                <a:ea typeface="맑은 고딕"/>
              </a:rPr>
              <a:t>주력·검증 사수, 보강부터 축소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250" b="1">
                <a:solidFill>
                  <a:srgbClr val="6B7480"/>
                </a:solidFill>
                <a:latin typeface="맑은 고딕"/>
                <a:ea typeface="맑은 고딕"/>
              </a:rPr>
              <a:t>§4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예상 결과와 보고 계층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950" b="0">
                <a:solidFill>
                  <a:srgbClr val="6B7480"/>
                </a:solidFill>
                <a:latin typeface="맑은 고딕"/>
                <a:ea typeface="맑은 고딕"/>
              </a:rPr>
              <a:t>§4 실험 결과 (계획)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r>
              <a:rPr sz="950" b="0">
                <a:solidFill>
                  <a:srgbClr val="6B7480"/>
                </a:solidFill>
                <a:latin typeface="맑은 고딕"/>
                <a:ea typeface="맑은 고딕"/>
              </a:rPr>
              <a:t>27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25880"/>
            <a:ext cx="3584448" cy="33020"/>
          </a:xfrm>
          <a:prstGeom prst="rect">
            <a:avLst/>
          </a:prstGeom>
          <a:solidFill>
            <a:srgbClr val="1E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358900"/>
            <a:ext cx="3584448" cy="23444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① 주력 — 완화 회계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040" b="0">
                <a:solidFill>
                  <a:srgbClr val="6B7480"/>
                </a:solidFill>
                <a:latin typeface="맑은 고딕"/>
                <a:ea typeface="맑은 고딕"/>
              </a:rPr>
              <a:t>RQ1 · RQ2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모델·환경별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전체 전환 행렬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 + EM 상승분의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경로 귀속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가설: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 완화 이득의 상당분이 정상 경로가 아닌 취약 경로에서 오는 경우 존재 — 정답률 상승 ≠ 추론 개선을 회계로 노출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325880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97680" y="1358900"/>
            <a:ext cx="3584448" cy="23444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② 검증 — 실재성·인과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040" b="0">
                <a:solidFill>
                  <a:srgbClr val="6B7480"/>
                </a:solidFill>
                <a:latin typeface="맑은 고딕"/>
                <a:ea typeface="맑은 고딕"/>
              </a:rPr>
              <a:t>RQ3 · RQ4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가설: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 AIR·특이 경로율이 충돌군에서 유의하게 높고(고유성),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AIR 샘플의 L2 판정 인과 기여도가 비-AIR 대비 낮음 —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표기 실수가 아닌 진짜 유실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임을 실증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325880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358900"/>
            <a:ext cx="3584448" cy="23444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③ 보강 — 강건성·기제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040" b="0">
                <a:solidFill>
                  <a:srgbClr val="6B7480"/>
                </a:solidFill>
                <a:latin typeface="맑은 고딕"/>
                <a:ea typeface="맑은 고딕"/>
              </a:rPr>
              <a:t>레짐 통제 · 유형 인지 · 부록 B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가설: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 thinking-off에서 AIR·Shortcut 소멸(채널 귀속),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Semantic Shift·엔트로피 스파이크가 AIR 지점과 상관 (개입 지점 후보)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913632"/>
            <a:ext cx="11091672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946652"/>
            <a:ext cx="11091672" cy="177749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이 구조가 주는 안전판</a:t>
            </a:r>
          </a:p>
          <a:p>
            <a:pPr algn="l">
              <a:lnSpc>
                <a:spcPct val="144000"/>
              </a:lnSpc>
              <a:spcAft>
                <a:spcPts val="450"/>
              </a:spcAft>
            </a:pPr>
            <a:r>
              <a:rPr sz="122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220" b="1">
                <a:solidFill>
                  <a:srgbClr val="1E2227"/>
                </a:solidFill>
                <a:latin typeface="맑은 고딕"/>
                <a:ea typeface="맑은 고딕"/>
              </a:rPr>
              <a:t>결과 비의존:  </a:t>
            </a:r>
            <a:r>
              <a:rPr sz="1220" b="0">
                <a:solidFill>
                  <a:srgbClr val="1E2227"/>
                </a:solidFill>
                <a:latin typeface="맑은 고딕"/>
                <a:ea typeface="맑은 고딕"/>
              </a:rPr>
              <a:t>회계 결론이 어느 방향이든 기여 성립 — '밋밋한 결과' 위험을 구조적으로 낮춤</a:t>
            </a:r>
          </a:p>
          <a:p>
            <a:pPr algn="l">
              <a:lnSpc>
                <a:spcPct val="144000"/>
              </a:lnSpc>
              <a:spcAft>
                <a:spcPts val="450"/>
              </a:spcAft>
            </a:pPr>
            <a:r>
              <a:rPr sz="122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220" b="1">
                <a:solidFill>
                  <a:srgbClr val="1E2227"/>
                </a:solidFill>
                <a:latin typeface="맑은 고딕"/>
                <a:ea typeface="맑은 고딕"/>
              </a:rPr>
              <a:t>과적재 방지:  </a:t>
            </a:r>
            <a:r>
              <a:rPr sz="1220" b="0">
                <a:solidFill>
                  <a:srgbClr val="1E2227"/>
                </a:solidFill>
                <a:latin typeface="맑은 고딕"/>
                <a:ea typeface="맑은 고딕"/>
              </a:rPr>
              <a:t>①이 논문의 중심, ②는 타당성 받침, ③은 부차 — 지표가 많아도 서사는 하나</a:t>
            </a:r>
          </a:p>
          <a:p>
            <a:pPr algn="l">
              <a:lnSpc>
                <a:spcPct val="144000"/>
              </a:lnSpc>
              <a:spcAft>
                <a:spcPts val="450"/>
              </a:spcAft>
            </a:pPr>
            <a:r>
              <a:rPr sz="122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220" b="1">
                <a:solidFill>
                  <a:srgbClr val="1E2227"/>
                </a:solidFill>
                <a:latin typeface="맑은 고딕"/>
                <a:ea typeface="맑은 고딕"/>
              </a:rPr>
              <a:t>실측 대체:  </a:t>
            </a:r>
            <a:r>
              <a:rPr sz="1220" b="0">
                <a:solidFill>
                  <a:srgbClr val="1E2227"/>
                </a:solidFill>
                <a:latin typeface="맑은 고딕"/>
                <a:ea typeface="맑은 고딕"/>
              </a:rPr>
              <a:t>본 절은 가설 상태로 사전등록 — 실측이 나오면 수치로 대체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016752"/>
            <a:ext cx="45720" cy="384048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6016752"/>
            <a:ext cx="11045952" cy="384048"/>
          </a:xfrm>
          <a:prstGeom prst="rect">
            <a:avLst/>
          </a:prstGeom>
          <a:solidFill>
            <a:srgbClr val="ED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tIns="0" bIns="0"/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1">
                <a:solidFill>
                  <a:srgbClr val="273A52"/>
                </a:solidFill>
                <a:latin typeface="맑은 고딕"/>
                <a:ea typeface="맑은 고딕"/>
              </a:rPr>
              <a:t>핵심   </a:t>
            </a:r>
            <a:r>
              <a:rPr sz="1150" b="0">
                <a:solidFill>
                  <a:srgbClr val="1E2227"/>
                </a:solidFill>
                <a:latin typeface="맑은 고딕"/>
                <a:ea typeface="맑은 고딕"/>
              </a:rPr>
              <a:t>회계(①)가 본문이고 검증(②)이 그 신뢰를 만든다 — </a:t>
            </a:r>
            <a:r>
              <a:rPr sz="1150" b="1">
                <a:solidFill>
                  <a:srgbClr val="1E2227"/>
                </a:solidFill>
                <a:latin typeface="맑은 고딕"/>
                <a:ea typeface="맑은 고딕"/>
              </a:rPr>
              <a:t>보고 위계까지 실험 전에 확정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250" b="1">
                <a:solidFill>
                  <a:srgbClr val="6B7480"/>
                </a:solidFill>
                <a:latin typeface="맑은 고딕"/>
                <a:ea typeface="맑은 고딕"/>
              </a:rPr>
              <a:t>§5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한계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950" b="0">
                <a:solidFill>
                  <a:srgbClr val="6B7480"/>
                </a:solidFill>
                <a:latin typeface="맑은 고딕"/>
                <a:ea typeface="맑은 고딕"/>
              </a:rPr>
              <a:t>§5 한계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r>
              <a:rPr sz="950" b="0">
                <a:solidFill>
                  <a:srgbClr val="6B7480"/>
                </a:solidFill>
                <a:latin typeface="맑은 고딕"/>
                <a:ea typeface="맑은 고딕"/>
              </a:rPr>
              <a:t>28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3584448" cy="33020"/>
          </a:xfrm>
          <a:prstGeom prst="rect">
            <a:avLst/>
          </a:prstGeom>
          <a:solidFill>
            <a:srgbClr val="A44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04620"/>
            <a:ext cx="3584448" cy="30302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표본·검정력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sz="118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80" b="1">
                <a:solidFill>
                  <a:srgbClr val="1E2227"/>
                </a:solidFill>
                <a:latin typeface="맑은 고딕"/>
                <a:ea typeface="맑은 고딕"/>
              </a:rPr>
              <a:t>자연 시간충돌 주력 62건</a:t>
            </a:r>
            <a:r>
              <a:rPr sz="1180" b="0">
                <a:solidFill>
                  <a:srgbClr val="1E2227"/>
                </a:solidFill>
                <a:latin typeface="맑은 고딕"/>
                <a:ea typeface="맑은 고딕"/>
              </a:rPr>
              <a:t> — QACC 48이 보조, 증강은 합성 꼬리표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sz="118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80" b="1">
                <a:solidFill>
                  <a:srgbClr val="1E2227"/>
                </a:solidFill>
                <a:latin typeface="맑은 고딕"/>
                <a:ea typeface="맑은 고딕"/>
              </a:rPr>
              <a:t>N&lt;20 셀은 비교 주장 안 함</a:t>
            </a:r>
            <a:r>
              <a:rPr sz="1180" b="0">
                <a:solidFill>
                  <a:srgbClr val="1E2227"/>
                </a:solidFill>
                <a:latin typeface="맑은 고딕"/>
                <a:ea typeface="맑은 고딕"/>
              </a:rPr>
              <a:t> (사전등록)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sz="118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80" b="0">
                <a:solidFill>
                  <a:srgbClr val="1E2227"/>
                </a:solidFill>
                <a:latin typeface="맑은 고딕"/>
                <a:ea typeface="맑은 고딕"/>
              </a:rPr>
              <a:t>오정보 5건(DRAGged)은 정성 사례로만 — 정량은 RAMDocs 보강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371600"/>
            <a:ext cx="3584448" cy="33020"/>
          </a:xfrm>
          <a:prstGeom prst="rect">
            <a:avLst/>
          </a:prstGeom>
          <a:solidFill>
            <a:srgbClr val="A44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97680" y="1404620"/>
            <a:ext cx="3584448" cy="30302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라벨·언어화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sz="118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80" b="1">
                <a:solidFill>
                  <a:srgbClr val="1E2227"/>
                </a:solidFill>
                <a:latin typeface="맑은 고딕"/>
                <a:ea typeface="맑은 고딕"/>
              </a:rPr>
              <a:t>L2는 텍스트로부터의 추론</a:t>
            </a:r>
            <a:r>
              <a:rPr sz="1180" b="0">
                <a:solidFill>
                  <a:srgbClr val="1E2227"/>
                </a:solidFill>
                <a:latin typeface="맑은 고딕"/>
                <a:ea typeface="맑은 고딕"/>
              </a:rPr>
              <a:t> — κ·전수 검증으로 신뢰 확보하되 잔여 불확실성 명시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sz="118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80" b="1">
                <a:solidFill>
                  <a:srgbClr val="1E2227"/>
                </a:solidFill>
                <a:latin typeface="맑은 고딕"/>
                <a:ea typeface="맑은 고딕"/>
              </a:rPr>
              <a:t>언어화 갭 완전 제거 불가</a:t>
            </a:r>
            <a:r>
              <a:rPr sz="1180" b="0">
                <a:solidFill>
                  <a:srgbClr val="1E2227"/>
                </a:solidFill>
                <a:latin typeface="맑은 고딕"/>
                <a:ea typeface="맑은 고딕"/>
              </a:rPr>
              <a:t> — '속으로 했으나 안 적음' 잔존 (AIR은 존재 조건이라 강건)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sz="118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80" b="0">
                <a:solidFill>
                  <a:srgbClr val="1E2227"/>
                </a:solidFill>
                <a:latin typeface="맑은 고딕"/>
                <a:ea typeface="맑은 고딕"/>
              </a:rPr>
              <a:t>모델별 언어화 습관 차이는 분리 보고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371600"/>
            <a:ext cx="3584448" cy="33020"/>
          </a:xfrm>
          <a:prstGeom prst="rect">
            <a:avLst/>
          </a:prstGeom>
          <a:solidFill>
            <a:srgbClr val="A44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04620"/>
            <a:ext cx="3584448" cy="30302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스코프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sz="118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80" b="1">
                <a:solidFill>
                  <a:srgbClr val="1E2227"/>
                </a:solidFill>
                <a:latin typeface="맑은 고딕"/>
                <a:ea typeface="맑은 고딕"/>
              </a:rPr>
              <a:t>AIR·Shortcut은 thinking 아키텍처 고유</a:t>
            </a:r>
            <a:r>
              <a:rPr sz="1180" b="0">
                <a:solidFill>
                  <a:srgbClr val="1E2227"/>
                </a:solidFill>
                <a:latin typeface="맑은 고딕"/>
                <a:ea typeface="맑은 고딕"/>
              </a:rPr>
              <a:t> — 결함이 아닌 명시적 범위, 비-thinking 일반화 주장 안 함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sz="118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80" b="1">
                <a:solidFill>
                  <a:srgbClr val="1E2227"/>
                </a:solidFill>
                <a:latin typeface="맑은 고딕"/>
                <a:ea typeface="맑은 고딕"/>
              </a:rPr>
              <a:t>개입은 생성 조작만</a:t>
            </a:r>
            <a:r>
              <a:rPr sz="1180" b="0">
                <a:solidFill>
                  <a:srgbClr val="1E2227"/>
                </a:solidFill>
                <a:latin typeface="맑은 고딕"/>
                <a:ea typeface="맑은 고딕"/>
              </a:rPr>
              <a:t> — 내부(활성화) 개입은 범위 밖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sz="118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80" b="0">
                <a:solidFill>
                  <a:srgbClr val="1E2227"/>
                </a:solidFill>
                <a:latin typeface="맑은 고딕"/>
                <a:ea typeface="맑은 고딕"/>
              </a:rPr>
              <a:t>도메인: 웹 검색+합성 — 기업 KB는 향후 이식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617720"/>
            <a:ext cx="11091672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4650740"/>
            <a:ext cx="11091672" cy="11099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인용 등급 관리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하중 근거는 전부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게재 확정 문헌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으로 지탱 — 프리프린트는 데이터셋 출처·포지셔닝 등 비하중 용도로 한정하고 제출 시점에 게재 상태 재확인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016752"/>
            <a:ext cx="45720" cy="384048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6016752"/>
            <a:ext cx="11045952" cy="384048"/>
          </a:xfrm>
          <a:prstGeom prst="rect">
            <a:avLst/>
          </a:prstGeom>
          <a:solidFill>
            <a:srgbClr val="ED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tIns="0" bIns="0"/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1">
                <a:solidFill>
                  <a:srgbClr val="273A52"/>
                </a:solidFill>
                <a:latin typeface="맑은 고딕"/>
                <a:ea typeface="맑은 고딕"/>
              </a:rPr>
              <a:t>핵심   </a:t>
            </a:r>
            <a:r>
              <a:rPr sz="1150" b="0">
                <a:solidFill>
                  <a:srgbClr val="1E2227"/>
                </a:solidFill>
                <a:latin typeface="맑은 고딕"/>
                <a:ea typeface="맑은 고딕"/>
              </a:rPr>
              <a:t>한계 절이 긴 것은 약점이 아니라 </a:t>
            </a:r>
            <a:r>
              <a:rPr sz="1150" b="1">
                <a:solidFill>
                  <a:srgbClr val="1E2227"/>
                </a:solidFill>
                <a:latin typeface="맑은 고딕"/>
                <a:ea typeface="맑은 고딕"/>
              </a:rPr>
              <a:t>어디까지 주장할지 스스로 통제하고 있다는 신호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250" b="1">
                <a:solidFill>
                  <a:srgbClr val="6B7480"/>
                </a:solidFill>
                <a:latin typeface="맑은 고딕"/>
                <a:ea typeface="맑은 고딕"/>
              </a:rPr>
              <a:t>§6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향후 연구: 진단 결과에 따른 분기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950" b="0">
                <a:solidFill>
                  <a:srgbClr val="6B7480"/>
                </a:solidFill>
                <a:latin typeface="맑은 고딕"/>
                <a:ea typeface="맑은 고딕"/>
              </a:rPr>
              <a:t>§6 향후 연구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r>
              <a:rPr sz="950" b="0">
                <a:solidFill>
                  <a:srgbClr val="6B7480"/>
                </a:solidFill>
                <a:latin typeface="맑은 고딕"/>
                <a:ea typeface="맑은 고딕"/>
              </a:rPr>
              <a:t>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61872"/>
            <a:ext cx="1109167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230" b="0">
                <a:solidFill>
                  <a:srgbClr val="6B7480"/>
                </a:solidFill>
                <a:latin typeface="맑은 고딕"/>
                <a:ea typeface="맑은 고딕"/>
              </a:rPr>
              <a:t>본 연구는 진단에 집중 — 처방(완화 설계)은 진단이 개입 지점을 특정한 뒤에 근거를 가짐. 예상 결과에 따라 분기: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645920"/>
          <a:ext cx="11091672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6976872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진단 결과가 이러면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뒤따르는 처방 연구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AIR ↑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(+ 전환부 엔트로피 스파이크)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그 지점만 겨냥한 </a:t>
                      </a: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경량 개입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— 엔트로피 트리거 재디코딩 · 표출 직전 검증 스텝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LGR ↓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(이득이 취약 경로에 집중)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정상 경로 선택 강화 · 병목 유형별 완화를 고르는 </a:t>
                      </a: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경로-인지형 선택기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Shortcut ↑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(초기 문서 고착)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위치 편향 완화 · </a:t>
                      </a: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답변 전 명시적 해소 강제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(프롬프트/경량 학습)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레짐: thinking-off서 소멸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사고→답변 </a:t>
                      </a: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핸드오프 자체를 겨냥한 정합성 정렬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(학습 개입)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4206240"/>
            <a:ext cx="545896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4239260"/>
            <a:ext cx="5458968" cy="15671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프레임워크 확장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20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200" b="1">
                <a:solidFill>
                  <a:srgbClr val="1E2227"/>
                </a:solidFill>
                <a:latin typeface="맑은 고딕"/>
                <a:ea typeface="맑은 고딕"/>
              </a:rPr>
              <a:t>도메인 이식: </a:t>
            </a:r>
            <a:r>
              <a:rPr sz="1200" b="0">
                <a:solidFill>
                  <a:srgbClr val="1E2227"/>
                </a:solidFill>
                <a:latin typeface="맑은 고딕"/>
                <a:ea typeface="맑은 고딕"/>
              </a:rPr>
              <a:t>기업 KB(버전·시간 충돌)로 동일 프로토콜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20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200" b="1">
                <a:solidFill>
                  <a:srgbClr val="1E2227"/>
                </a:solidFill>
                <a:latin typeface="맑은 고딕"/>
                <a:ea typeface="맑은 고딕"/>
              </a:rPr>
              <a:t>충돌 유형: </a:t>
            </a:r>
            <a:r>
              <a:rPr sz="1200" b="0">
                <a:solidFill>
                  <a:srgbClr val="1E2227"/>
                </a:solidFill>
                <a:latin typeface="맑은 고딕"/>
                <a:ea typeface="맑은 고딕"/>
              </a:rPr>
              <a:t>Context-Memory 충돌로 3단계 라벨링 확장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20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200" b="1">
                <a:solidFill>
                  <a:srgbClr val="1E2227"/>
                </a:solidFill>
                <a:latin typeface="맑은 고딕"/>
                <a:ea typeface="맑은 고딕"/>
              </a:rPr>
              <a:t>기제 심화: </a:t>
            </a:r>
            <a:r>
              <a:rPr sz="1200" b="0">
                <a:solidFill>
                  <a:srgbClr val="1E2227"/>
                </a:solidFill>
                <a:latin typeface="맑은 고딕"/>
                <a:ea typeface="맑은 고딕"/>
              </a:rPr>
              <a:t>상관 신호를 내부(활성화) 개입으로 승격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81344" y="4206240"/>
            <a:ext cx="545896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81344" y="4239260"/>
            <a:ext cx="5458968" cy="15671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예측적 활용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경로 서명(Shortcut·Blind-Hit·전환부 엔트로피)이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추론 시점에 취약한 정답을 사전 식별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하는 신호가 되는지 검증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040" b="0">
                <a:solidFill>
                  <a:srgbClr val="6B7480"/>
                </a:solidFill>
                <a:latin typeface="맑은 고딕"/>
                <a:ea typeface="맑은 고딕"/>
              </a:rPr>
              <a:t>→ 신뢰도 보정·선택적 기권의 트리거 후보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016752"/>
            <a:ext cx="45720" cy="384048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4360" y="6016752"/>
            <a:ext cx="11045952" cy="384048"/>
          </a:xfrm>
          <a:prstGeom prst="rect">
            <a:avLst/>
          </a:prstGeom>
          <a:solidFill>
            <a:srgbClr val="ED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tIns="0" bIns="0"/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1">
                <a:solidFill>
                  <a:srgbClr val="273A52"/>
                </a:solidFill>
                <a:latin typeface="맑은 고딕"/>
                <a:ea typeface="맑은 고딕"/>
              </a:rPr>
              <a:t>핵심   </a:t>
            </a:r>
            <a:r>
              <a:rPr sz="1150" b="0">
                <a:solidFill>
                  <a:srgbClr val="1E2227"/>
                </a:solidFill>
                <a:latin typeface="맑은 고딕"/>
                <a:ea typeface="맑은 고딕"/>
              </a:rPr>
              <a:t>처방은 "SOTA 완화"가 아니라 </a:t>
            </a:r>
            <a:r>
              <a:rPr sz="1150" b="1">
                <a:solidFill>
                  <a:srgbClr val="1E2227"/>
                </a:solidFill>
                <a:latin typeface="맑은 고딕"/>
                <a:ea typeface="맑은 고딕"/>
              </a:rPr>
              <a:t>"진단이 실행 가능함을 보이는 타깃 시연"으로 자리매김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250" b="1">
                <a:solidFill>
                  <a:srgbClr val="6B7480"/>
                </a:solidFill>
                <a:latin typeface="맑은 고딕"/>
                <a:ea typeface="맑은 고딕"/>
              </a:rPr>
              <a:t>부록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부록 B: 궤적 분석층 — 상관 분석 방법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950" b="0">
                <a:solidFill>
                  <a:srgbClr val="6B7480"/>
                </a:solidFill>
                <a:latin typeface="맑은 고딕"/>
                <a:ea typeface="맑은 고딕"/>
              </a:rPr>
              <a:t>부록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r>
              <a:rPr sz="950" b="0">
                <a:solidFill>
                  <a:srgbClr val="6B7480"/>
                </a:solidFill>
                <a:latin typeface="맑은 고딕"/>
                <a:ea typeface="맑은 고딕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61872"/>
            <a:ext cx="1109167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230" b="0">
                <a:solidFill>
                  <a:srgbClr val="6B7480"/>
                </a:solidFill>
                <a:latin typeface="맑은 고딕"/>
                <a:ea typeface="맑은 고딕"/>
              </a:rPr>
              <a:t>§3.2 지표가 '무슨 일이 얼마나'를 세면, 이 층은 라벨된 샘플의 연속 궤적을 들여다봄 — 새 지표 아님 · 인과 주장 없음 · 실험 3의 개입 지점을 특정하는 역할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91640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724660"/>
            <a:ext cx="3584448" cy="23444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B.1  Semantic Shift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사고 문장별 임베딩이 정답 문서군 vs 충돌 문서군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어느 쪽으로 기우는지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 시계열 추적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Late Shift 가설: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 AIR 샘플은 종료 직전 급격히 충돌군으로 기움 → 그 지점이 개입 후보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040" b="0">
                <a:solidFill>
                  <a:srgbClr val="6B7480"/>
                </a:solidFill>
                <a:latin typeface="맑은 고딕"/>
                <a:ea typeface="맑은 고딕"/>
              </a:rPr>
              <a:t>담당: L2 판정 오염 + AIR 전환부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691640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724660"/>
            <a:ext cx="3584448" cy="23444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B.2  Lock-in · Overthinking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Lock-in: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 초기 위치 문서가 사고 앞 10%를 지배·고착하는지 — 셔플링이 위치·내용을 분리해 판별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Overthinking: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 L2 결론 후 사고가 길수록 굴복(AIR)이 느는지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040" b="0">
                <a:solidFill>
                  <a:srgbClr val="6B7480"/>
                </a:solidFill>
                <a:latin typeface="맑은 고딕"/>
                <a:ea typeface="맑은 고딕"/>
              </a:rPr>
              <a:t>담당: Shortcut의 상관 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1691640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1724660"/>
            <a:ext cx="3584448" cy="23444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B.3  엔트로피 동역학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답변 첫 토큰·전환부의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엔트로피 스파이크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가 AIR과 상관되는지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향후 처방(재디코딩 트리거) 신호 후보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040" b="0">
                <a:solidFill>
                  <a:srgbClr val="6B7480"/>
                </a:solidFill>
                <a:latin typeface="맑은 고딕"/>
                <a:ea typeface="맑은 고딕"/>
              </a:rPr>
              <a:t>담당: 사고→답변 핸드오프 단절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315968"/>
            <a:ext cx="11091672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348988"/>
            <a:ext cx="11091672" cy="14300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B.4  통합 진단 파이프라인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3단계 라벨링 → 흐름 diff(LGR·퇴행 자동 산출) → 궤적 프로파일러 → 인과 프로버까지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하나의 자동화 파이프라인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새 모델은 사고 채널 파서만 추가하면 동일 프로토콜로 진단(모듈성) — 인간 검증 골드 라벨이 내부 품질 검증셋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016752"/>
            <a:ext cx="45720" cy="384048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" y="6016752"/>
            <a:ext cx="11045952" cy="384048"/>
          </a:xfrm>
          <a:prstGeom prst="rect">
            <a:avLst/>
          </a:prstGeom>
          <a:solidFill>
            <a:srgbClr val="ED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tIns="0" bIns="0"/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1">
                <a:solidFill>
                  <a:srgbClr val="273A52"/>
                </a:solidFill>
                <a:latin typeface="맑은 고딕"/>
                <a:ea typeface="맑은 고딕"/>
              </a:rPr>
              <a:t>핵심   </a:t>
            </a:r>
            <a:r>
              <a:rPr sz="1150" b="0">
                <a:solidFill>
                  <a:srgbClr val="1E2227"/>
                </a:solidFill>
                <a:latin typeface="맑은 고딕"/>
                <a:ea typeface="맑은 고딕"/>
              </a:rPr>
              <a:t>상관은 상관이라 부르고 개입 지점 탐색에만 쓴다 — </a:t>
            </a:r>
            <a:r>
              <a:rPr sz="1150" b="1">
                <a:solidFill>
                  <a:srgbClr val="1E2227"/>
                </a:solidFill>
                <a:latin typeface="맑은 고딕"/>
                <a:ea typeface="맑은 고딕"/>
              </a:rPr>
              <a:t>인과 주장은 실험 3 전담이라는 분업 유지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250" b="1">
                <a:solidFill>
                  <a:srgbClr val="6B7480"/>
                </a:solidFill>
                <a:latin typeface="맑은 고딕"/>
                <a:ea typeface="맑은 고딕"/>
              </a:rPr>
              <a:t>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요약 및 논의 사항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950" b="0">
                <a:solidFill>
                  <a:srgbClr val="6B7480"/>
                </a:solidFill>
                <a:latin typeface="맑은 고딕"/>
                <a:ea typeface="맑은 고딕"/>
              </a:rPr>
              <a:t>정리 · 논의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r>
              <a:rPr sz="950" b="0">
                <a:solidFill>
                  <a:srgbClr val="6B7480"/>
                </a:solidFill>
                <a:latin typeface="맑은 고딕"/>
                <a:ea typeface="맑은 고딕"/>
              </a:rPr>
              <a:t>31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98448"/>
            <a:ext cx="5458968" cy="33020"/>
          </a:xfrm>
          <a:prstGeom prst="rect">
            <a:avLst/>
          </a:prstGeom>
          <a:solidFill>
            <a:srgbClr val="1E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331468"/>
            <a:ext cx="5458968" cy="26187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이미 끝낸 검증  (계획서 반영 완료)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18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80" b="1">
                <a:solidFill>
                  <a:srgbClr val="1E2227"/>
                </a:solidFill>
                <a:latin typeface="맑은 고딕"/>
                <a:ea typeface="맑은 고딕"/>
              </a:rPr>
              <a:t>DRAGged 매핑 전수 실측</a:t>
            </a:r>
            <a:r>
              <a:rPr sz="1180" b="0">
                <a:solidFill>
                  <a:srgbClr val="1E2227"/>
                </a:solidFill>
                <a:latin typeface="맑은 고딕"/>
                <a:ea typeface="맑은 고딕"/>
              </a:rPr>
              <a:t> — 복수매칭 79% 발견, 규칙 변경으로 표본 붕괴 방지 (채점 56~61 확정)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18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80" b="1">
                <a:solidFill>
                  <a:srgbClr val="1E2227"/>
                </a:solidFill>
                <a:latin typeface="맑은 고딕"/>
                <a:ea typeface="맑은 고딕"/>
              </a:rPr>
              <a:t>레짐 통제 기둥 확인</a:t>
            </a:r>
            <a:r>
              <a:rPr sz="1180" b="0">
                <a:solidFill>
                  <a:srgbClr val="1E2227"/>
                </a:solidFill>
                <a:latin typeface="맑은 고딕"/>
                <a:ea typeface="맑은 고딕"/>
              </a:rPr>
              <a:t> — Qwen 토글 · Olmo Instruct 형제 검증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18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80" b="1">
                <a:solidFill>
                  <a:srgbClr val="1E2227"/>
                </a:solidFill>
                <a:latin typeface="맑은 고딕"/>
                <a:ea typeface="맑은 고딕"/>
              </a:rPr>
              <a:t>QACC 조사·편입</a:t>
            </a:r>
            <a:r>
              <a:rPr sz="1180" b="0">
                <a:solidFill>
                  <a:srgbClr val="1E2227"/>
                </a:solidFill>
                <a:latin typeface="맑은 고딕"/>
                <a:ea typeface="맑은 고딕"/>
              </a:rPr>
              <a:t> — 충돌 381 실측, 스크리닝 게이트 사전등록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18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80" b="1">
                <a:solidFill>
                  <a:srgbClr val="1E2227"/>
                </a:solidFill>
                <a:latin typeface="맑은 고딕"/>
                <a:ea typeface="맑은 고딕"/>
              </a:rPr>
              <a:t>검정력 계획</a:t>
            </a:r>
            <a:r>
              <a:rPr sz="1180" b="0">
                <a:solidFill>
                  <a:srgbClr val="1E2227"/>
                </a:solidFill>
                <a:latin typeface="맑은 고딕"/>
                <a:ea typeface="맑은 고딕"/>
              </a:rPr>
              <a:t> — 지표별 유효 N 공개, N&lt;20 비교 금지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18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80" b="1">
                <a:solidFill>
                  <a:srgbClr val="1E2227"/>
                </a:solidFill>
                <a:latin typeface="맑은 고딕"/>
                <a:ea typeface="맑은 고딕"/>
              </a:rPr>
              <a:t>예비 게이트</a:t>
            </a:r>
            <a:r>
              <a:rPr sz="1180" b="0">
                <a:solidFill>
                  <a:srgbClr val="1E2227"/>
                </a:solidFill>
                <a:latin typeface="맑은 고딕"/>
                <a:ea typeface="맑은 고딕"/>
              </a:rPr>
              <a:t> — Blind-Hit 29% 실재 확인</a:t>
            </a:r>
          </a:p>
        </p:txBody>
      </p:sp>
      <p:sp>
        <p:nvSpPr>
          <p:cNvPr id="9" name="Rectangle 8"/>
          <p:cNvSpPr/>
          <p:nvPr/>
        </p:nvSpPr>
        <p:spPr>
          <a:xfrm>
            <a:off x="6181344" y="1298448"/>
            <a:ext cx="545896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1344" y="1331468"/>
            <a:ext cx="5458968" cy="26187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다음 단계  (실행 순서)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18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80" b="1">
                <a:solidFill>
                  <a:srgbClr val="1E2227"/>
                </a:solidFill>
                <a:latin typeface="맑은 고딕"/>
                <a:ea typeface="맑은 고딕"/>
              </a:rPr>
              <a:t>B-1 · 예비 실측</a:t>
            </a:r>
            <a:r>
              <a:rPr sz="1180" b="0">
                <a:solidFill>
                  <a:srgbClr val="1E2227"/>
                </a:solidFill>
                <a:latin typeface="맑은 고딕"/>
                <a:ea typeface="맑은 고딕"/>
              </a:rPr>
              <a:t> (20문항 × 주력 모델) — 검정력 표의 가정값(탐지 70%·해소 60%)을 실측으로 치환 + 라벨 규칙 첫 실전 점검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18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80" b="1">
                <a:solidFill>
                  <a:srgbClr val="1E2227"/>
                </a:solidFill>
                <a:latin typeface="맑은 고딕"/>
                <a:ea typeface="맑은 고딕"/>
              </a:rPr>
              <a:t>B-3 · QACC 스크리닝</a:t>
            </a:r>
            <a:r>
              <a:rPr sz="1180" b="0">
                <a:solidFill>
                  <a:srgbClr val="1E2227"/>
                </a:solidFill>
                <a:latin typeface="맑은 고딕"/>
                <a:ea typeface="맑은 고딕"/>
              </a:rPr>
              <a:t> — sharp 수율 확정 → 검정력 표 갱신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18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80" b="1">
                <a:solidFill>
                  <a:srgbClr val="1E2227"/>
                </a:solidFill>
                <a:latin typeface="맑은 고딕"/>
                <a:ea typeface="맑은 고딕"/>
              </a:rPr>
              <a:t>B-2 · 치환 증강 프로토타입</a:t>
            </a:r>
            <a:r>
              <a:rPr sz="1180" b="0">
                <a:solidFill>
                  <a:srgbClr val="1E2227"/>
                </a:solidFill>
                <a:latin typeface="맑은 고딕"/>
                <a:ea typeface="맑은 고딕"/>
              </a:rPr>
              <a:t> — 난이도 동등성 게이트 실측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18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80" b="1">
                <a:solidFill>
                  <a:srgbClr val="1E2227"/>
                </a:solidFill>
                <a:latin typeface="맑은 고딕"/>
                <a:ea typeface="맑은 고딕"/>
              </a:rPr>
              <a:t>본 실험</a:t>
            </a:r>
            <a:r>
              <a:rPr sz="1180" b="0">
                <a:solidFill>
                  <a:srgbClr val="1E2227"/>
                </a:solidFill>
                <a:latin typeface="맑은 고딕"/>
                <a:ea typeface="맑은 고딕"/>
              </a:rPr>
              <a:t> — 5환경 × 3모델 × 3데이터셋 전환 행렬 실측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160520"/>
            <a:ext cx="11091672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4193540"/>
            <a:ext cx="11091672" cy="15671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73152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교수님께 여쭙고 싶은 것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sz="122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220" b="1">
                <a:solidFill>
                  <a:srgbClr val="1E2227"/>
                </a:solidFill>
                <a:latin typeface="맑은 고딕"/>
                <a:ea typeface="맑은 고딕"/>
              </a:rPr>
              <a:t>실행 우선순위:  </a:t>
            </a:r>
            <a:r>
              <a:rPr sz="1220" b="0">
                <a:solidFill>
                  <a:srgbClr val="1E2227"/>
                </a:solidFill>
                <a:latin typeface="맑은 고딕"/>
                <a:ea typeface="맑은 고딕"/>
              </a:rPr>
              <a:t>B-1(예비 실측)부터 착수하는 순서가 적절한지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sz="122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220" b="1">
                <a:solidFill>
                  <a:srgbClr val="1E2227"/>
                </a:solidFill>
                <a:latin typeface="맑은 고딕"/>
                <a:ea typeface="맑은 고딕"/>
              </a:rPr>
              <a:t>컴퓨트:  </a:t>
            </a:r>
            <a:r>
              <a:rPr sz="1220" b="0">
                <a:solidFill>
                  <a:srgbClr val="1E2227"/>
                </a:solidFill>
                <a:latin typeface="맑은 고딕"/>
                <a:ea typeface="맑은 고딕"/>
              </a:rPr>
              <a:t>bf16 27~32B × 생성 ~8.4만 규모의 GPU 자원 계획 상의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sz="122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220" b="1">
                <a:solidFill>
                  <a:srgbClr val="1E2227"/>
                </a:solidFill>
                <a:latin typeface="맑은 고딕"/>
                <a:ea typeface="맑은 고딕"/>
              </a:rPr>
              <a:t>스코프:  </a:t>
            </a:r>
            <a:r>
              <a:rPr sz="1220" b="0">
                <a:solidFill>
                  <a:srgbClr val="1E2227"/>
                </a:solidFill>
                <a:latin typeface="맑은 고딕"/>
                <a:ea typeface="맑은 고딕"/>
              </a:rPr>
              <a:t>완화 환경 5종 · 모델 3계열 구성에 대한 의견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016752"/>
            <a:ext cx="45720" cy="384048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4360" y="6016752"/>
            <a:ext cx="11045952" cy="384048"/>
          </a:xfrm>
          <a:prstGeom prst="rect">
            <a:avLst/>
          </a:prstGeom>
          <a:solidFill>
            <a:srgbClr val="ED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tIns="0" bIns="0"/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1">
                <a:solidFill>
                  <a:srgbClr val="273A52"/>
                </a:solidFill>
                <a:latin typeface="맑은 고딕"/>
                <a:ea typeface="맑은 고딕"/>
              </a:rPr>
              <a:t>핵심   </a:t>
            </a:r>
            <a:r>
              <a:rPr sz="1150" b="0">
                <a:solidFill>
                  <a:srgbClr val="1E2227"/>
                </a:solidFill>
                <a:latin typeface="맑은 고딕"/>
                <a:ea typeface="맑은 고딕"/>
              </a:rPr>
              <a:t>문서 단계에서 닫을 수 있는 것은 모두 닫았습니다 — </a:t>
            </a:r>
            <a:r>
              <a:rPr sz="1150" b="1">
                <a:solidFill>
                  <a:srgbClr val="1E2227"/>
                </a:solidFill>
                <a:latin typeface="맑은 고딕"/>
                <a:ea typeface="맑은 고딕"/>
              </a:rPr>
              <a:t>이제 실측이 계획을 검증할 차례입니다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